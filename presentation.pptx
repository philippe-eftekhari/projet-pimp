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2011680"/>
            <a:ext cx="5486400" cy="5486400"/>
          </a:xfrm>
          <a:prstGeom prst="ellipse">
            <a:avLst/>
          </a:prstGeom>
          <a:solidFill>
            <a:srgbClr val="6366F1">
              <a:alpha val="3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114800"/>
            <a:ext cx="4114800" cy="4114800"/>
          </a:xfrm>
          <a:prstGeom prst="ellipse">
            <a:avLst/>
          </a:prstGeom>
          <a:solidFill>
            <a:srgbClr val="818CF8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73736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PIMP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868680" y="30175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de Product Information Management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14400" y="3794760"/>
            <a:ext cx="2743200" cy="0"/>
          </a:xfrm>
          <a:prstGeom prst="line">
            <a:avLst/>
          </a:prstGeom>
          <a:noFill/>
          <a:ln w="38100">
            <a:solidFill>
              <a:srgbClr val="818C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402336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dev4pimp25 - INSTA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Philippe Sam EFTEKHARI  -  Anass IMLI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Encadrant : BM. Bui-Xuan  -  Juin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0292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Deroule de la presentation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664208"/>
            <a:ext cx="2011680" cy="0"/>
          </a:xfrm>
          <a:prstGeom prst="line">
            <a:avLst/>
          </a:prstGeom>
          <a:noFill/>
          <a:ln w="3175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2057400"/>
            <a:ext cx="108813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14400" y="2295144"/>
            <a:ext cx="621792" cy="621792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295144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783080" y="2203704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783080" y="2606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 . objectif . solution . technologies . planning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92640" y="23774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3383280"/>
            <a:ext cx="108813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3621024"/>
            <a:ext cx="621792" cy="62179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621024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783080" y="3529584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Demonstration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1783080" y="3931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IA . fonctionnalites . utilisateurs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92640" y="37033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min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" y="4709160"/>
            <a:ext cx="108813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14400" y="4946904"/>
            <a:ext cx="621792" cy="6217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4946904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783080" y="4855464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technique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1783080" y="5257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. extraction IA . backend . tests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692640" y="50292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10-15 min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0292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Equipe &amp; objectif du projet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664208"/>
            <a:ext cx="2011680" cy="0"/>
          </a:xfrm>
          <a:prstGeom prst="line">
            <a:avLst/>
          </a:prstGeom>
          <a:noFill/>
          <a:ln w="3175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1920240"/>
            <a:ext cx="5120640" cy="4114800"/>
          </a:xfrm>
          <a:prstGeom prst="roundRect">
            <a:avLst>
              <a:gd name="adj" fmla="val 1778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21488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L'equipe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2743200"/>
            <a:ext cx="4572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Philippe Sam EFTEKHARI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. modele de donnees . IA de vision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Anass IMLI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. design system . diffusion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035040" y="1920240"/>
            <a:ext cx="539496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09360" y="21488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309360" y="2697480"/>
            <a:ext cx="4846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plateforme PIM : une porte d'entree intelligente (ingestion d'etiquette par IA) et un referentiel unique enrichi puis diffuse vers tous les canaux de vente. Marche du PIM : 13-15 Mds $, &gt; 30 Mds $ d'ici 2030.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309360" y="4160520"/>
            <a:ext cx="48463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d'etiquette par IA de vision</a:t>
            </a:r>
            <a:endParaRPr lang="en-US" sz="14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Centraliser (referentiel unique)</a:t>
            </a:r>
            <a:endParaRPr lang="en-US" sz="14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Enrichissement collaboratif multilingue</a:t>
            </a:r>
            <a:endParaRPr lang="en-US" sz="14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Gouvernance par workflow et roles</a:t>
            </a:r>
            <a:endParaRPr lang="en-US" sz="14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Diffusion omnicanale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0292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solution : application web 3-tiers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664208"/>
            <a:ext cx="2011680" cy="0"/>
          </a:xfrm>
          <a:prstGeom prst="line">
            <a:avLst/>
          </a:prstGeom>
          <a:noFill/>
          <a:ln w="3175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371600" y="2148840"/>
            <a:ext cx="94183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371600" y="2148840"/>
            <a:ext cx="128016" cy="105156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0" name="Text 8"/>
          <p:cNvSpPr/>
          <p:nvPr/>
        </p:nvSpPr>
        <p:spPr>
          <a:xfrm>
            <a:off x="1737360" y="2313432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- React 18 + Vite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737360" y="2715768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SPA : ingestion, catalogue, editeur, diffusion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0" y="317296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flux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371600" y="3429000"/>
            <a:ext cx="94183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371600" y="3429000"/>
            <a:ext cx="128016" cy="10515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1737360" y="3593592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- FastAPI (Python)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737360" y="3995928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. IA de vision (Gemini) . completude &amp; workflow . mapping canal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943600" y="44531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flux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371600" y="4709160"/>
            <a:ext cx="94183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371600" y="4709160"/>
            <a:ext cx="128016" cy="10515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1737360" y="4873752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Donnees - SQLAlchemy . SQLite/PostgreSQL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737360" y="5276088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Referentiel produit (master data) relationnel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0292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Choix technologiques justifies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664208"/>
            <a:ext cx="2011680" cy="0"/>
          </a:xfrm>
          <a:prstGeom prst="line">
            <a:avLst/>
          </a:prstGeom>
          <a:noFill/>
          <a:ln w="3175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103120"/>
          <a:ext cx="1088136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011680"/>
                <a:gridCol w="2743200"/>
                <a:gridCol w="448056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Besoin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Choix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Alternatives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Justification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366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FastAPI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Django / Express / Spring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Async, validation Pydantic, doc OpenAPI auto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366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18 + Vite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Angular / Vue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Composants, build instantane, SPA riche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Donnees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366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SQLAlchemy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MongoDB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Relationnel, SQLite-&gt;PostgreSQL sans refonte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366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 vision (Gemini)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OCR Tesseract / Vision OCR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Lit les vraies etiquettes ; JSON structure ; gratuit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366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JWT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Sessions / OAuth2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Sans etat, adapte API + SPA + canaux externes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0292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Gestion de projet &amp; charge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664208"/>
            <a:ext cx="2011680" cy="0"/>
          </a:xfrm>
          <a:prstGeom prst="line">
            <a:avLst/>
          </a:prstGeom>
          <a:noFill/>
          <a:ln w="3175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pic>
        <p:nvPicPr>
          <p:cNvPr id="8" name="Image 0" descr="gant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2634" y="1920240"/>
            <a:ext cx="9196251" cy="40233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Approche iterative sur 6 semaines . charge estimee ~41 jours-hommes (equipe de 2)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0292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Fonctionnalite phare : ingestion par IA de vision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664208"/>
            <a:ext cx="2011680" cy="0"/>
          </a:xfrm>
          <a:prstGeom prst="line">
            <a:avLst/>
          </a:prstGeom>
          <a:noFill/>
          <a:ln w="3175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22960" y="2057400"/>
            <a:ext cx="105156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22960" y="2057400"/>
            <a:ext cx="128016" cy="82296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214884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Depot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023360" y="2148840"/>
            <a:ext cx="7132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fournisseur glisse la photo d'une etiquette (JPG/PNG)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22960" y="3017520"/>
            <a:ext cx="105156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2960" y="3017520"/>
            <a:ext cx="128016" cy="8229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310896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Lecture IA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023360" y="3108960"/>
            <a:ext cx="7132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modele de vision (Gemini) lit l'image et renvoie du JSON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22960" y="3977640"/>
            <a:ext cx="105156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2960" y="3977640"/>
            <a:ext cx="128016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1143000" y="406908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Revue humaine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023360" y="4069080"/>
            <a:ext cx="7132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fiche pre-remplie est verifiee et corrigee (human-in-the-loop)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822960" y="4937760"/>
            <a:ext cx="105156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22960" y="4937760"/>
            <a:ext cx="128016" cy="8229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2" name="Text 20"/>
          <p:cNvSpPr/>
          <p:nvPr/>
        </p:nvSpPr>
        <p:spPr>
          <a:xfrm>
            <a:off x="1143000" y="502920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Upsert EAN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023360" y="5029200"/>
            <a:ext cx="7132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Enregistrement : mise a jour si l'EAN existe, sinon creation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822960" y="59893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une IA de vision plutot qu'un OCR : les vraies etiquettes (bouteilles courbees, logos, photos) ne sont pas lisibles par un OCR ligne a ligne.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0292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 d'utilisation &amp; acteurs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664208"/>
            <a:ext cx="2011680" cy="0"/>
          </a:xfrm>
          <a:prstGeom prst="line">
            <a:avLst/>
          </a:prstGeom>
          <a:noFill/>
          <a:ln w="3175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pic>
        <p:nvPicPr>
          <p:cNvPr id="8" name="Image 0" descr="diagrams/01_cas_utilis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32760" y="1920240"/>
            <a:ext cx="6096000" cy="40233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acteurs internes + le canal externe ; la validation/publication est reservee a l'administrateur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0292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 utilisateurs et leurs roles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664208"/>
            <a:ext cx="2011680" cy="0"/>
          </a:xfrm>
          <a:prstGeom prst="line">
            <a:avLst/>
          </a:prstGeom>
          <a:noFill/>
          <a:ln w="3175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2194560"/>
            <a:ext cx="2514600" cy="27432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508760" y="2468880"/>
            <a:ext cx="777240" cy="77724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0" name="Text 8"/>
          <p:cNvSpPr/>
          <p:nvPr/>
        </p:nvSpPr>
        <p:spPr>
          <a:xfrm>
            <a:off x="1508760" y="24688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731520" y="34747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Administrateur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3931920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steward : valide, publie, gere le referentiel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383280" y="2194560"/>
            <a:ext cx="2514600" cy="27432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251960" y="2468880"/>
            <a:ext cx="777240" cy="7772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4251960" y="24688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474720" y="34747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566160" y="3931920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Descriptions, traductions, contenus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126480" y="2194560"/>
            <a:ext cx="2514600" cy="27432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995160" y="2468880"/>
            <a:ext cx="777240" cy="7772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6995160" y="24688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217920" y="34747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Achats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309360" y="3931920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Prix, fournisseurs, donnees commerciales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869680" y="2194560"/>
            <a:ext cx="2514600" cy="27432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738360" y="2468880"/>
            <a:ext cx="777240" cy="7772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5" name="Text 23"/>
          <p:cNvSpPr/>
          <p:nvPr/>
        </p:nvSpPr>
        <p:spPr>
          <a:xfrm>
            <a:off x="9738360" y="24688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8961120" y="34747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Fournisseur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052560" y="3931920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Depot d'etiquettes, donnees techniques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40080" y="52578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Gouvernance par roles (RBAC) reproduisant l'organisation reelle de l'enrichissement collaboratif. Conclusion de la phase de dev : modeliser la donnee d'abord, garder l'humain dans la boucle.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0292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Parcours &amp; fonctionnalites cles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664208"/>
            <a:ext cx="2011680" cy="0"/>
          </a:xfrm>
          <a:prstGeom prst="line">
            <a:avLst/>
          </a:prstGeom>
          <a:noFill/>
          <a:ln w="3175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22960" y="1965960"/>
            <a:ext cx="73152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05840" y="2039112"/>
            <a:ext cx="420624" cy="420624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03911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600200" y="2011680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931920" y="2011680"/>
            <a:ext cx="4114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Depot d'etiquette -&gt; extraction IA -&gt; fiche pre-remplie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2960" y="2624328"/>
            <a:ext cx="73152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05840" y="2697480"/>
            <a:ext cx="420624" cy="420624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269748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600200" y="2670048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931920" y="2670048"/>
            <a:ext cx="4114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Recherche, filtres et pagination (~610 produits)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22960" y="3282696"/>
            <a:ext cx="73152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005840" y="3355848"/>
            <a:ext cx="420624" cy="420624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335584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600200" y="3328416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Editeur produit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931920" y="3328416"/>
            <a:ext cx="4114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Attributs dynamiques, langues FR/EN, medias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22960" y="3941064"/>
            <a:ext cx="73152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005840" y="4014216"/>
            <a:ext cx="420624" cy="420624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5" name="Text 23"/>
          <p:cNvSpPr/>
          <p:nvPr/>
        </p:nvSpPr>
        <p:spPr>
          <a:xfrm>
            <a:off x="1005840" y="401421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600200" y="3986784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Completude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31920" y="3986784"/>
            <a:ext cx="4114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en temps reel + liste des champs manquants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22960" y="4599432"/>
            <a:ext cx="73152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005840" y="4672584"/>
            <a:ext cx="420624" cy="420624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30" name="Text 28"/>
          <p:cNvSpPr/>
          <p:nvPr/>
        </p:nvSpPr>
        <p:spPr>
          <a:xfrm>
            <a:off x="1005840" y="467258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600200" y="4645152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931920" y="4645152"/>
            <a:ext cx="4114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Soumettre -&gt; valider -&gt; publier, avec controles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822960" y="5257800"/>
            <a:ext cx="73152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1005840" y="5330952"/>
            <a:ext cx="420624" cy="420624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35" name="Text 33"/>
          <p:cNvSpPr/>
          <p:nvPr/>
        </p:nvSpPr>
        <p:spPr>
          <a:xfrm>
            <a:off x="1005840" y="533095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600200" y="5303520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Diffusion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3931920" y="5303520"/>
            <a:ext cx="4114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Apercu des flux adaptes a chaque canal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8412480" y="1965960"/>
            <a:ext cx="3017520" cy="3931920"/>
          </a:xfrm>
          <a:prstGeom prst="roundRect">
            <a:avLst>
              <a:gd name="adj" fmla="val 2424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1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8595360" y="21945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inserer ici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8595360" y="2606040"/>
            <a:ext cx="26517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d'ecran de la plateforme (ingestion, tableau de bord, fiche produit, diffusion).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0292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trois tiers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664208"/>
            <a:ext cx="2011680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pic>
        <p:nvPicPr>
          <p:cNvPr id="8" name="Image 0" descr="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01008" y="1920240"/>
            <a:ext cx="6359505" cy="40233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(React) . Metier (FastAPI + IA de vision) . Donnees (SQLAlchemy) - couplage faible par API REST/JWT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0292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Extraction par IA de vision (Gemini)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664208"/>
            <a:ext cx="2011680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2103120"/>
            <a:ext cx="5212080" cy="384048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22860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14400" y="2834640"/>
            <a:ext cx="47548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encodee en base64 cote serveur</a:t>
            </a:r>
            <a:endParaRPr lang="en-US" sz="14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Envoi au modele de vision avec un prompt strict</a:t>
            </a:r>
            <a:endParaRPr lang="en-US" sz="14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Reponse imposee en JSON (responseMimeType)</a:t>
            </a:r>
            <a:endParaRPr lang="en-US" sz="14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 API lue dans .env, jamais exposee au front</a:t>
            </a:r>
            <a:endParaRPr lang="en-US" sz="14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remplacable sans toucher au reste du code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035040" y="2103120"/>
            <a:ext cx="5394960" cy="384048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09360" y="22860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Sortie structuree (exemple)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309360" y="2788920"/>
            <a:ext cx="49377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"nom_produit": "Evian 1,5 L",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"marque": "Evian",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"ean": "3068320123456",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"categorie": "Eau",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"contenance": "1,5 L",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"pays_origine": "France",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"composition": [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{"libelle":"Calcium","valeur":"80 mg/L"}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0292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Modele de donnees (MCD Merise)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664208"/>
            <a:ext cx="2011680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pic>
        <p:nvPicPr>
          <p:cNvPr id="8" name="Image 0" descr="diagrams/05_mcd_meri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64408" y="1920240"/>
            <a:ext cx="5632704" cy="40233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L'association valorise porte valeur + langue -&gt; table AttributeValue dans le MLD (multilingue natif)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0292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Backend &amp; API REST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664208"/>
            <a:ext cx="2011680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2103120"/>
            <a:ext cx="5212080" cy="384048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22860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 du code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14400" y="2834640"/>
            <a:ext cx="47548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models.py - entites ORM</a:t>
            </a:r>
            <a:endParaRPr lang="en-US" sz="14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schemas.py - contrats Pydantic</a:t>
            </a:r>
            <a:endParaRPr lang="en-US" sz="14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auth.py - JWT &amp; roles (RBAC)</a:t>
            </a:r>
            <a:endParaRPr lang="en-US" sz="14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services/extraction.py - IA de vision</a:t>
            </a:r>
            <a:endParaRPr lang="en-US" sz="14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routers/ - un par domaine (dont ingest)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035040" y="2103120"/>
            <a:ext cx="5394960" cy="384048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09360" y="22860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 principaux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309360" y="2788920"/>
            <a:ext cx="493776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/auth/login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/ingest/extract  (IA de vision)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/ingest/save  (upsert EAN)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/products  (filtres + pagination)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/products/{id}/completeness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/products/{id}/transition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/channels/{id}/publish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/dashboard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0292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Moteur de qualite : la completude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664208"/>
            <a:ext cx="2011680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2103120"/>
            <a:ext cx="10789920" cy="146304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05840" y="22860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Completude = part des attributs requis renseignes (toutes langues requises) + au moins une image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005840" y="30632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Heuristique transparente : le moteur restitue la LISTE exacte des champs manquants.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840480"/>
            <a:ext cx="52120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14400" y="4023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de sortie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4434840"/>
            <a:ext cx="4754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"score": 28.6,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"filled": 2, "total": 7,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"missing": ["Description (fr)",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"Description (en)", "Code EAN"] }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35040" y="384048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09360" y="4023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c'est utile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09360" y="4434840"/>
            <a:ext cx="4937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tableau de bord agrege ces scores (completude moyenne, distribution, produits incomplets) : l'effort d'enrichissement est priorise objectivement, meme sur des produits deja valides.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0292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Workflow &amp; gouvernance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664208"/>
            <a:ext cx="2011680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22960" y="2286000"/>
            <a:ext cx="2194560" cy="822960"/>
          </a:xfrm>
          <a:prstGeom prst="roundRect">
            <a:avLst>
              <a:gd name="adj" fmla="val 11111"/>
            </a:avLst>
          </a:prstGeom>
          <a:solidFill>
            <a:srgbClr val="475569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28600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Brouillon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017520" y="2286000"/>
            <a:ext cx="594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4748B"/>
                </a:solidFill>
              </a:rPr>
              <a:t>&gt;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3611880" y="2286000"/>
            <a:ext cx="2194560" cy="822960"/>
          </a:xfrm>
          <a:prstGeom prst="roundRect">
            <a:avLst>
              <a:gd name="adj" fmla="val 11111"/>
            </a:avLst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3611880" y="228600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revue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806440" y="2286000"/>
            <a:ext cx="594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4748B"/>
                </a:solidFill>
              </a:rPr>
              <a:t>&gt;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6400800" y="2286000"/>
            <a:ext cx="2194560" cy="822960"/>
          </a:xfrm>
          <a:prstGeom prst="roundRect">
            <a:avLst>
              <a:gd name="adj" fmla="val 11111"/>
            </a:avLst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228600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595360" y="2286000"/>
            <a:ext cx="594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4748B"/>
                </a:solidFill>
              </a:rPr>
              <a:t>&gt;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9189720" y="2286000"/>
            <a:ext cx="2194560" cy="822960"/>
          </a:xfrm>
          <a:prstGeom prst="roundRect">
            <a:avLst>
              <a:gd name="adj" fmla="val 11111"/>
            </a:avLst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9189720" y="228600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371600" y="3566160"/>
            <a:ext cx="94183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600200" y="3730752"/>
            <a:ext cx="365760" cy="36576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1" name="Text 19"/>
          <p:cNvSpPr/>
          <p:nvPr/>
        </p:nvSpPr>
        <p:spPr>
          <a:xfrm>
            <a:off x="1600200" y="37307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v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148840" y="356616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Soumission a validation refusee si completude &lt; 60 %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1371600" y="4389120"/>
            <a:ext cx="94183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600200" y="4553712"/>
            <a:ext cx="365760" cy="36576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5" name="Text 23"/>
          <p:cNvSpPr/>
          <p:nvPr/>
        </p:nvSpPr>
        <p:spPr>
          <a:xfrm>
            <a:off x="1600200" y="45537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v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148840" y="438912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Seul l'administrateur (data steward) peut valider et publier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1371600" y="5212080"/>
            <a:ext cx="94183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1600200" y="5376672"/>
            <a:ext cx="365760" cy="36576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9" name="Text 27"/>
          <p:cNvSpPr/>
          <p:nvPr/>
        </p:nvSpPr>
        <p:spPr>
          <a:xfrm>
            <a:off x="1600200" y="53766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v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2148840" y="521208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transition est historisee (auteur, date, commentaire)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0292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Sequence - validation &amp; publication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664208"/>
            <a:ext cx="2011680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pic>
        <p:nvPicPr>
          <p:cNvPr id="8" name="Image 0" descr="diagrams/03_sequence_validation_public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32760" y="1920240"/>
            <a:ext cx="6096000" cy="40233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Controles de gouvernance (completude, role) avant publication ; export tire par le canal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0292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Diffusion omnicanale : une donnee, N projections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664208"/>
            <a:ext cx="2011680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2194560"/>
            <a:ext cx="52120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2194560"/>
            <a:ext cx="128016" cy="16002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23774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60120" y="285292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 enrichi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0120" y="3218688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Descriptions FR+EN, attributs complets, images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0" y="2194560"/>
            <a:ext cx="52120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2194560"/>
            <a:ext cx="128016" cy="1600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6446520" y="23774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46520" y="285292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 aplati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46520" y="3218688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Titre court, prix, EAN, image principale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4023360"/>
            <a:ext cx="52120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" y="4023360"/>
            <a:ext cx="128016" cy="1600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960120" y="42062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60120" y="468172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CSV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60120" y="5047488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SKU, nom, categorie, prix (PDF/papier)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126480" y="4023360"/>
            <a:ext cx="52120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26480" y="4023360"/>
            <a:ext cx="128016" cy="16002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5" name="Text 23"/>
          <p:cNvSpPr/>
          <p:nvPr/>
        </p:nvSpPr>
        <p:spPr>
          <a:xfrm>
            <a:off x="6446520" y="42062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446520" y="468172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 allege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46520" y="5047488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Champs essentiels, une image (charge reseau)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0292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de test (pytest)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664208"/>
            <a:ext cx="2011680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2057400"/>
            <a:ext cx="25146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219456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366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31520" y="28346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verts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83280" y="2057400"/>
            <a:ext cx="25146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383280" y="219456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366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474720" y="28346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2057400"/>
            <a:ext cx="25146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26480" y="219456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366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~610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217920" y="28346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produits (volumetrie)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869680" y="2057400"/>
            <a:ext cx="25146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869680" y="219456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366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60 %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8961120" y="28346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 de gouvernance teste</a:t>
            </a:r>
            <a:endParaRPr lang="en-US" sz="12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611880"/>
          <a:ext cx="1088136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5943600"/>
                <a:gridCol w="18288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Famille de tests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Authentification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 OK / mauvais mot de passe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Ingestion / upsert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extraction + enregistrement sans doublon EAN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Completude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champs manquants, montee a 100 %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Workflow / droits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refus &lt; 60 %, validation admin only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Diffusion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publication + export canal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840480"/>
            <a:ext cx="5486400" cy="5486400"/>
          </a:xfrm>
          <a:prstGeom prst="ellipse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144000" y="-1828800"/>
            <a:ext cx="5486400" cy="5486400"/>
          </a:xfrm>
          <a:prstGeom prst="ellipse">
            <a:avLst/>
          </a:prstGeom>
          <a:solidFill>
            <a:srgbClr val="818CF8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6400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 &amp; perspectives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914400" y="1463040"/>
            <a:ext cx="2286000" cy="0"/>
          </a:xfrm>
          <a:prstGeom prst="line">
            <a:avLst/>
          </a:prstGeom>
          <a:noFill/>
          <a:ln w="38100">
            <a:solidFill>
              <a:srgbClr val="818C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78308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PIMP demontre les fonctions essentielles d'un PIM : </a:t>
            </a:r>
            <a:pPr indent="0" marL="0">
              <a:lnSpc>
                <a:spcPct val="125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par IA de vision, referentiel unique, enrichissement multilingue, pilotage par la completude, gouvernance par workflow, diffusion adaptee par canal.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14400" y="2971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333756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par lot de plusieurs etiquettes</a:t>
            </a:r>
            <a:endParaRPr lang="en-US" sz="14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Import/export en masse + connecteurs ERP / e-commerce</a:t>
            </a:r>
            <a:endParaRPr lang="en-US" sz="14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Syndication temps reel vers les canaux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914400" y="4800600"/>
            <a:ext cx="10332720" cy="0"/>
          </a:xfrm>
          <a:prstGeom prst="line">
            <a:avLst/>
          </a:prstGeom>
          <a:noFill/>
          <a:ln w="12700">
            <a:solidFill>
              <a:srgbClr val="3A417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5029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Merci - Questions &amp; demonstration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914400" y="5943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dev4pimp25 - PIMP - Philippe Sam EFTEKHARI . Anass IMLI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PIMP - Plateforme de PIM</dc:title>
  <dc:subject>PptxGenJS Presentation</dc:subject>
  <dc:creator>Philippe Sam EFTEKHARI &amp; Anass IMLI</dc:creator>
  <cp:lastModifiedBy>Philippe Sam EFTEKHARI &amp; Anass IMLI</cp:lastModifiedBy>
  <cp:revision>1</cp:revision>
  <dcterms:created xsi:type="dcterms:W3CDTF">2026-06-26T00:42:48Z</dcterms:created>
  <dcterms:modified xsi:type="dcterms:W3CDTF">2026-06-26T00:42:48Z</dcterms:modified>
</cp:coreProperties>
</file>