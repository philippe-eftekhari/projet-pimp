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1"/>
    <p:restoredTop sz="69404" autoAdjust="0"/>
  </p:normalViewPr>
  <p:slideViewPr>
    <p:cSldViewPr snapToGrid="0" snapToObjects="1">
      <p:cViewPr>
        <p:scale>
          <a:sx n="86" d="100"/>
          <a:sy n="86" d="100"/>
        </p:scale>
        <p:origin x="48" y="-514"/>
      </p:cViewPr>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07142821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Bonjour, nous allons vous présenter notre projet PIMP, une plateforme de Product Information Management.</a:t>
            </a:r>
            <a:br>
              <a:rPr lang="fr-FR" dirty="0"/>
            </a:br>
            <a:r>
              <a:rPr lang="fr-FR" dirty="0"/>
              <a:t>L’objectif est de centraliser les données produits dans un référentiel unique, puis de les enrichir, les contrôler et les diffuser vers différents canaux comme l’e-commerce, les marketplaces ou les applications mobiles.</a:t>
            </a:r>
            <a:br>
              <a:rPr lang="fr-FR" dirty="0"/>
            </a:br>
            <a:r>
              <a:rPr lang="fr-FR" dirty="0"/>
              <a:t>Le projet a été réalisé par Philippe Sam EFTEKHARI et Anass IMLI.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La présentation est organisée en trois parties.</a:t>
            </a:r>
            <a:br>
              <a:rPr lang="fr-FR" dirty="0"/>
            </a:br>
            <a:r>
              <a:rPr lang="fr-FR" dirty="0"/>
              <a:t>D’abord, une introduction avec l’équipe, l’objectif, les technologies et la gestion de projet.</a:t>
            </a:r>
            <a:br>
              <a:rPr lang="fr-FR" dirty="0"/>
            </a:br>
            <a:r>
              <a:rPr lang="fr-FR" dirty="0"/>
              <a:t>Ensuite, une partie démonstration où l’on présente l’ingestion IA, les fonctionnalités et les utilisateurs.</a:t>
            </a:r>
            <a:br>
              <a:rPr lang="fr-FR" dirty="0"/>
            </a:br>
            <a:r>
              <a:rPr lang="fr-FR" dirty="0"/>
              <a:t>Enfin, une partie technique avec l’architecture, l’extraction IA, le backend et les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Sur ce projet, Anass s’est principalement occupé du frontend, du design et de la diffusion, tandis que je me suis concentré sur le backend, le modèle de données et l’intégration de l’IA de vision.</a:t>
            </a:r>
            <a:br>
              <a:rPr lang="fr-FR" dirty="0"/>
            </a:br>
            <a:r>
              <a:rPr lang="fr-FR" dirty="0"/>
              <a:t>L’objectif était de créer une plateforme PIM, c’est-à-dire un outil qui centralise toutes les informations produits : nom, description, images, attributs, traductions ou encore données techniques.</a:t>
            </a:r>
            <a:br>
              <a:rPr lang="fr-FR" dirty="0"/>
            </a:br>
            <a:r>
              <a:rPr lang="fr-FR" dirty="0"/>
              <a:t>Le point fort de notre solution est l’entrée intelligente de la donnée : au lieu de remplir entièrement une fiche produit à la main, l’utilisateur peut déposer une photo d’étiquette, et l’IA extrait automatiquement les informations importantes.</a:t>
            </a:r>
            <a:br>
              <a:rPr lang="fr-FR" dirty="0"/>
            </a:br>
            <a:r>
              <a:rPr lang="fr-FR" dirty="0"/>
              <a:t>Ensuite, la donnée est vérifiée, enrichie, validée, puis diffusée vers plusieurs canaux.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la fonctionnalité centrale de notre projet : l’ingestion d’étiquette par IA de vision.</a:t>
            </a:r>
            <a:br>
              <a:rPr lang="fr-FR" dirty="0"/>
            </a:br>
            <a:r>
              <a:rPr lang="fr-FR" dirty="0"/>
              <a:t>Le fournisseur dépose une image d’étiquette, par exemple au format JPG ou PNG.</a:t>
            </a:r>
            <a:br>
              <a:rPr lang="fr-FR" dirty="0"/>
            </a:br>
            <a:r>
              <a:rPr lang="fr-FR" dirty="0"/>
              <a:t>Ensuite, Gemini analyse l’image et renvoie les informations sous forme de JSON structuré : nom du produit, marque, EAN, catégorie, contenance, pays d’origine ou composition.</a:t>
            </a:r>
            <a:br>
              <a:rPr lang="fr-FR" dirty="0"/>
            </a:br>
            <a:r>
              <a:rPr lang="fr-FR" dirty="0"/>
              <a:t>Mais la fiche n’est pas enregistrée automatiquement : on garde une étape de revue humaine. L’utilisateur vérifie les champs, corrige si besoin, puis valide.</a:t>
            </a:r>
            <a:br>
              <a:rPr lang="fr-FR" dirty="0"/>
            </a:br>
            <a:r>
              <a:rPr lang="fr-FR" dirty="0"/>
              <a:t>Enfin, on fait un </a:t>
            </a:r>
            <a:r>
              <a:rPr lang="fr-FR" dirty="0" err="1"/>
              <a:t>upsert</a:t>
            </a:r>
            <a:r>
              <a:rPr lang="fr-FR" dirty="0"/>
              <a:t> sur le code EAN : si le produit existe déjà, on met à jour sa fiche ; sinon, on crée un nouveau produit.</a:t>
            </a:r>
            <a:br>
              <a:rPr lang="fr-FR" dirty="0"/>
            </a:br>
            <a:r>
              <a:rPr lang="fr-FR" dirty="0"/>
              <a:t>On a choisi une IA de vision plutôt qu’un OCR classique, parce que les vraies étiquettes peuvent être courbées, floues, inclinées ou contenir des logos et des mises en page difficiles à lire ligne par ligne.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On a une architecture en trois couches.</a:t>
            </a:r>
            <a:br>
              <a:rPr lang="fr-FR" dirty="0"/>
            </a:br>
            <a:r>
              <a:rPr lang="fr-FR" dirty="0"/>
              <a:t>D’abord, la couche présentation avec </a:t>
            </a:r>
            <a:r>
              <a:rPr lang="fr-FR" dirty="0" err="1"/>
              <a:t>React</a:t>
            </a:r>
            <a:r>
              <a:rPr lang="fr-FR" dirty="0"/>
              <a:t>, qui correspond à l’interface utilisateur.</a:t>
            </a:r>
            <a:br>
              <a:rPr lang="fr-FR" dirty="0"/>
            </a:br>
            <a:r>
              <a:rPr lang="fr-FR" dirty="0"/>
              <a:t>Ensuite, la couche métier avec </a:t>
            </a:r>
            <a:r>
              <a:rPr lang="fr-FR" dirty="0" err="1"/>
              <a:t>FastAPI</a:t>
            </a:r>
            <a:r>
              <a:rPr lang="fr-FR" dirty="0"/>
              <a:t>, qui contient la logique principale : ingestion IA, règles de complétude, workflow, authentification et diffusion.</a:t>
            </a:r>
            <a:br>
              <a:rPr lang="fr-FR" dirty="0"/>
            </a:br>
            <a:r>
              <a:rPr lang="fr-FR" dirty="0"/>
              <a:t>Enfin, la couche données avec </a:t>
            </a:r>
            <a:r>
              <a:rPr lang="fr-FR" dirty="0" err="1"/>
              <a:t>SQLAlchemy</a:t>
            </a:r>
            <a:r>
              <a:rPr lang="fr-FR" dirty="0"/>
              <a:t>, qui permet de gérer le modèle relationnel et la base de données.</a:t>
            </a:r>
            <a:br>
              <a:rPr lang="fr-FR" dirty="0"/>
            </a:br>
            <a:r>
              <a:rPr lang="fr-FR" dirty="0"/>
              <a:t>L’intérêt de cette architecture est de séparer clairement les responsabilités : le frontend affiche et interagit avec l’utilisateur, le backend applique les règles métier, et la base stocke les données produits.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Ici, on détaille le fonctionnement de l’extraction IA côté serveur.</a:t>
            </a:r>
            <a:br>
              <a:rPr lang="fr-FR" dirty="0"/>
            </a:br>
            <a:r>
              <a:rPr lang="fr-FR" dirty="0"/>
              <a:t>Quand l’utilisateur envoie une étiquette, l’image est traitée côté backend, puis encodée avant d’être envoyée au modèle Gemini.</a:t>
            </a:r>
            <a:br>
              <a:rPr lang="fr-FR" dirty="0"/>
            </a:br>
            <a:r>
              <a:rPr lang="fr-FR" dirty="0"/>
              <a:t>On utilise un prompt strict pour forcer le modèle à répondre dans un format précis, uniquement en JSON.</a:t>
            </a:r>
            <a:br>
              <a:rPr lang="fr-FR" dirty="0"/>
            </a:br>
            <a:r>
              <a:rPr lang="fr-FR" dirty="0"/>
              <a:t>Cela permet d’obtenir directement une sortie exploitable par l’application, avec des champs comme le nom du produit, la marque, l’EAN, la catégorie ou la composition.</a:t>
            </a:r>
            <a:br>
              <a:rPr lang="fr-FR" dirty="0"/>
            </a:br>
            <a:r>
              <a:rPr lang="fr-FR" dirty="0"/>
              <a:t>La clé API est stockée côté serveur dans un fichier .</a:t>
            </a:r>
            <a:r>
              <a:rPr lang="fr-FR" dirty="0" err="1"/>
              <a:t>env</a:t>
            </a:r>
            <a:r>
              <a:rPr lang="fr-FR" dirty="0"/>
              <a:t>, donc elle n’est jamais exposée au frontend.</a:t>
            </a:r>
            <a:br>
              <a:rPr lang="fr-FR" dirty="0"/>
            </a:br>
            <a:r>
              <a:rPr lang="fr-FR" dirty="0"/>
              <a:t>Autre avantage : l’IA est isolée dans un service dédié. Donc si demain on veut remplacer Gemini par un autre modèle, on peut le faire sans modifier toute l’architecture.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Sur le modèle de données, le produit est l’entité centrale.</a:t>
            </a:r>
            <a:br>
              <a:rPr lang="fr-FR" dirty="0"/>
            </a:br>
            <a:r>
              <a:rPr lang="fr-FR" dirty="0"/>
              <a:t>Chaque produit est rattaché à une famille, et cette famille définit les attributs attendus.</a:t>
            </a:r>
            <a:br>
              <a:rPr lang="fr-FR" dirty="0"/>
            </a:br>
            <a:r>
              <a:rPr lang="fr-FR" dirty="0"/>
              <a:t>Par exemple, une boisson peut avoir une contenance, une composition ou un pays d’origine, alors qu’un autre type de produit peut avoir d’autres attributs.</a:t>
            </a:r>
            <a:br>
              <a:rPr lang="fr-FR" dirty="0"/>
            </a:br>
            <a:r>
              <a:rPr lang="fr-FR" dirty="0"/>
              <a:t>C’est pour ça qu’on a choisi un modèle avec des attributs dynamiques, plutôt qu’un modèle figé avec une colonne pour chaque champ possible.</a:t>
            </a:r>
            <a:br>
              <a:rPr lang="fr-FR" dirty="0"/>
            </a:br>
            <a:r>
              <a:rPr lang="fr-FR" dirty="0"/>
              <a:t>Les valeurs d’attributs peuvent aussi être associées à une langue, ce qui permet de gérer le multilingue naturellement, par exemple français et anglais.</a:t>
            </a:r>
            <a:br>
              <a:rPr lang="fr-FR" dirty="0"/>
            </a:br>
            <a:r>
              <a:rPr lang="fr-FR" dirty="0"/>
              <a:t>Enfin, le code EAN sert de clé anti-doublon lors de l’ingestion : si une étiquette déjà connue est réimportée, on met à jour le produit existant au lieu d’en créer un deuxième.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On a séparé le code par responsabilité : les modèles </a:t>
            </a:r>
            <a:r>
              <a:rPr lang="fr-FR" dirty="0" err="1"/>
              <a:t>SQLAlchemy</a:t>
            </a:r>
            <a:r>
              <a:rPr lang="fr-FR" dirty="0"/>
              <a:t> pour représenter les données, les schémas </a:t>
            </a:r>
            <a:r>
              <a:rPr lang="fr-FR" dirty="0" err="1"/>
              <a:t>Pydantic</a:t>
            </a:r>
            <a:r>
              <a:rPr lang="fr-FR" dirty="0"/>
              <a:t> pour valider les entrées et sorties, l’authentification JWT pour gérer les rôles, puis des services dédiés comme l’extraction IA ou la complétude.</a:t>
            </a:r>
            <a:br>
              <a:rPr lang="fr-FR" dirty="0"/>
            </a:br>
            <a:r>
              <a:rPr lang="fr-FR" dirty="0"/>
              <a:t>Les </a:t>
            </a:r>
            <a:r>
              <a:rPr lang="fr-FR" dirty="0" err="1"/>
              <a:t>routers</a:t>
            </a:r>
            <a:r>
              <a:rPr lang="fr-FR" dirty="0"/>
              <a:t> permettent de séparer les grands domaines fonctionnels : ingestion, produits, workflow, canaux et </a:t>
            </a:r>
            <a:r>
              <a:rPr lang="fr-FR" dirty="0" err="1"/>
              <a:t>dashboard</a:t>
            </a:r>
            <a:r>
              <a:rPr lang="fr-FR" dirty="0"/>
              <a:t>.</a:t>
            </a:r>
            <a:br>
              <a:rPr lang="fr-FR" dirty="0"/>
            </a:br>
            <a:r>
              <a:rPr lang="fr-FR" dirty="0"/>
              <a:t>Les </a:t>
            </a:r>
            <a:r>
              <a:rPr lang="fr-FR" dirty="0" err="1"/>
              <a:t>endpoints</a:t>
            </a:r>
            <a:r>
              <a:rPr lang="fr-FR" dirty="0"/>
              <a:t> principaux couvrent tout le cycle de vie du produit.</a:t>
            </a:r>
            <a:br>
              <a:rPr lang="fr-FR" dirty="0"/>
            </a:br>
            <a:r>
              <a:rPr lang="fr-FR" dirty="0"/>
              <a:t>/</a:t>
            </a:r>
            <a:r>
              <a:rPr lang="fr-FR" dirty="0" err="1"/>
              <a:t>ingest</a:t>
            </a:r>
            <a:r>
              <a:rPr lang="fr-FR" dirty="0"/>
              <a:t>/</a:t>
            </a:r>
            <a:r>
              <a:rPr lang="fr-FR" dirty="0" err="1"/>
              <a:t>extract</a:t>
            </a:r>
            <a:r>
              <a:rPr lang="fr-FR" dirty="0"/>
              <a:t> extrait les données depuis l’étiquette, /</a:t>
            </a:r>
            <a:r>
              <a:rPr lang="fr-FR" dirty="0" err="1"/>
              <a:t>ingest</a:t>
            </a:r>
            <a:r>
              <a:rPr lang="fr-FR" dirty="0"/>
              <a:t>/</a:t>
            </a:r>
            <a:r>
              <a:rPr lang="fr-FR" dirty="0" err="1"/>
              <a:t>save</a:t>
            </a:r>
            <a:r>
              <a:rPr lang="fr-FR" dirty="0"/>
              <a:t> sauvegarde après validation humaine, /</a:t>
            </a:r>
            <a:r>
              <a:rPr lang="fr-FR" dirty="0" err="1"/>
              <a:t>products</a:t>
            </a:r>
            <a:r>
              <a:rPr lang="fr-FR" dirty="0"/>
              <a:t> permet de consulter le catalogue, /</a:t>
            </a:r>
            <a:r>
              <a:rPr lang="fr-FR" dirty="0" err="1"/>
              <a:t>completeness</a:t>
            </a:r>
            <a:r>
              <a:rPr lang="fr-FR" dirty="0"/>
              <a:t> calcule la qualité de la fiche, /transition gère le workflow, et /</a:t>
            </a:r>
            <a:r>
              <a:rPr lang="fr-FR" dirty="0" err="1"/>
              <a:t>publish</a:t>
            </a:r>
            <a:r>
              <a:rPr lang="fr-FR" dirty="0"/>
              <a:t> permet la diffusion vers un canal.</a:t>
            </a:r>
            <a:br>
              <a:rPr lang="fr-FR" dirty="0"/>
            </a:br>
            <a:r>
              <a:rPr lang="fr-FR" dirty="0"/>
              <a:t>L’objectif était d’avoir une API claire, modulaire et facilement extensible.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On a 12 tests verts, répartis sur 5 grands domaines.</a:t>
            </a:r>
            <a:br>
              <a:rPr lang="fr-FR" dirty="0"/>
            </a:br>
            <a:r>
              <a:rPr lang="fr-FR" dirty="0"/>
              <a:t>On teste d’abord l’authentification, avec un login valide et un mauvais mot de passe.</a:t>
            </a:r>
            <a:br>
              <a:rPr lang="fr-FR" dirty="0"/>
            </a:br>
            <a:r>
              <a:rPr lang="fr-FR" dirty="0"/>
              <a:t>Ensuite, on teste l’ingestion et l’</a:t>
            </a:r>
            <a:r>
              <a:rPr lang="fr-FR" dirty="0" err="1"/>
              <a:t>upsert</a:t>
            </a:r>
            <a:r>
              <a:rPr lang="fr-FR" dirty="0"/>
              <a:t>, pour vérifier qu’un produit avec le même EAN n’est pas dupliqué.</a:t>
            </a:r>
            <a:br>
              <a:rPr lang="fr-FR" dirty="0"/>
            </a:br>
            <a:r>
              <a:rPr lang="fr-FR" dirty="0"/>
              <a:t>On teste aussi la complétude, notamment la détection des champs manquants et la montée du score jusqu’à 100 %.</a:t>
            </a:r>
            <a:br>
              <a:rPr lang="fr-FR" dirty="0"/>
            </a:br>
            <a:r>
              <a:rPr lang="fr-FR" dirty="0"/>
              <a:t>Le workflow est également testé : par exemple, un produit avec moins de 60 % de complétude ne peut pas être soumis, et seul l’admin peut valider.</a:t>
            </a:r>
            <a:br>
              <a:rPr lang="fr-FR" dirty="0"/>
            </a:br>
            <a:r>
              <a:rPr lang="fr-FR" dirty="0"/>
              <a:t>Enfin, on teste la diffusion, pour vérifier que la publication et l’export par canal fonctionnent correctement.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Pour conclure, PIMP démontre les fonctions essentielles d’un PIM : ingestion intelligente par IA de vision, référentiel unique, enrichissement multilingue, contrôle qualité, gouvernance par workflow et diffusion omnicanale.</a:t>
            </a:r>
            <a:br>
              <a:rPr lang="fr-FR" dirty="0"/>
            </a:br>
            <a:r>
              <a:rPr lang="fr-FR" dirty="0"/>
              <a:t>Le projet reste sur un périmètre maîtrisé, mais l’architecture permet déjà plusieurs évolutions réalistes.</a:t>
            </a:r>
            <a:br>
              <a:rPr lang="fr-FR" dirty="0"/>
            </a:br>
            <a:r>
              <a:rPr lang="fr-FR" dirty="0"/>
              <a:t>On pourrait ajouter l’extraction par lot de plusieurs étiquettes, l’import/export massif, des connecteurs ERP ou e-commerce, ou encore une syndication temps réel vers les canaux de vente.</a:t>
            </a:r>
            <a:br>
              <a:rPr lang="fr-FR" dirty="0"/>
            </a:br>
            <a:r>
              <a:rPr lang="fr-FR" dirty="0"/>
              <a:t>Merci pour votre attention, et nous allons faire la démonstration de la plateforme.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a:effectLst/>
      </p:bgPr>
    </p:bg>
    <p:spTree>
      <p:nvGrpSpPr>
        <p:cNvPr id="1" name=""/>
        <p:cNvGrpSpPr/>
        <p:nvPr/>
      </p:nvGrpSpPr>
      <p:grpSpPr>
        <a:xfrm>
          <a:off x="0" y="0"/>
          <a:ext cx="0" cy="0"/>
          <a:chOff x="0" y="0"/>
          <a:chExt cx="0" cy="0"/>
        </a:xfrm>
      </p:grpSpPr>
      <p:sp>
        <p:nvSpPr>
          <p:cNvPr id="2" name="Shape 0"/>
          <p:cNvSpPr/>
          <p:nvPr/>
        </p:nvSpPr>
        <p:spPr>
          <a:xfrm>
            <a:off x="8686800" y="-2011680"/>
            <a:ext cx="5486400" cy="5486400"/>
          </a:xfrm>
          <a:prstGeom prst="ellipse">
            <a:avLst/>
          </a:prstGeom>
          <a:solidFill>
            <a:srgbClr val="6366F1">
              <a:alpha val="35000"/>
            </a:srgbClr>
          </a:solidFill>
          <a:ln/>
        </p:spPr>
      </p:sp>
      <p:sp>
        <p:nvSpPr>
          <p:cNvPr id="3" name="Shape 1"/>
          <p:cNvSpPr/>
          <p:nvPr/>
        </p:nvSpPr>
        <p:spPr>
          <a:xfrm>
            <a:off x="10058400" y="4114800"/>
            <a:ext cx="4114800" cy="4114800"/>
          </a:xfrm>
          <a:prstGeom prst="ellipse">
            <a:avLst/>
          </a:prstGeom>
          <a:solidFill>
            <a:srgbClr val="818CF8">
              <a:alpha val="25000"/>
            </a:srgbClr>
          </a:solidFill>
          <a:ln/>
        </p:spPr>
      </p:sp>
      <p:sp>
        <p:nvSpPr>
          <p:cNvPr id="4" name="Text 2"/>
          <p:cNvSpPr/>
          <p:nvPr/>
        </p:nvSpPr>
        <p:spPr>
          <a:xfrm>
            <a:off x="822960" y="1737360"/>
            <a:ext cx="7315200" cy="1280160"/>
          </a:xfrm>
          <a:prstGeom prst="rect">
            <a:avLst/>
          </a:prstGeom>
          <a:noFill/>
          <a:ln/>
        </p:spPr>
        <p:txBody>
          <a:bodyPr wrap="square" rtlCol="0" anchor="ctr"/>
          <a:lstStyle/>
          <a:p>
            <a:pPr marL="0" indent="0">
              <a:buNone/>
            </a:pPr>
            <a:r>
              <a:rPr lang="en-US" sz="8000" b="1" dirty="0">
                <a:solidFill>
                  <a:srgbClr val="FFFFFF"/>
                </a:solidFill>
                <a:latin typeface="Georgia" pitchFamily="34" charset="0"/>
                <a:ea typeface="Georgia" pitchFamily="34" charset="-122"/>
                <a:cs typeface="Georgia" pitchFamily="34" charset="-120"/>
              </a:rPr>
              <a:t>PIMP</a:t>
            </a:r>
            <a:endParaRPr lang="en-US" sz="8000" dirty="0"/>
          </a:p>
        </p:txBody>
      </p:sp>
      <p:sp>
        <p:nvSpPr>
          <p:cNvPr id="5" name="Text 3"/>
          <p:cNvSpPr/>
          <p:nvPr/>
        </p:nvSpPr>
        <p:spPr>
          <a:xfrm>
            <a:off x="868680" y="3017520"/>
            <a:ext cx="10058400" cy="640080"/>
          </a:xfrm>
          <a:prstGeom prst="rect">
            <a:avLst/>
          </a:prstGeom>
          <a:noFill/>
          <a:ln/>
        </p:spPr>
        <p:txBody>
          <a:bodyPr wrap="square" rtlCol="0" anchor="ctr"/>
          <a:lstStyle/>
          <a:p>
            <a:pPr marL="0" indent="0">
              <a:buNone/>
            </a:pPr>
            <a:r>
              <a:rPr lang="en-US" sz="2400" dirty="0">
                <a:solidFill>
                  <a:srgbClr val="CADCFC"/>
                </a:solidFill>
                <a:latin typeface="Calibri" pitchFamily="34" charset="0"/>
                <a:ea typeface="Calibri" pitchFamily="34" charset="-122"/>
                <a:cs typeface="Calibri" pitchFamily="34" charset="-120"/>
              </a:rPr>
              <a:t>Plateforme de Product Information Management</a:t>
            </a:r>
            <a:endParaRPr lang="en-US" sz="2400" dirty="0"/>
          </a:p>
        </p:txBody>
      </p:sp>
      <p:sp>
        <p:nvSpPr>
          <p:cNvPr id="6" name="Shape 4"/>
          <p:cNvSpPr/>
          <p:nvPr/>
        </p:nvSpPr>
        <p:spPr>
          <a:xfrm>
            <a:off x="914400" y="3794760"/>
            <a:ext cx="2743200" cy="0"/>
          </a:xfrm>
          <a:prstGeom prst="line">
            <a:avLst/>
          </a:prstGeom>
          <a:noFill/>
          <a:ln w="38100">
            <a:solidFill>
              <a:srgbClr val="818CF8"/>
            </a:solidFill>
            <a:prstDash val="solid"/>
          </a:ln>
        </p:spPr>
      </p:sp>
      <p:sp>
        <p:nvSpPr>
          <p:cNvPr id="7" name="Text 5"/>
          <p:cNvSpPr/>
          <p:nvPr/>
        </p:nvSpPr>
        <p:spPr>
          <a:xfrm>
            <a:off x="914400" y="4023360"/>
            <a:ext cx="8229600" cy="1371600"/>
          </a:xfrm>
          <a:prstGeom prst="rect">
            <a:avLst/>
          </a:prstGeom>
          <a:noFill/>
          <a:ln/>
        </p:spPr>
        <p:txBody>
          <a:bodyPr wrap="square" rtlCol="0" anchor="ctr"/>
          <a:lstStyle/>
          <a:p>
            <a:pPr marL="0" indent="0">
              <a:lnSpc>
                <a:spcPct val="130000"/>
              </a:lnSpc>
              <a:buNone/>
            </a:pPr>
            <a:r>
              <a:rPr lang="en-US" sz="1600" dirty="0">
                <a:solidFill>
                  <a:srgbClr val="FFFFFF"/>
                </a:solidFill>
                <a:latin typeface="Calibri" pitchFamily="34" charset="0"/>
                <a:ea typeface="Calibri" pitchFamily="34" charset="-122"/>
                <a:cs typeface="Calibri" pitchFamily="34" charset="-120"/>
              </a:rPr>
              <a:t>Projet dev4pimp25 </a:t>
            </a:r>
            <a:endParaRPr lang="en-US" sz="1600" dirty="0"/>
          </a:p>
          <a:p>
            <a:pPr marL="0" indent="0">
              <a:lnSpc>
                <a:spcPct val="130000"/>
              </a:lnSpc>
              <a:buNone/>
            </a:pPr>
            <a:r>
              <a:rPr lang="en-US" sz="1400" dirty="0">
                <a:solidFill>
                  <a:srgbClr val="CADCFC"/>
                </a:solidFill>
                <a:latin typeface="Calibri" pitchFamily="34" charset="0"/>
                <a:ea typeface="Calibri" pitchFamily="34" charset="-122"/>
                <a:cs typeface="Calibri" pitchFamily="34" charset="-120"/>
              </a:rPr>
              <a:t>Philippe Sam EFTEKHARI  -  Anass IMLI</a:t>
            </a:r>
            <a:endParaRPr lang="en-US" sz="1600" dirty="0"/>
          </a:p>
          <a:p>
            <a:pPr marL="0" indent="0">
              <a:lnSpc>
                <a:spcPct val="130000"/>
              </a:lnSpc>
              <a:buNone/>
            </a:pPr>
            <a:r>
              <a:rPr lang="en-US" sz="1400" dirty="0">
                <a:solidFill>
                  <a:srgbClr val="CADCFC"/>
                </a:solidFill>
                <a:latin typeface="Calibri" pitchFamily="34" charset="0"/>
                <a:ea typeface="Calibri" pitchFamily="34" charset="-122"/>
                <a:cs typeface="Calibri" pitchFamily="34" charset="-120"/>
              </a:rPr>
              <a:t>Encadrant : BM. Bui-Xuan  -  Juin 2026</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0" y="0"/>
            <a:ext cx="201168" cy="6858000"/>
          </a:xfrm>
          <a:prstGeom prst="rect">
            <a:avLst/>
          </a:prstGeom>
          <a:solidFill>
            <a:srgbClr val="6366F1"/>
          </a:solidFill>
          <a:ln/>
        </p:spPr>
      </p:sp>
      <p:sp>
        <p:nvSpPr>
          <p:cNvPr id="3" name="Shape 1"/>
          <p:cNvSpPr/>
          <p:nvPr/>
        </p:nvSpPr>
        <p:spPr>
          <a:xfrm>
            <a:off x="640080" y="502920"/>
            <a:ext cx="2377440" cy="384048"/>
          </a:xfrm>
          <a:prstGeom prst="roundRect">
            <a:avLst>
              <a:gd name="adj" fmla="val 50000"/>
            </a:avLst>
          </a:prstGeom>
          <a:solidFill>
            <a:srgbClr val="6366F1"/>
          </a:solidFill>
          <a:ln/>
        </p:spPr>
      </p:sp>
      <p:sp>
        <p:nvSpPr>
          <p:cNvPr id="4" name="Text 2"/>
          <p:cNvSpPr/>
          <p:nvPr/>
        </p:nvSpPr>
        <p:spPr>
          <a:xfrm>
            <a:off x="640080" y="502920"/>
            <a:ext cx="2377440" cy="384048"/>
          </a:xfrm>
          <a:prstGeom prst="rect">
            <a:avLst/>
          </a:prstGeom>
          <a:noFill/>
          <a:ln/>
        </p:spPr>
        <p:txBody>
          <a:bodyPr wrap="square" rtlCol="0" anchor="ctr"/>
          <a:lstStyle/>
          <a:p>
            <a:pPr marL="0" indent="0" algn="ctr">
              <a:buNone/>
            </a:pPr>
            <a:r>
              <a:rPr lang="en-US" sz="1100" b="1" kern="0" spc="200" dirty="0">
                <a:solidFill>
                  <a:srgbClr val="FFFFFF"/>
                </a:solidFill>
                <a:latin typeface="Calibri" pitchFamily="34" charset="0"/>
                <a:ea typeface="Calibri" pitchFamily="34" charset="-122"/>
                <a:cs typeface="Calibri" pitchFamily="34" charset="-120"/>
              </a:rPr>
              <a:t>SOMMAIRE</a:t>
            </a:r>
            <a:endParaRPr lang="en-US" sz="1100" dirty="0"/>
          </a:p>
        </p:txBody>
      </p:sp>
      <p:sp>
        <p:nvSpPr>
          <p:cNvPr id="5" name="Text 3"/>
          <p:cNvSpPr/>
          <p:nvPr/>
        </p:nvSpPr>
        <p:spPr>
          <a:xfrm>
            <a:off x="640080" y="960120"/>
            <a:ext cx="10881360" cy="731520"/>
          </a:xfrm>
          <a:prstGeom prst="rect">
            <a:avLst/>
          </a:prstGeom>
          <a:noFill/>
          <a:ln/>
        </p:spPr>
        <p:txBody>
          <a:bodyPr wrap="square" rtlCol="0" anchor="ctr"/>
          <a:lstStyle/>
          <a:p>
            <a:pPr marL="0" indent="0">
              <a:buNone/>
            </a:pPr>
            <a:r>
              <a:rPr lang="en-US" sz="2700" b="1" dirty="0">
                <a:solidFill>
                  <a:srgbClr val="1E2761"/>
                </a:solidFill>
                <a:latin typeface="Georgia" pitchFamily="34" charset="0"/>
                <a:ea typeface="Georgia" pitchFamily="34" charset="-122"/>
                <a:cs typeface="Georgia" pitchFamily="34" charset="-120"/>
              </a:rPr>
              <a:t>Deroule de la presentation</a:t>
            </a:r>
            <a:endParaRPr lang="en-US" sz="2700" dirty="0"/>
          </a:p>
        </p:txBody>
      </p:sp>
      <p:sp>
        <p:nvSpPr>
          <p:cNvPr id="6" name="Shape 4"/>
          <p:cNvSpPr/>
          <p:nvPr/>
        </p:nvSpPr>
        <p:spPr>
          <a:xfrm>
            <a:off x="640080" y="1664208"/>
            <a:ext cx="2011680" cy="0"/>
          </a:xfrm>
          <a:prstGeom prst="line">
            <a:avLst/>
          </a:prstGeom>
          <a:noFill/>
          <a:ln w="31750">
            <a:solidFill>
              <a:srgbClr val="6366F1"/>
            </a:solidFill>
            <a:prstDash val="solid"/>
          </a:ln>
        </p:spPr>
      </p:sp>
      <p:sp>
        <p:nvSpPr>
          <p:cNvPr id="7" name="Text 5"/>
          <p:cNvSpPr/>
          <p:nvPr/>
        </p:nvSpPr>
        <p:spPr>
          <a:xfrm>
            <a:off x="11338560" y="6400800"/>
            <a:ext cx="548640" cy="274320"/>
          </a:xfrm>
          <a:prstGeom prst="rect">
            <a:avLst/>
          </a:prstGeom>
          <a:noFill/>
          <a:ln/>
        </p:spPr>
        <p:txBody>
          <a:bodyPr wrap="square" rtlCol="0" anchor="ctr"/>
          <a:lstStyle/>
          <a:p>
            <a:pPr marL="0" indent="0" algn="r">
              <a:buNone/>
            </a:pPr>
            <a:r>
              <a:rPr lang="en-US" sz="1000" dirty="0">
                <a:solidFill>
                  <a:srgbClr val="64748B"/>
                </a:solidFill>
                <a:latin typeface="Calibri" pitchFamily="34" charset="0"/>
                <a:ea typeface="Calibri" pitchFamily="34" charset="-122"/>
                <a:cs typeface="Calibri" pitchFamily="34" charset="-120"/>
              </a:rPr>
              <a:t>01</a:t>
            </a:r>
            <a:endParaRPr lang="en-US" sz="1000" dirty="0"/>
          </a:p>
        </p:txBody>
      </p:sp>
      <p:sp>
        <p:nvSpPr>
          <p:cNvPr id="8" name="Shape 6"/>
          <p:cNvSpPr/>
          <p:nvPr/>
        </p:nvSpPr>
        <p:spPr>
          <a:xfrm>
            <a:off x="640080" y="2194560"/>
            <a:ext cx="10881360" cy="1097280"/>
          </a:xfrm>
          <a:prstGeom prst="roundRect">
            <a:avLst>
              <a:gd name="adj" fmla="val 6667"/>
            </a:avLst>
          </a:prstGeom>
          <a:solidFill>
            <a:srgbClr val="FFFFFF"/>
          </a:solidFill>
          <a:ln w="12700">
            <a:solidFill>
              <a:srgbClr val="E2E8F0"/>
            </a:solidFill>
            <a:prstDash val="solid"/>
          </a:ln>
          <a:effectLst>
            <a:outerShdw blurRad="76200" dist="25400" dir="8100000" algn="bl" rotWithShape="0">
              <a:srgbClr val="94A3B8">
                <a:alpha val="18000"/>
              </a:srgbClr>
            </a:outerShdw>
          </a:effectLst>
        </p:spPr>
      </p:sp>
      <p:sp>
        <p:nvSpPr>
          <p:cNvPr id="9" name="Shape 7"/>
          <p:cNvSpPr/>
          <p:nvPr/>
        </p:nvSpPr>
        <p:spPr>
          <a:xfrm>
            <a:off x="914400" y="2432304"/>
            <a:ext cx="621792" cy="621792"/>
          </a:xfrm>
          <a:prstGeom prst="ellipse">
            <a:avLst/>
          </a:prstGeom>
          <a:solidFill>
            <a:srgbClr val="6366F1"/>
          </a:solidFill>
          <a:ln/>
        </p:spPr>
      </p:sp>
      <p:sp>
        <p:nvSpPr>
          <p:cNvPr id="10" name="Text 8"/>
          <p:cNvSpPr/>
          <p:nvPr/>
        </p:nvSpPr>
        <p:spPr>
          <a:xfrm>
            <a:off x="914400" y="2432304"/>
            <a:ext cx="621792" cy="621792"/>
          </a:xfrm>
          <a:prstGeom prst="rect">
            <a:avLst/>
          </a:prstGeom>
          <a:noFill/>
          <a:ln/>
        </p:spPr>
        <p:txBody>
          <a:bodyPr wrap="square" rtlCol="0" anchor="ctr"/>
          <a:lstStyle/>
          <a:p>
            <a:pPr marL="0" indent="0" algn="ctr">
              <a:buNone/>
            </a:pPr>
            <a:r>
              <a:rPr lang="en-US" sz="2400" b="1" dirty="0">
                <a:solidFill>
                  <a:srgbClr val="FFFFFF"/>
                </a:solidFill>
                <a:latin typeface="Georgia" pitchFamily="34" charset="0"/>
                <a:ea typeface="Georgia" pitchFamily="34" charset="-122"/>
                <a:cs typeface="Georgia" pitchFamily="34" charset="-120"/>
              </a:rPr>
              <a:t>1</a:t>
            </a:r>
            <a:endParaRPr lang="en-US" sz="2400" dirty="0"/>
          </a:p>
        </p:txBody>
      </p:sp>
      <p:sp>
        <p:nvSpPr>
          <p:cNvPr id="11" name="Text 9"/>
          <p:cNvSpPr/>
          <p:nvPr/>
        </p:nvSpPr>
        <p:spPr>
          <a:xfrm>
            <a:off x="1783080" y="2340864"/>
            <a:ext cx="7315200" cy="457200"/>
          </a:xfrm>
          <a:prstGeom prst="rect">
            <a:avLst/>
          </a:prstGeom>
          <a:noFill/>
          <a:ln/>
        </p:spPr>
        <p:txBody>
          <a:bodyPr wrap="square" rtlCol="0" anchor="ctr"/>
          <a:lstStyle/>
          <a:p>
            <a:pPr marL="0" indent="0">
              <a:buNone/>
            </a:pPr>
            <a:r>
              <a:rPr lang="en-US" sz="1900" b="1" dirty="0">
                <a:solidFill>
                  <a:srgbClr val="1E2761"/>
                </a:solidFill>
                <a:latin typeface="Calibri" pitchFamily="34" charset="0"/>
                <a:ea typeface="Calibri" pitchFamily="34" charset="-122"/>
                <a:cs typeface="Calibri" pitchFamily="34" charset="-120"/>
              </a:rPr>
              <a:t>Introduction</a:t>
            </a:r>
            <a:endParaRPr lang="en-US" sz="1900" dirty="0"/>
          </a:p>
        </p:txBody>
      </p:sp>
      <p:sp>
        <p:nvSpPr>
          <p:cNvPr id="12" name="Text 10"/>
          <p:cNvSpPr/>
          <p:nvPr/>
        </p:nvSpPr>
        <p:spPr>
          <a:xfrm>
            <a:off x="1783080" y="2743200"/>
            <a:ext cx="8229600" cy="457200"/>
          </a:xfrm>
          <a:prstGeom prst="rect">
            <a:avLst/>
          </a:prstGeom>
          <a:noFill/>
          <a:ln/>
        </p:spPr>
        <p:txBody>
          <a:bodyPr wrap="square" rtlCol="0" anchor="ctr"/>
          <a:lstStyle/>
          <a:p>
            <a:pPr marL="0" indent="0">
              <a:buNone/>
            </a:pPr>
            <a:r>
              <a:rPr lang="en-US" sz="1300" dirty="0">
                <a:solidFill>
                  <a:srgbClr val="64748B"/>
                </a:solidFill>
                <a:latin typeface="Calibri" pitchFamily="34" charset="0"/>
                <a:ea typeface="Calibri" pitchFamily="34" charset="-122"/>
                <a:cs typeface="Calibri" pitchFamily="34" charset="-120"/>
              </a:rPr>
              <a:t>Equipe, </a:t>
            </a:r>
            <a:r>
              <a:rPr lang="en-US" sz="1300" dirty="0" err="1">
                <a:solidFill>
                  <a:srgbClr val="64748B"/>
                </a:solidFill>
                <a:latin typeface="Calibri" pitchFamily="34" charset="0"/>
                <a:ea typeface="Calibri" pitchFamily="34" charset="-122"/>
                <a:cs typeface="Calibri" pitchFamily="34" charset="-120"/>
              </a:rPr>
              <a:t>objectif</a:t>
            </a:r>
            <a:r>
              <a:rPr lang="en-US" sz="1300" dirty="0">
                <a:solidFill>
                  <a:srgbClr val="64748B"/>
                </a:solidFill>
                <a:latin typeface="Calibri" pitchFamily="34" charset="0"/>
                <a:ea typeface="Calibri" pitchFamily="34" charset="-122"/>
                <a:cs typeface="Calibri" pitchFamily="34" charset="-120"/>
              </a:rPr>
              <a:t>, technologies, planning</a:t>
            </a:r>
            <a:endParaRPr lang="en-US" sz="1300" dirty="0"/>
          </a:p>
        </p:txBody>
      </p:sp>
      <p:sp>
        <p:nvSpPr>
          <p:cNvPr id="13" name="Text 11"/>
          <p:cNvSpPr/>
          <p:nvPr/>
        </p:nvSpPr>
        <p:spPr>
          <a:xfrm>
            <a:off x="9692640" y="2514600"/>
            <a:ext cx="1645920" cy="457200"/>
          </a:xfrm>
          <a:prstGeom prst="rect">
            <a:avLst/>
          </a:prstGeom>
          <a:noFill/>
          <a:ln/>
        </p:spPr>
        <p:txBody>
          <a:bodyPr wrap="square" rtlCol="0" anchor="ctr"/>
          <a:lstStyle/>
          <a:p>
            <a:pPr marL="0" indent="0" algn="r">
              <a:buNone/>
            </a:pPr>
            <a:r>
              <a:rPr lang="en-US" sz="1400" b="1" dirty="0">
                <a:solidFill>
                  <a:srgbClr val="6366F1"/>
                </a:solidFill>
                <a:latin typeface="Calibri" pitchFamily="34" charset="0"/>
                <a:ea typeface="Calibri" pitchFamily="34" charset="-122"/>
                <a:cs typeface="Calibri" pitchFamily="34" charset="-120"/>
              </a:rPr>
              <a:t>5 min</a:t>
            </a:r>
            <a:endParaRPr lang="en-US" sz="1400" dirty="0"/>
          </a:p>
        </p:txBody>
      </p:sp>
      <p:sp>
        <p:nvSpPr>
          <p:cNvPr id="14" name="Shape 12"/>
          <p:cNvSpPr/>
          <p:nvPr/>
        </p:nvSpPr>
        <p:spPr>
          <a:xfrm>
            <a:off x="640080" y="3520440"/>
            <a:ext cx="10881360" cy="1097280"/>
          </a:xfrm>
          <a:prstGeom prst="roundRect">
            <a:avLst>
              <a:gd name="adj" fmla="val 6667"/>
            </a:avLst>
          </a:prstGeom>
          <a:solidFill>
            <a:srgbClr val="FFFFFF"/>
          </a:solidFill>
          <a:ln w="12700">
            <a:solidFill>
              <a:srgbClr val="E2E8F0"/>
            </a:solidFill>
            <a:prstDash val="solid"/>
          </a:ln>
          <a:effectLst>
            <a:outerShdw blurRad="76200" dist="25400" dir="8100000" algn="bl" rotWithShape="0">
              <a:srgbClr val="94A3B8">
                <a:alpha val="18000"/>
              </a:srgbClr>
            </a:outerShdw>
          </a:effectLst>
        </p:spPr>
      </p:sp>
      <p:sp>
        <p:nvSpPr>
          <p:cNvPr id="15" name="Shape 13"/>
          <p:cNvSpPr/>
          <p:nvPr/>
        </p:nvSpPr>
        <p:spPr>
          <a:xfrm>
            <a:off x="914400" y="3758184"/>
            <a:ext cx="621792" cy="621792"/>
          </a:xfrm>
          <a:prstGeom prst="ellipse">
            <a:avLst/>
          </a:prstGeom>
          <a:solidFill>
            <a:srgbClr val="10B981"/>
          </a:solidFill>
          <a:ln/>
        </p:spPr>
      </p:sp>
      <p:sp>
        <p:nvSpPr>
          <p:cNvPr id="16" name="Text 14"/>
          <p:cNvSpPr/>
          <p:nvPr/>
        </p:nvSpPr>
        <p:spPr>
          <a:xfrm>
            <a:off x="914400" y="3758184"/>
            <a:ext cx="621792" cy="621792"/>
          </a:xfrm>
          <a:prstGeom prst="rect">
            <a:avLst/>
          </a:prstGeom>
          <a:noFill/>
          <a:ln/>
        </p:spPr>
        <p:txBody>
          <a:bodyPr wrap="square" rtlCol="0" anchor="ctr"/>
          <a:lstStyle/>
          <a:p>
            <a:pPr marL="0" indent="0" algn="ctr">
              <a:buNone/>
            </a:pPr>
            <a:r>
              <a:rPr lang="en-US" sz="2400" b="1" dirty="0">
                <a:solidFill>
                  <a:srgbClr val="FFFFFF"/>
                </a:solidFill>
                <a:latin typeface="Georgia" pitchFamily="34" charset="0"/>
                <a:ea typeface="Georgia" pitchFamily="34" charset="-122"/>
                <a:cs typeface="Georgia" pitchFamily="34" charset="-120"/>
              </a:rPr>
              <a:t>2</a:t>
            </a:r>
            <a:endParaRPr lang="en-US" sz="2400" dirty="0"/>
          </a:p>
        </p:txBody>
      </p:sp>
      <p:sp>
        <p:nvSpPr>
          <p:cNvPr id="17" name="Text 15"/>
          <p:cNvSpPr/>
          <p:nvPr/>
        </p:nvSpPr>
        <p:spPr>
          <a:xfrm>
            <a:off x="1783080" y="3666744"/>
            <a:ext cx="7315200" cy="457200"/>
          </a:xfrm>
          <a:prstGeom prst="rect">
            <a:avLst/>
          </a:prstGeom>
          <a:noFill/>
          <a:ln/>
        </p:spPr>
        <p:txBody>
          <a:bodyPr wrap="square" rtlCol="0" anchor="ctr"/>
          <a:lstStyle/>
          <a:p>
            <a:pPr marL="0" indent="0">
              <a:buNone/>
            </a:pPr>
            <a:r>
              <a:rPr lang="en-US" sz="1900" b="1" dirty="0">
                <a:solidFill>
                  <a:srgbClr val="1E2761"/>
                </a:solidFill>
                <a:latin typeface="Calibri" pitchFamily="34" charset="0"/>
                <a:ea typeface="Calibri" pitchFamily="34" charset="-122"/>
                <a:cs typeface="Calibri" pitchFamily="34" charset="-120"/>
              </a:rPr>
              <a:t>Demonstration</a:t>
            </a:r>
            <a:endParaRPr lang="en-US" sz="1900" dirty="0"/>
          </a:p>
        </p:txBody>
      </p:sp>
      <p:sp>
        <p:nvSpPr>
          <p:cNvPr id="18" name="Text 16"/>
          <p:cNvSpPr/>
          <p:nvPr/>
        </p:nvSpPr>
        <p:spPr>
          <a:xfrm>
            <a:off x="1783080" y="4069080"/>
            <a:ext cx="8229600" cy="457200"/>
          </a:xfrm>
          <a:prstGeom prst="rect">
            <a:avLst/>
          </a:prstGeom>
          <a:noFill/>
          <a:ln/>
        </p:spPr>
        <p:txBody>
          <a:bodyPr wrap="square" rtlCol="0" anchor="ctr"/>
          <a:lstStyle/>
          <a:p>
            <a:pPr marL="0" indent="0">
              <a:buNone/>
            </a:pPr>
            <a:r>
              <a:rPr lang="en-US" sz="1300" dirty="0">
                <a:solidFill>
                  <a:srgbClr val="64748B"/>
                </a:solidFill>
                <a:latin typeface="Calibri" pitchFamily="34" charset="0"/>
                <a:ea typeface="Calibri" pitchFamily="34" charset="-122"/>
                <a:cs typeface="Calibri" pitchFamily="34" charset="-120"/>
              </a:rPr>
              <a:t>Ingestion IA, </a:t>
            </a:r>
            <a:r>
              <a:rPr lang="en-US" sz="1300" dirty="0" err="1">
                <a:solidFill>
                  <a:srgbClr val="64748B"/>
                </a:solidFill>
                <a:latin typeface="Calibri" pitchFamily="34" charset="0"/>
                <a:ea typeface="Calibri" pitchFamily="34" charset="-122"/>
                <a:cs typeface="Calibri" pitchFamily="34" charset="-120"/>
              </a:rPr>
              <a:t>fonctionnalites</a:t>
            </a:r>
            <a:r>
              <a:rPr lang="en-US" sz="1300" dirty="0">
                <a:solidFill>
                  <a:srgbClr val="64748B"/>
                </a:solidFill>
                <a:latin typeface="Calibri" pitchFamily="34" charset="0"/>
                <a:ea typeface="Calibri" pitchFamily="34" charset="-122"/>
                <a:cs typeface="Calibri" pitchFamily="34" charset="-120"/>
              </a:rPr>
              <a:t>, utilisateurs</a:t>
            </a:r>
            <a:endParaRPr lang="en-US" sz="1300" dirty="0"/>
          </a:p>
        </p:txBody>
      </p:sp>
      <p:sp>
        <p:nvSpPr>
          <p:cNvPr id="19" name="Text 17"/>
          <p:cNvSpPr/>
          <p:nvPr/>
        </p:nvSpPr>
        <p:spPr>
          <a:xfrm>
            <a:off x="9692640" y="3840480"/>
            <a:ext cx="1645920" cy="457200"/>
          </a:xfrm>
          <a:prstGeom prst="rect">
            <a:avLst/>
          </a:prstGeom>
          <a:noFill/>
          <a:ln/>
        </p:spPr>
        <p:txBody>
          <a:bodyPr wrap="square" rtlCol="0" anchor="ctr"/>
          <a:lstStyle/>
          <a:p>
            <a:pPr marL="0" indent="0" algn="r">
              <a:buNone/>
            </a:pPr>
            <a:r>
              <a:rPr lang="en-US" sz="1400" b="1" dirty="0">
                <a:solidFill>
                  <a:srgbClr val="10B981"/>
                </a:solidFill>
                <a:latin typeface="Calibri" pitchFamily="34" charset="0"/>
                <a:ea typeface="Calibri" pitchFamily="34" charset="-122"/>
                <a:cs typeface="Calibri" pitchFamily="34" charset="-120"/>
              </a:rPr>
              <a:t>2-3 min</a:t>
            </a:r>
            <a:endParaRPr lang="en-US" sz="1400" dirty="0"/>
          </a:p>
        </p:txBody>
      </p:sp>
      <p:sp>
        <p:nvSpPr>
          <p:cNvPr id="20" name="Shape 18"/>
          <p:cNvSpPr/>
          <p:nvPr/>
        </p:nvSpPr>
        <p:spPr>
          <a:xfrm>
            <a:off x="640080" y="4846320"/>
            <a:ext cx="10881360" cy="1097280"/>
          </a:xfrm>
          <a:prstGeom prst="roundRect">
            <a:avLst>
              <a:gd name="adj" fmla="val 6667"/>
            </a:avLst>
          </a:prstGeom>
          <a:solidFill>
            <a:srgbClr val="FFFFFF"/>
          </a:solidFill>
          <a:ln w="12700">
            <a:solidFill>
              <a:srgbClr val="E2E8F0"/>
            </a:solidFill>
            <a:prstDash val="solid"/>
          </a:ln>
          <a:effectLst>
            <a:outerShdw blurRad="76200" dist="25400" dir="8100000" algn="bl" rotWithShape="0">
              <a:srgbClr val="94A3B8">
                <a:alpha val="18000"/>
              </a:srgbClr>
            </a:outerShdw>
          </a:effectLst>
        </p:spPr>
      </p:sp>
      <p:sp>
        <p:nvSpPr>
          <p:cNvPr id="21" name="Shape 19"/>
          <p:cNvSpPr/>
          <p:nvPr/>
        </p:nvSpPr>
        <p:spPr>
          <a:xfrm>
            <a:off x="914400" y="5084064"/>
            <a:ext cx="621792" cy="621792"/>
          </a:xfrm>
          <a:prstGeom prst="ellipse">
            <a:avLst/>
          </a:prstGeom>
          <a:solidFill>
            <a:srgbClr val="3B82F6"/>
          </a:solidFill>
          <a:ln/>
        </p:spPr>
      </p:sp>
      <p:sp>
        <p:nvSpPr>
          <p:cNvPr id="22" name="Text 20"/>
          <p:cNvSpPr/>
          <p:nvPr/>
        </p:nvSpPr>
        <p:spPr>
          <a:xfrm>
            <a:off x="914400" y="5084064"/>
            <a:ext cx="621792" cy="621792"/>
          </a:xfrm>
          <a:prstGeom prst="rect">
            <a:avLst/>
          </a:prstGeom>
          <a:noFill/>
          <a:ln/>
        </p:spPr>
        <p:txBody>
          <a:bodyPr wrap="square" rtlCol="0" anchor="ctr"/>
          <a:lstStyle/>
          <a:p>
            <a:pPr marL="0" indent="0" algn="ctr">
              <a:buNone/>
            </a:pPr>
            <a:r>
              <a:rPr lang="en-US" sz="2400" b="1" dirty="0">
                <a:solidFill>
                  <a:srgbClr val="FFFFFF"/>
                </a:solidFill>
                <a:latin typeface="Georgia" pitchFamily="34" charset="0"/>
                <a:ea typeface="Georgia" pitchFamily="34" charset="-122"/>
                <a:cs typeface="Georgia" pitchFamily="34" charset="-120"/>
              </a:rPr>
              <a:t>3</a:t>
            </a:r>
            <a:endParaRPr lang="en-US" sz="2400" dirty="0"/>
          </a:p>
        </p:txBody>
      </p:sp>
      <p:sp>
        <p:nvSpPr>
          <p:cNvPr id="23" name="Text 21"/>
          <p:cNvSpPr/>
          <p:nvPr/>
        </p:nvSpPr>
        <p:spPr>
          <a:xfrm>
            <a:off x="1783080" y="4992624"/>
            <a:ext cx="7315200" cy="457200"/>
          </a:xfrm>
          <a:prstGeom prst="rect">
            <a:avLst/>
          </a:prstGeom>
          <a:noFill/>
          <a:ln/>
        </p:spPr>
        <p:txBody>
          <a:bodyPr wrap="square" rtlCol="0" anchor="ctr"/>
          <a:lstStyle/>
          <a:p>
            <a:pPr marL="0" indent="0">
              <a:buNone/>
            </a:pPr>
            <a:r>
              <a:rPr lang="en-US" sz="1900" b="1" dirty="0">
                <a:solidFill>
                  <a:srgbClr val="1E2761"/>
                </a:solidFill>
                <a:latin typeface="Calibri" pitchFamily="34" charset="0"/>
                <a:ea typeface="Calibri" pitchFamily="34" charset="-122"/>
                <a:cs typeface="Calibri" pitchFamily="34" charset="-120"/>
              </a:rPr>
              <a:t>Partie technique</a:t>
            </a:r>
            <a:endParaRPr lang="en-US" sz="1900" dirty="0"/>
          </a:p>
        </p:txBody>
      </p:sp>
      <p:sp>
        <p:nvSpPr>
          <p:cNvPr id="24" name="Text 22"/>
          <p:cNvSpPr/>
          <p:nvPr/>
        </p:nvSpPr>
        <p:spPr>
          <a:xfrm>
            <a:off x="1783080" y="5394960"/>
            <a:ext cx="8229600" cy="457200"/>
          </a:xfrm>
          <a:prstGeom prst="rect">
            <a:avLst/>
          </a:prstGeom>
          <a:noFill/>
          <a:ln/>
        </p:spPr>
        <p:txBody>
          <a:bodyPr wrap="square" rtlCol="0" anchor="ctr"/>
          <a:lstStyle/>
          <a:p>
            <a:pPr marL="0" indent="0">
              <a:buNone/>
            </a:pPr>
            <a:r>
              <a:rPr lang="en-US" sz="1300" dirty="0">
                <a:solidFill>
                  <a:srgbClr val="64748B"/>
                </a:solidFill>
                <a:latin typeface="Calibri" pitchFamily="34" charset="0"/>
                <a:ea typeface="Calibri" pitchFamily="34" charset="-122"/>
                <a:cs typeface="Calibri" pitchFamily="34" charset="-120"/>
              </a:rPr>
              <a:t>Architecture, extraction IA, backend, tests</a:t>
            </a:r>
            <a:endParaRPr lang="en-US" sz="1300" dirty="0"/>
          </a:p>
        </p:txBody>
      </p:sp>
      <p:sp>
        <p:nvSpPr>
          <p:cNvPr id="25" name="Text 23"/>
          <p:cNvSpPr/>
          <p:nvPr/>
        </p:nvSpPr>
        <p:spPr>
          <a:xfrm>
            <a:off x="9692640" y="5166360"/>
            <a:ext cx="1645920" cy="457200"/>
          </a:xfrm>
          <a:prstGeom prst="rect">
            <a:avLst/>
          </a:prstGeom>
          <a:noFill/>
          <a:ln/>
        </p:spPr>
        <p:txBody>
          <a:bodyPr wrap="square" rtlCol="0" anchor="ctr"/>
          <a:lstStyle/>
          <a:p>
            <a:pPr marL="0" indent="0" algn="r">
              <a:buNone/>
            </a:pPr>
            <a:r>
              <a:rPr lang="en-US" sz="1400" b="1" dirty="0">
                <a:solidFill>
                  <a:srgbClr val="3B82F6"/>
                </a:solidFill>
                <a:latin typeface="Calibri" pitchFamily="34" charset="0"/>
                <a:ea typeface="Calibri" pitchFamily="34" charset="-122"/>
                <a:cs typeface="Calibri" pitchFamily="34" charset="-120"/>
              </a:rPr>
              <a:t>10-15 min</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0" y="0"/>
            <a:ext cx="201168" cy="6858000"/>
          </a:xfrm>
          <a:prstGeom prst="rect">
            <a:avLst/>
          </a:prstGeom>
          <a:solidFill>
            <a:srgbClr val="6366F1"/>
          </a:solidFill>
          <a:ln/>
        </p:spPr>
      </p:sp>
      <p:sp>
        <p:nvSpPr>
          <p:cNvPr id="3" name="Shape 1"/>
          <p:cNvSpPr/>
          <p:nvPr/>
        </p:nvSpPr>
        <p:spPr>
          <a:xfrm>
            <a:off x="640080" y="502920"/>
            <a:ext cx="2377440" cy="384048"/>
          </a:xfrm>
          <a:prstGeom prst="roundRect">
            <a:avLst>
              <a:gd name="adj" fmla="val 50000"/>
            </a:avLst>
          </a:prstGeom>
          <a:solidFill>
            <a:srgbClr val="6366F1"/>
          </a:solidFill>
          <a:ln/>
        </p:spPr>
      </p:sp>
      <p:sp>
        <p:nvSpPr>
          <p:cNvPr id="4" name="Text 2"/>
          <p:cNvSpPr/>
          <p:nvPr/>
        </p:nvSpPr>
        <p:spPr>
          <a:xfrm>
            <a:off x="640080" y="502920"/>
            <a:ext cx="2377440" cy="384048"/>
          </a:xfrm>
          <a:prstGeom prst="rect">
            <a:avLst/>
          </a:prstGeom>
          <a:noFill/>
          <a:ln/>
        </p:spPr>
        <p:txBody>
          <a:bodyPr wrap="square" rtlCol="0" anchor="ctr"/>
          <a:lstStyle/>
          <a:p>
            <a:pPr marL="0" indent="0" algn="ctr">
              <a:buNone/>
            </a:pPr>
            <a:r>
              <a:rPr lang="en-US" sz="1100" b="1" kern="0" spc="200" dirty="0">
                <a:solidFill>
                  <a:srgbClr val="FFFFFF"/>
                </a:solidFill>
                <a:latin typeface="Calibri" pitchFamily="34" charset="0"/>
                <a:ea typeface="Calibri" pitchFamily="34" charset="-122"/>
                <a:cs typeface="Calibri" pitchFamily="34" charset="-120"/>
              </a:rPr>
              <a:t>INTRODUCTION</a:t>
            </a:r>
            <a:endParaRPr lang="en-US" sz="1100" dirty="0"/>
          </a:p>
        </p:txBody>
      </p:sp>
      <p:sp>
        <p:nvSpPr>
          <p:cNvPr id="5" name="Text 3"/>
          <p:cNvSpPr/>
          <p:nvPr/>
        </p:nvSpPr>
        <p:spPr>
          <a:xfrm>
            <a:off x="640080" y="960120"/>
            <a:ext cx="10881360" cy="731520"/>
          </a:xfrm>
          <a:prstGeom prst="rect">
            <a:avLst/>
          </a:prstGeom>
          <a:noFill/>
          <a:ln/>
        </p:spPr>
        <p:txBody>
          <a:bodyPr wrap="square" rtlCol="0" anchor="ctr"/>
          <a:lstStyle/>
          <a:p>
            <a:pPr marL="0" indent="0">
              <a:buNone/>
            </a:pPr>
            <a:r>
              <a:rPr lang="en-US" sz="2700" b="1" dirty="0">
                <a:solidFill>
                  <a:srgbClr val="1E2761"/>
                </a:solidFill>
                <a:latin typeface="Georgia" pitchFamily="34" charset="0"/>
                <a:ea typeface="Georgia" pitchFamily="34" charset="-122"/>
                <a:cs typeface="Georgia" pitchFamily="34" charset="-120"/>
              </a:rPr>
              <a:t>Equipe &amp; objectif</a:t>
            </a:r>
            <a:endParaRPr lang="en-US" sz="2700" dirty="0"/>
          </a:p>
        </p:txBody>
      </p:sp>
      <p:sp>
        <p:nvSpPr>
          <p:cNvPr id="6" name="Shape 4"/>
          <p:cNvSpPr/>
          <p:nvPr/>
        </p:nvSpPr>
        <p:spPr>
          <a:xfrm>
            <a:off x="640080" y="1664208"/>
            <a:ext cx="2011680" cy="0"/>
          </a:xfrm>
          <a:prstGeom prst="line">
            <a:avLst/>
          </a:prstGeom>
          <a:noFill/>
          <a:ln w="31750">
            <a:solidFill>
              <a:srgbClr val="6366F1"/>
            </a:solidFill>
            <a:prstDash val="solid"/>
          </a:ln>
        </p:spPr>
      </p:sp>
      <p:sp>
        <p:nvSpPr>
          <p:cNvPr id="7" name="Text 5"/>
          <p:cNvSpPr/>
          <p:nvPr/>
        </p:nvSpPr>
        <p:spPr>
          <a:xfrm>
            <a:off x="11338560" y="6400800"/>
            <a:ext cx="548640" cy="274320"/>
          </a:xfrm>
          <a:prstGeom prst="rect">
            <a:avLst/>
          </a:prstGeom>
          <a:noFill/>
          <a:ln/>
        </p:spPr>
        <p:txBody>
          <a:bodyPr wrap="square" rtlCol="0" anchor="ctr"/>
          <a:lstStyle/>
          <a:p>
            <a:pPr marL="0" indent="0" algn="r">
              <a:buNone/>
            </a:pPr>
            <a:r>
              <a:rPr lang="en-US" sz="1000" dirty="0">
                <a:solidFill>
                  <a:srgbClr val="64748B"/>
                </a:solidFill>
                <a:latin typeface="Calibri" pitchFamily="34" charset="0"/>
                <a:ea typeface="Calibri" pitchFamily="34" charset="-122"/>
                <a:cs typeface="Calibri" pitchFamily="34" charset="-120"/>
              </a:rPr>
              <a:t>02</a:t>
            </a:r>
            <a:endParaRPr lang="en-US" sz="1000" dirty="0"/>
          </a:p>
        </p:txBody>
      </p:sp>
      <p:sp>
        <p:nvSpPr>
          <p:cNvPr id="8" name="Shape 6"/>
          <p:cNvSpPr/>
          <p:nvPr/>
        </p:nvSpPr>
        <p:spPr>
          <a:xfrm>
            <a:off x="640080" y="1920240"/>
            <a:ext cx="5120640" cy="4114800"/>
          </a:xfrm>
          <a:prstGeom prst="roundRect">
            <a:avLst>
              <a:gd name="adj" fmla="val 1778"/>
            </a:avLst>
          </a:prstGeom>
          <a:solidFill>
            <a:srgbClr val="1E2761"/>
          </a:solidFill>
          <a:ln w="12700">
            <a:solidFill>
              <a:srgbClr val="1E2761"/>
            </a:solidFill>
            <a:prstDash val="solid"/>
          </a:ln>
          <a:effectLst>
            <a:outerShdw blurRad="76200" dist="25400" dir="8100000" algn="bl" rotWithShape="0">
              <a:srgbClr val="94A3B8">
                <a:alpha val="18000"/>
              </a:srgbClr>
            </a:outerShdw>
          </a:effectLst>
        </p:spPr>
      </p:sp>
      <p:sp>
        <p:nvSpPr>
          <p:cNvPr id="9" name="Text 7"/>
          <p:cNvSpPr/>
          <p:nvPr/>
        </p:nvSpPr>
        <p:spPr>
          <a:xfrm>
            <a:off x="914400" y="2148840"/>
            <a:ext cx="4572000" cy="457200"/>
          </a:xfrm>
          <a:prstGeom prst="rect">
            <a:avLst/>
          </a:prstGeom>
          <a:noFill/>
          <a:ln/>
        </p:spPr>
        <p:txBody>
          <a:bodyPr wrap="square" rtlCol="0" anchor="ctr"/>
          <a:lstStyle/>
          <a:p>
            <a:pPr marL="0" indent="0">
              <a:buNone/>
            </a:pPr>
            <a:r>
              <a:rPr lang="en-US" sz="1800" b="1" dirty="0">
                <a:solidFill>
                  <a:srgbClr val="CADCFC"/>
                </a:solidFill>
                <a:latin typeface="Calibri" pitchFamily="34" charset="0"/>
                <a:ea typeface="Calibri" pitchFamily="34" charset="-122"/>
                <a:cs typeface="Calibri" pitchFamily="34" charset="-120"/>
              </a:rPr>
              <a:t>L'equipe</a:t>
            </a:r>
            <a:endParaRPr lang="en-US" sz="1800" dirty="0"/>
          </a:p>
        </p:txBody>
      </p:sp>
      <p:sp>
        <p:nvSpPr>
          <p:cNvPr id="10" name="Text 8"/>
          <p:cNvSpPr/>
          <p:nvPr/>
        </p:nvSpPr>
        <p:spPr>
          <a:xfrm>
            <a:off x="914400" y="2743200"/>
            <a:ext cx="4572000" cy="2743200"/>
          </a:xfrm>
          <a:prstGeom prst="rect">
            <a:avLst/>
          </a:prstGeom>
          <a:noFill/>
          <a:ln/>
        </p:spPr>
        <p:txBody>
          <a:bodyPr wrap="square" rtlCol="0" anchor="ctr"/>
          <a:lstStyle/>
          <a:p>
            <a:pPr marL="0" indent="0">
              <a:lnSpc>
                <a:spcPct val="120000"/>
              </a:lnSpc>
              <a:buNone/>
            </a:pPr>
            <a:r>
              <a:rPr lang="en-US" sz="1600" b="1" dirty="0">
                <a:solidFill>
                  <a:srgbClr val="FFFFFF"/>
                </a:solidFill>
                <a:latin typeface="Calibri" pitchFamily="34" charset="0"/>
                <a:ea typeface="Calibri" pitchFamily="34" charset="-122"/>
                <a:cs typeface="Calibri" pitchFamily="34" charset="-120"/>
              </a:rPr>
              <a:t>Philippe Sam EFTEKHARI</a:t>
            </a:r>
            <a:endParaRPr lang="en-US" sz="1600" dirty="0"/>
          </a:p>
          <a:p>
            <a:pPr marL="0" indent="0">
              <a:lnSpc>
                <a:spcPct val="120000"/>
              </a:lnSpc>
              <a:buNone/>
            </a:pPr>
            <a:r>
              <a:rPr lang="en-US" sz="1300" dirty="0">
                <a:solidFill>
                  <a:srgbClr val="CADCFC"/>
                </a:solidFill>
                <a:latin typeface="Calibri" pitchFamily="34" charset="0"/>
                <a:ea typeface="Calibri" pitchFamily="34" charset="-122"/>
                <a:cs typeface="Calibri" pitchFamily="34" charset="-120"/>
              </a:rPr>
              <a:t>Backend, </a:t>
            </a:r>
            <a:r>
              <a:rPr lang="en-US" sz="1300" dirty="0" err="1">
                <a:solidFill>
                  <a:srgbClr val="CADCFC"/>
                </a:solidFill>
                <a:latin typeface="Calibri" pitchFamily="34" charset="0"/>
                <a:ea typeface="Calibri" pitchFamily="34" charset="-122"/>
                <a:cs typeface="Calibri" pitchFamily="34" charset="-120"/>
              </a:rPr>
              <a:t>modèle</a:t>
            </a:r>
            <a:r>
              <a:rPr lang="en-US" sz="1300" dirty="0">
                <a:solidFill>
                  <a:srgbClr val="CADCFC"/>
                </a:solidFill>
                <a:latin typeface="Calibri" pitchFamily="34" charset="0"/>
                <a:ea typeface="Calibri" pitchFamily="34" charset="-122"/>
                <a:cs typeface="Calibri" pitchFamily="34" charset="-120"/>
              </a:rPr>
              <a:t> de données, IA de vision</a:t>
            </a:r>
            <a:endParaRPr lang="en-US" sz="1600" dirty="0"/>
          </a:p>
          <a:p>
            <a:pPr marL="0" indent="0">
              <a:lnSpc>
                <a:spcPct val="120000"/>
              </a:lnSpc>
              <a:buNone/>
            </a:pPr>
            <a:r>
              <a:rPr lang="en-US" sz="800" dirty="0">
                <a:solidFill>
                  <a:srgbClr val="000000"/>
                </a:solidFill>
                <a:latin typeface="Calibri" pitchFamily="34" charset="0"/>
                <a:ea typeface="Calibri" pitchFamily="34" charset="-122"/>
                <a:cs typeface="Calibri" pitchFamily="34" charset="-120"/>
              </a:rPr>
              <a:t> </a:t>
            </a:r>
            <a:endParaRPr lang="en-US" sz="1600" dirty="0"/>
          </a:p>
          <a:p>
            <a:pPr marL="0" indent="0">
              <a:lnSpc>
                <a:spcPct val="120000"/>
              </a:lnSpc>
              <a:buNone/>
            </a:pPr>
            <a:r>
              <a:rPr lang="en-US" sz="1600" b="1" dirty="0">
                <a:solidFill>
                  <a:srgbClr val="FFFFFF"/>
                </a:solidFill>
                <a:latin typeface="Calibri" pitchFamily="34" charset="0"/>
                <a:ea typeface="Calibri" pitchFamily="34" charset="-122"/>
                <a:cs typeface="Calibri" pitchFamily="34" charset="-120"/>
              </a:rPr>
              <a:t>Anass IMLI</a:t>
            </a:r>
            <a:endParaRPr lang="en-US" sz="1600" dirty="0"/>
          </a:p>
          <a:p>
            <a:pPr marL="0" indent="0">
              <a:lnSpc>
                <a:spcPct val="120000"/>
              </a:lnSpc>
              <a:buNone/>
            </a:pPr>
            <a:r>
              <a:rPr lang="en-US" sz="1300" dirty="0">
                <a:solidFill>
                  <a:srgbClr val="CADCFC"/>
                </a:solidFill>
                <a:latin typeface="Calibri" pitchFamily="34" charset="0"/>
                <a:ea typeface="Calibri" pitchFamily="34" charset="-122"/>
                <a:cs typeface="Calibri" pitchFamily="34" charset="-120"/>
              </a:rPr>
              <a:t>Frontend, design, diffusion</a:t>
            </a:r>
            <a:endParaRPr lang="en-US" sz="1600" dirty="0"/>
          </a:p>
        </p:txBody>
      </p:sp>
      <p:sp>
        <p:nvSpPr>
          <p:cNvPr id="11" name="Shape 9"/>
          <p:cNvSpPr/>
          <p:nvPr/>
        </p:nvSpPr>
        <p:spPr>
          <a:xfrm>
            <a:off x="6035040" y="1920240"/>
            <a:ext cx="5394960" cy="4114800"/>
          </a:xfrm>
          <a:prstGeom prst="roundRect">
            <a:avLst>
              <a:gd name="adj" fmla="val 1778"/>
            </a:avLst>
          </a:prstGeom>
          <a:solidFill>
            <a:srgbClr val="FFFFFF"/>
          </a:solidFill>
          <a:ln w="12700">
            <a:solidFill>
              <a:srgbClr val="E2E8F0"/>
            </a:solidFill>
            <a:prstDash val="solid"/>
          </a:ln>
          <a:effectLst>
            <a:outerShdw blurRad="76200" dist="25400" dir="8100000" algn="bl" rotWithShape="0">
              <a:srgbClr val="94A3B8">
                <a:alpha val="18000"/>
              </a:srgbClr>
            </a:outerShdw>
          </a:effectLst>
        </p:spPr>
      </p:sp>
      <p:sp>
        <p:nvSpPr>
          <p:cNvPr id="12" name="Text 10"/>
          <p:cNvSpPr/>
          <p:nvPr/>
        </p:nvSpPr>
        <p:spPr>
          <a:xfrm>
            <a:off x="6309360" y="2148840"/>
            <a:ext cx="4572000" cy="457200"/>
          </a:xfrm>
          <a:prstGeom prst="rect">
            <a:avLst/>
          </a:prstGeom>
          <a:noFill/>
          <a:ln/>
        </p:spPr>
        <p:txBody>
          <a:bodyPr wrap="square" rtlCol="0" anchor="ctr"/>
          <a:lstStyle/>
          <a:p>
            <a:pPr marL="0" indent="0">
              <a:buNone/>
            </a:pPr>
            <a:r>
              <a:rPr lang="en-US" sz="1800" b="1" dirty="0">
                <a:solidFill>
                  <a:srgbClr val="6366F1"/>
                </a:solidFill>
                <a:latin typeface="Calibri" pitchFamily="34" charset="0"/>
                <a:ea typeface="Calibri" pitchFamily="34" charset="-122"/>
                <a:cs typeface="Calibri" pitchFamily="34" charset="-120"/>
              </a:rPr>
              <a:t>Objectif</a:t>
            </a:r>
            <a:endParaRPr lang="en-US" sz="1800" dirty="0"/>
          </a:p>
        </p:txBody>
      </p:sp>
      <p:sp>
        <p:nvSpPr>
          <p:cNvPr id="13" name="Text 11"/>
          <p:cNvSpPr/>
          <p:nvPr/>
        </p:nvSpPr>
        <p:spPr>
          <a:xfrm>
            <a:off x="6309360" y="2697480"/>
            <a:ext cx="4846320" cy="1280160"/>
          </a:xfrm>
          <a:prstGeom prst="rect">
            <a:avLst/>
          </a:prstGeom>
          <a:noFill/>
          <a:ln/>
        </p:spPr>
        <p:txBody>
          <a:bodyPr wrap="square" rtlCol="0" anchor="ctr"/>
          <a:lstStyle/>
          <a:p>
            <a:pPr marL="0" indent="0">
              <a:lnSpc>
                <a:spcPct val="125000"/>
              </a:lnSpc>
              <a:buNone/>
            </a:pPr>
            <a:r>
              <a:rPr lang="en-US" sz="1450" dirty="0">
                <a:solidFill>
                  <a:srgbClr val="1E293B"/>
                </a:solidFill>
                <a:latin typeface="Calibri" pitchFamily="34" charset="0"/>
                <a:ea typeface="Calibri" pitchFamily="34" charset="-122"/>
                <a:cs typeface="Calibri" pitchFamily="34" charset="-120"/>
              </a:rPr>
              <a:t>Une plateforme PIM avec une porte d'entree intelligente : l'ingestion d'etiquette par IA de vision, puis un referentiel unique enrichi et diffuse vers tous les canaux.</a:t>
            </a:r>
            <a:endParaRPr lang="en-US" sz="1450" dirty="0"/>
          </a:p>
        </p:txBody>
      </p:sp>
      <p:sp>
        <p:nvSpPr>
          <p:cNvPr id="14" name="Text 12"/>
          <p:cNvSpPr/>
          <p:nvPr/>
        </p:nvSpPr>
        <p:spPr>
          <a:xfrm>
            <a:off x="6309360" y="4069080"/>
            <a:ext cx="4846320" cy="1828800"/>
          </a:xfrm>
          <a:prstGeom prst="rect">
            <a:avLst/>
          </a:prstGeom>
          <a:noFill/>
          <a:ln/>
        </p:spPr>
        <p:txBody>
          <a:bodyPr wrap="square" rtlCol="0" anchor="ctr"/>
          <a:lstStyle/>
          <a:p>
            <a:pPr marL="342900" indent="-342900">
              <a:lnSpc>
                <a:spcPct val="125000"/>
              </a:lnSpc>
              <a:buSzPct val="100000"/>
              <a:buChar char="•"/>
            </a:pPr>
            <a:r>
              <a:rPr lang="en-US" sz="1450" dirty="0">
                <a:solidFill>
                  <a:srgbClr val="1E2761"/>
                </a:solidFill>
                <a:latin typeface="Calibri" pitchFamily="34" charset="0"/>
                <a:ea typeface="Calibri" pitchFamily="34" charset="-122"/>
                <a:cs typeface="Calibri" pitchFamily="34" charset="-120"/>
              </a:rPr>
              <a:t>Ingestion par IA de vision</a:t>
            </a:r>
            <a:endParaRPr lang="en-US" sz="1450" dirty="0"/>
          </a:p>
          <a:p>
            <a:pPr marL="342900" indent="-342900">
              <a:lnSpc>
                <a:spcPct val="125000"/>
              </a:lnSpc>
              <a:buSzPct val="100000"/>
              <a:buChar char="•"/>
            </a:pPr>
            <a:r>
              <a:rPr lang="en-US" sz="1450" dirty="0">
                <a:solidFill>
                  <a:srgbClr val="1E2761"/>
                </a:solidFill>
                <a:latin typeface="Calibri" pitchFamily="34" charset="0"/>
                <a:ea typeface="Calibri" pitchFamily="34" charset="-122"/>
                <a:cs typeface="Calibri" pitchFamily="34" charset="-120"/>
              </a:rPr>
              <a:t>Referentiel unique + multilingue</a:t>
            </a:r>
            <a:endParaRPr lang="en-US" sz="1450" dirty="0"/>
          </a:p>
          <a:p>
            <a:pPr marL="342900" indent="-342900">
              <a:lnSpc>
                <a:spcPct val="125000"/>
              </a:lnSpc>
              <a:buSzPct val="100000"/>
              <a:buChar char="•"/>
            </a:pPr>
            <a:r>
              <a:rPr lang="en-US" sz="1450" dirty="0">
                <a:solidFill>
                  <a:srgbClr val="1E2761"/>
                </a:solidFill>
                <a:latin typeface="Calibri" pitchFamily="34" charset="0"/>
                <a:ea typeface="Calibri" pitchFamily="34" charset="-122"/>
                <a:cs typeface="Calibri" pitchFamily="34" charset="-120"/>
              </a:rPr>
              <a:t>Gouvernance par workflow &amp; roles</a:t>
            </a:r>
            <a:endParaRPr lang="en-US" sz="1450" dirty="0"/>
          </a:p>
          <a:p>
            <a:pPr marL="342900" indent="-342900">
              <a:lnSpc>
                <a:spcPct val="125000"/>
              </a:lnSpc>
              <a:buSzPct val="100000"/>
              <a:buChar char="•"/>
            </a:pPr>
            <a:r>
              <a:rPr lang="en-US" sz="1450" dirty="0">
                <a:solidFill>
                  <a:srgbClr val="1E2761"/>
                </a:solidFill>
                <a:latin typeface="Calibri" pitchFamily="34" charset="0"/>
                <a:ea typeface="Calibri" pitchFamily="34" charset="-122"/>
                <a:cs typeface="Calibri" pitchFamily="34" charset="-120"/>
              </a:rPr>
              <a:t>Diffusion omnicanale</a:t>
            </a:r>
            <a:endParaRPr lang="en-US" sz="14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0" y="0"/>
            <a:ext cx="201168" cy="6858000"/>
          </a:xfrm>
          <a:prstGeom prst="rect">
            <a:avLst/>
          </a:prstGeom>
          <a:solidFill>
            <a:srgbClr val="6366F1"/>
          </a:solidFill>
          <a:ln/>
        </p:spPr>
      </p:sp>
      <p:sp>
        <p:nvSpPr>
          <p:cNvPr id="3" name="Shape 1"/>
          <p:cNvSpPr/>
          <p:nvPr/>
        </p:nvSpPr>
        <p:spPr>
          <a:xfrm>
            <a:off x="640080" y="502920"/>
            <a:ext cx="2377440" cy="384048"/>
          </a:xfrm>
          <a:prstGeom prst="roundRect">
            <a:avLst>
              <a:gd name="adj" fmla="val 50000"/>
            </a:avLst>
          </a:prstGeom>
          <a:solidFill>
            <a:srgbClr val="6366F1"/>
          </a:solidFill>
          <a:ln/>
        </p:spPr>
      </p:sp>
      <p:sp>
        <p:nvSpPr>
          <p:cNvPr id="4" name="Text 2"/>
          <p:cNvSpPr/>
          <p:nvPr/>
        </p:nvSpPr>
        <p:spPr>
          <a:xfrm>
            <a:off x="640080" y="502920"/>
            <a:ext cx="2377440" cy="384048"/>
          </a:xfrm>
          <a:prstGeom prst="rect">
            <a:avLst/>
          </a:prstGeom>
          <a:noFill/>
          <a:ln/>
        </p:spPr>
        <p:txBody>
          <a:bodyPr wrap="square" rtlCol="0" anchor="ctr"/>
          <a:lstStyle/>
          <a:p>
            <a:pPr marL="0" indent="0" algn="ctr">
              <a:buNone/>
            </a:pPr>
            <a:r>
              <a:rPr lang="en-US" sz="1100" b="1" kern="0" spc="200" dirty="0">
                <a:solidFill>
                  <a:srgbClr val="FFFFFF"/>
                </a:solidFill>
                <a:latin typeface="Calibri" pitchFamily="34" charset="0"/>
                <a:ea typeface="Calibri" pitchFamily="34" charset="-122"/>
                <a:cs typeface="Calibri" pitchFamily="34" charset="-120"/>
              </a:rPr>
              <a:t>INTRODUCTION</a:t>
            </a:r>
            <a:endParaRPr lang="en-US" sz="1100" dirty="0"/>
          </a:p>
        </p:txBody>
      </p:sp>
      <p:sp>
        <p:nvSpPr>
          <p:cNvPr id="5" name="Text 3"/>
          <p:cNvSpPr/>
          <p:nvPr/>
        </p:nvSpPr>
        <p:spPr>
          <a:xfrm>
            <a:off x="640080" y="960120"/>
            <a:ext cx="10881360" cy="731520"/>
          </a:xfrm>
          <a:prstGeom prst="rect">
            <a:avLst/>
          </a:prstGeom>
          <a:noFill/>
          <a:ln/>
        </p:spPr>
        <p:txBody>
          <a:bodyPr wrap="square" rtlCol="0" anchor="ctr"/>
          <a:lstStyle/>
          <a:p>
            <a:pPr marL="0" indent="0">
              <a:buNone/>
            </a:pPr>
            <a:r>
              <a:rPr lang="en-US" sz="2700" b="1" dirty="0">
                <a:solidFill>
                  <a:srgbClr val="1E2761"/>
                </a:solidFill>
                <a:latin typeface="Georgia" pitchFamily="34" charset="0"/>
                <a:ea typeface="Georgia" pitchFamily="34" charset="-122"/>
                <a:cs typeface="Georgia" pitchFamily="34" charset="-120"/>
              </a:rPr>
              <a:t>Choix technologiques justifies</a:t>
            </a:r>
            <a:endParaRPr lang="en-US" sz="2700" dirty="0"/>
          </a:p>
        </p:txBody>
      </p:sp>
      <p:sp>
        <p:nvSpPr>
          <p:cNvPr id="6" name="Shape 4"/>
          <p:cNvSpPr/>
          <p:nvPr/>
        </p:nvSpPr>
        <p:spPr>
          <a:xfrm>
            <a:off x="640080" y="1664208"/>
            <a:ext cx="2011680" cy="0"/>
          </a:xfrm>
          <a:prstGeom prst="line">
            <a:avLst/>
          </a:prstGeom>
          <a:noFill/>
          <a:ln w="31750">
            <a:solidFill>
              <a:srgbClr val="6366F1"/>
            </a:solidFill>
            <a:prstDash val="solid"/>
          </a:ln>
        </p:spPr>
      </p:sp>
      <p:sp>
        <p:nvSpPr>
          <p:cNvPr id="7" name="Text 5"/>
          <p:cNvSpPr/>
          <p:nvPr/>
        </p:nvSpPr>
        <p:spPr>
          <a:xfrm>
            <a:off x="11338560" y="6400800"/>
            <a:ext cx="548640" cy="274320"/>
          </a:xfrm>
          <a:prstGeom prst="rect">
            <a:avLst/>
          </a:prstGeom>
          <a:noFill/>
          <a:ln/>
        </p:spPr>
        <p:txBody>
          <a:bodyPr wrap="square" rtlCol="0" anchor="ctr"/>
          <a:lstStyle/>
          <a:p>
            <a:pPr marL="0" indent="0" algn="r">
              <a:buNone/>
            </a:pPr>
            <a:r>
              <a:rPr lang="en-US" sz="1000" dirty="0">
                <a:solidFill>
                  <a:srgbClr val="64748B"/>
                </a:solidFill>
                <a:latin typeface="Calibri" pitchFamily="34" charset="0"/>
                <a:ea typeface="Calibri" pitchFamily="34" charset="-122"/>
                <a:cs typeface="Calibri" pitchFamily="34" charset="-120"/>
              </a:rPr>
              <a:t>03</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40080" y="2194560"/>
          <a:ext cx="10881360" cy="3950208"/>
        </p:xfrm>
        <a:graphic>
          <a:graphicData uri="http://schemas.openxmlformats.org/drawingml/2006/table">
            <a:tbl>
              <a:tblPr/>
              <a:tblGrid>
                <a:gridCol w="1645920">
                  <a:extLst>
                    <a:ext uri="{9D8B030D-6E8A-4147-A177-3AD203B41FA5}">
                      <a16:colId xmlns:a16="http://schemas.microsoft.com/office/drawing/2014/main" val="20000"/>
                    </a:ext>
                  </a:extLst>
                </a:gridCol>
                <a:gridCol w="2103120">
                  <a:extLst>
                    <a:ext uri="{9D8B030D-6E8A-4147-A177-3AD203B41FA5}">
                      <a16:colId xmlns:a16="http://schemas.microsoft.com/office/drawing/2014/main" val="20001"/>
                    </a:ext>
                  </a:extLst>
                </a:gridCol>
                <a:gridCol w="2468880">
                  <a:extLst>
                    <a:ext uri="{9D8B030D-6E8A-4147-A177-3AD203B41FA5}">
                      <a16:colId xmlns:a16="http://schemas.microsoft.com/office/drawing/2014/main" val="20002"/>
                    </a:ext>
                  </a:extLst>
                </a:gridCol>
                <a:gridCol w="4663440">
                  <a:extLst>
                    <a:ext uri="{9D8B030D-6E8A-4147-A177-3AD203B41FA5}">
                      <a16:colId xmlns:a16="http://schemas.microsoft.com/office/drawing/2014/main" val="20003"/>
                    </a:ext>
                  </a:extLst>
                </a:gridCol>
              </a:tblGrid>
              <a:tr h="658368">
                <a:tc>
                  <a:txBody>
                    <a:bodyPr/>
                    <a:lstStyle/>
                    <a:p>
                      <a:pPr marL="0" indent="0">
                        <a:buNone/>
                      </a:pPr>
                      <a:r>
                        <a:rPr lang="en-US" sz="1350" b="1" dirty="0">
                          <a:solidFill>
                            <a:srgbClr val="FFFFFF"/>
                          </a:solidFill>
                          <a:latin typeface="Calibri" pitchFamily="34" charset="0"/>
                          <a:ea typeface="Calibri" pitchFamily="34" charset="-122"/>
                          <a:cs typeface="Calibri" pitchFamily="34" charset="-120"/>
                        </a:rPr>
                        <a:t>Besoin</a:t>
                      </a:r>
                      <a:endParaRPr lang="en-US" sz="1350" dirty="0">
                        <a:latin typeface="Calibri" charset="0"/>
                        <a:ea typeface="Calibri" charset="0"/>
                        <a:cs typeface="Calibri" charset="0"/>
                      </a:endParaRPr>
                    </a:p>
                  </a:txBody>
                  <a:tcPr marL="76200" marR="76200" marT="76200" marB="7620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1E2761"/>
                    </a:solidFill>
                  </a:tcPr>
                </a:tc>
                <a:tc>
                  <a:txBody>
                    <a:bodyPr/>
                    <a:lstStyle/>
                    <a:p>
                      <a:pPr marL="0" indent="0">
                        <a:buNone/>
                      </a:pPr>
                      <a:r>
                        <a:rPr lang="en-US" sz="1350" b="1" dirty="0">
                          <a:solidFill>
                            <a:srgbClr val="FFFFFF"/>
                          </a:solidFill>
                          <a:latin typeface="Calibri" pitchFamily="34" charset="0"/>
                          <a:ea typeface="Calibri" pitchFamily="34" charset="-122"/>
                          <a:cs typeface="Calibri" pitchFamily="34" charset="-120"/>
                        </a:rPr>
                        <a:t>Choix</a:t>
                      </a:r>
                      <a:endParaRPr lang="en-US" sz="1350" dirty="0">
                        <a:latin typeface="Calibri" charset="0"/>
                        <a:ea typeface="Calibri" charset="0"/>
                        <a:cs typeface="Calibri" charset="0"/>
                      </a:endParaRPr>
                    </a:p>
                  </a:txBody>
                  <a:tcPr marL="76200" marR="76200" marT="76200" marB="7620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1E2761"/>
                    </a:solidFill>
                  </a:tcPr>
                </a:tc>
                <a:tc>
                  <a:txBody>
                    <a:bodyPr/>
                    <a:lstStyle/>
                    <a:p>
                      <a:pPr marL="0" indent="0">
                        <a:buNone/>
                      </a:pPr>
                      <a:r>
                        <a:rPr lang="en-US" sz="1350" b="1" dirty="0">
                          <a:solidFill>
                            <a:srgbClr val="FFFFFF"/>
                          </a:solidFill>
                          <a:latin typeface="Calibri" pitchFamily="34" charset="0"/>
                          <a:ea typeface="Calibri" pitchFamily="34" charset="-122"/>
                          <a:cs typeface="Calibri" pitchFamily="34" charset="-120"/>
                        </a:rPr>
                        <a:t>Alternatives</a:t>
                      </a:r>
                      <a:endParaRPr lang="en-US" sz="1350" dirty="0">
                        <a:latin typeface="Calibri" charset="0"/>
                        <a:ea typeface="Calibri" charset="0"/>
                        <a:cs typeface="Calibri" charset="0"/>
                      </a:endParaRPr>
                    </a:p>
                  </a:txBody>
                  <a:tcPr marL="76200" marR="76200" marT="76200" marB="7620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1E2761"/>
                    </a:solidFill>
                  </a:tcPr>
                </a:tc>
                <a:tc>
                  <a:txBody>
                    <a:bodyPr/>
                    <a:lstStyle/>
                    <a:p>
                      <a:pPr marL="0" indent="0">
                        <a:buNone/>
                      </a:pPr>
                      <a:r>
                        <a:rPr lang="en-US" sz="1350" b="1" dirty="0">
                          <a:solidFill>
                            <a:srgbClr val="FFFFFF"/>
                          </a:solidFill>
                          <a:latin typeface="Calibri" pitchFamily="34" charset="0"/>
                          <a:ea typeface="Calibri" pitchFamily="34" charset="-122"/>
                          <a:cs typeface="Calibri" pitchFamily="34" charset="-120"/>
                        </a:rPr>
                        <a:t>Justification</a:t>
                      </a:r>
                      <a:endParaRPr lang="en-US" sz="1350" dirty="0">
                        <a:latin typeface="Calibri" charset="0"/>
                        <a:ea typeface="Calibri" charset="0"/>
                        <a:cs typeface="Calibri" charset="0"/>
                      </a:endParaRPr>
                    </a:p>
                  </a:txBody>
                  <a:tcPr marL="76200" marR="76200" marT="76200" marB="7620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1E2761"/>
                    </a:solidFill>
                  </a:tcPr>
                </a:tc>
                <a:extLst>
                  <a:ext uri="{0D108BD9-81ED-4DB2-BD59-A6C34878D82A}">
                    <a16:rowId xmlns:a16="http://schemas.microsoft.com/office/drawing/2014/main" val="10000"/>
                  </a:ext>
                </a:extLst>
              </a:tr>
              <a:tr h="658368">
                <a:tc>
                  <a:txBody>
                    <a:bodyPr/>
                    <a:lstStyle/>
                    <a:p>
                      <a:pPr marL="0" indent="0">
                        <a:buNone/>
                      </a:pPr>
                      <a:r>
                        <a:rPr lang="en-US" sz="1350" b="1" dirty="0">
                          <a:solidFill>
                            <a:srgbClr val="1E2761"/>
                          </a:solidFill>
                          <a:latin typeface="Calibri" pitchFamily="34" charset="0"/>
                          <a:ea typeface="Calibri" pitchFamily="34" charset="-122"/>
                          <a:cs typeface="Calibri" pitchFamily="34" charset="-120"/>
                        </a:rPr>
                        <a:t>Backend</a:t>
                      </a:r>
                      <a:endParaRPr lang="en-US" sz="1350" dirty="0">
                        <a:latin typeface="Calibri" charset="0"/>
                        <a:ea typeface="Calibri" charset="0"/>
                        <a:cs typeface="Calibri" charset="0"/>
                      </a:endParaRPr>
                    </a:p>
                  </a:txBody>
                  <a:tcPr marL="76200" marR="76200" marT="76200" marB="7620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350" b="1" dirty="0">
                          <a:solidFill>
                            <a:srgbClr val="6366F1"/>
                          </a:solidFill>
                          <a:latin typeface="Calibri" pitchFamily="34" charset="0"/>
                          <a:ea typeface="Calibri" pitchFamily="34" charset="-122"/>
                          <a:cs typeface="Calibri" pitchFamily="34" charset="-120"/>
                        </a:rPr>
                        <a:t>FastAPI</a:t>
                      </a:r>
                      <a:endParaRPr lang="en-US" sz="1350" dirty="0">
                        <a:latin typeface="Calibri" charset="0"/>
                        <a:ea typeface="Calibri" charset="0"/>
                        <a:cs typeface="Calibri" charset="0"/>
                      </a:endParaRPr>
                    </a:p>
                  </a:txBody>
                  <a:tcPr marL="76200" marR="76200" marT="76200" marB="7620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350" dirty="0">
                          <a:solidFill>
                            <a:srgbClr val="64748B"/>
                          </a:solidFill>
                          <a:latin typeface="Calibri" pitchFamily="34" charset="0"/>
                          <a:ea typeface="Calibri" pitchFamily="34" charset="-122"/>
                          <a:cs typeface="Calibri" pitchFamily="34" charset="-120"/>
                        </a:rPr>
                        <a:t>Django / Express</a:t>
                      </a:r>
                      <a:endParaRPr lang="en-US" sz="1350" dirty="0">
                        <a:latin typeface="Calibri" charset="0"/>
                        <a:ea typeface="Calibri" charset="0"/>
                        <a:cs typeface="Calibri" charset="0"/>
                      </a:endParaRPr>
                    </a:p>
                  </a:txBody>
                  <a:tcPr marL="76200" marR="76200" marT="76200" marB="7620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350" dirty="0">
                          <a:solidFill>
                            <a:srgbClr val="1E293B"/>
                          </a:solidFill>
                          <a:latin typeface="Calibri" pitchFamily="34" charset="0"/>
                          <a:ea typeface="Calibri" pitchFamily="34" charset="-122"/>
                          <a:cs typeface="Calibri" pitchFamily="34" charset="-120"/>
                        </a:rPr>
                        <a:t>Async, Pydantic, doc OpenAPI auto</a:t>
                      </a:r>
                      <a:endParaRPr lang="en-US" sz="1350" dirty="0">
                        <a:latin typeface="Calibri" charset="0"/>
                        <a:ea typeface="Calibri" charset="0"/>
                        <a:cs typeface="Calibri" charset="0"/>
                      </a:endParaRPr>
                    </a:p>
                  </a:txBody>
                  <a:tcPr marL="76200" marR="76200" marT="76200" marB="7620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58368">
                <a:tc>
                  <a:txBody>
                    <a:bodyPr/>
                    <a:lstStyle/>
                    <a:p>
                      <a:pPr marL="0" indent="0">
                        <a:buNone/>
                      </a:pPr>
                      <a:r>
                        <a:rPr lang="en-US" sz="1350" b="1" dirty="0">
                          <a:solidFill>
                            <a:srgbClr val="1E2761"/>
                          </a:solidFill>
                          <a:latin typeface="Calibri" pitchFamily="34" charset="0"/>
                          <a:ea typeface="Calibri" pitchFamily="34" charset="-122"/>
                          <a:cs typeface="Calibri" pitchFamily="34" charset="-120"/>
                        </a:rPr>
                        <a:t>Frontend</a:t>
                      </a:r>
                      <a:endParaRPr lang="en-US" sz="1350" dirty="0">
                        <a:latin typeface="Calibri" charset="0"/>
                        <a:ea typeface="Calibri" charset="0"/>
                        <a:cs typeface="Calibri" charset="0"/>
                      </a:endParaRPr>
                    </a:p>
                  </a:txBody>
                  <a:tcPr marL="76200" marR="76200" marT="76200" marB="7620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EEF2FF"/>
                    </a:solidFill>
                  </a:tcPr>
                </a:tc>
                <a:tc>
                  <a:txBody>
                    <a:bodyPr/>
                    <a:lstStyle/>
                    <a:p>
                      <a:pPr marL="0" indent="0">
                        <a:buNone/>
                      </a:pPr>
                      <a:r>
                        <a:rPr lang="en-US" sz="1350" b="1" dirty="0">
                          <a:solidFill>
                            <a:srgbClr val="6366F1"/>
                          </a:solidFill>
                          <a:latin typeface="Calibri" pitchFamily="34" charset="0"/>
                          <a:ea typeface="Calibri" pitchFamily="34" charset="-122"/>
                          <a:cs typeface="Calibri" pitchFamily="34" charset="-120"/>
                        </a:rPr>
                        <a:t>React 18 + Vite</a:t>
                      </a:r>
                      <a:endParaRPr lang="en-US" sz="1350" dirty="0">
                        <a:latin typeface="Calibri" charset="0"/>
                        <a:ea typeface="Calibri" charset="0"/>
                        <a:cs typeface="Calibri" charset="0"/>
                      </a:endParaRPr>
                    </a:p>
                  </a:txBody>
                  <a:tcPr marL="76200" marR="76200" marT="76200" marB="7620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EEF2FF"/>
                    </a:solidFill>
                  </a:tcPr>
                </a:tc>
                <a:tc>
                  <a:txBody>
                    <a:bodyPr/>
                    <a:lstStyle/>
                    <a:p>
                      <a:pPr marL="0" indent="0">
                        <a:buNone/>
                      </a:pPr>
                      <a:r>
                        <a:rPr lang="en-US" sz="1350" dirty="0">
                          <a:solidFill>
                            <a:srgbClr val="64748B"/>
                          </a:solidFill>
                          <a:latin typeface="Calibri" pitchFamily="34" charset="0"/>
                          <a:ea typeface="Calibri" pitchFamily="34" charset="-122"/>
                          <a:cs typeface="Calibri" pitchFamily="34" charset="-120"/>
                        </a:rPr>
                        <a:t>Angular / Vue</a:t>
                      </a:r>
                      <a:endParaRPr lang="en-US" sz="1350" dirty="0">
                        <a:latin typeface="Calibri" charset="0"/>
                        <a:ea typeface="Calibri" charset="0"/>
                        <a:cs typeface="Calibri" charset="0"/>
                      </a:endParaRPr>
                    </a:p>
                  </a:txBody>
                  <a:tcPr marL="76200" marR="76200" marT="76200" marB="7620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EEF2FF"/>
                    </a:solidFill>
                  </a:tcPr>
                </a:tc>
                <a:tc>
                  <a:txBody>
                    <a:bodyPr/>
                    <a:lstStyle/>
                    <a:p>
                      <a:pPr marL="0" indent="0">
                        <a:buNone/>
                      </a:pPr>
                      <a:r>
                        <a:rPr lang="en-US" sz="1350" dirty="0">
                          <a:solidFill>
                            <a:srgbClr val="1E293B"/>
                          </a:solidFill>
                          <a:latin typeface="Calibri" pitchFamily="34" charset="0"/>
                          <a:ea typeface="Calibri" pitchFamily="34" charset="-122"/>
                          <a:cs typeface="Calibri" pitchFamily="34" charset="-120"/>
                        </a:rPr>
                        <a:t>Composants, build instantane, SPA</a:t>
                      </a:r>
                      <a:endParaRPr lang="en-US" sz="1350" dirty="0">
                        <a:latin typeface="Calibri" charset="0"/>
                        <a:ea typeface="Calibri" charset="0"/>
                        <a:cs typeface="Calibri" charset="0"/>
                      </a:endParaRPr>
                    </a:p>
                  </a:txBody>
                  <a:tcPr marL="76200" marR="76200" marT="76200" marB="7620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EEF2FF"/>
                    </a:solidFill>
                  </a:tcPr>
                </a:tc>
                <a:extLst>
                  <a:ext uri="{0D108BD9-81ED-4DB2-BD59-A6C34878D82A}">
                    <a16:rowId xmlns:a16="http://schemas.microsoft.com/office/drawing/2014/main" val="10002"/>
                  </a:ext>
                </a:extLst>
              </a:tr>
              <a:tr h="658368">
                <a:tc>
                  <a:txBody>
                    <a:bodyPr/>
                    <a:lstStyle/>
                    <a:p>
                      <a:pPr marL="0" indent="0">
                        <a:buNone/>
                      </a:pPr>
                      <a:r>
                        <a:rPr lang="en-US" sz="1350" b="1" dirty="0">
                          <a:solidFill>
                            <a:srgbClr val="1E2761"/>
                          </a:solidFill>
                          <a:latin typeface="Calibri" pitchFamily="34" charset="0"/>
                          <a:ea typeface="Calibri" pitchFamily="34" charset="-122"/>
                          <a:cs typeface="Calibri" pitchFamily="34" charset="-120"/>
                        </a:rPr>
                        <a:t>Donnees</a:t>
                      </a:r>
                      <a:endParaRPr lang="en-US" sz="1350" dirty="0">
                        <a:latin typeface="Calibri" charset="0"/>
                        <a:ea typeface="Calibri" charset="0"/>
                        <a:cs typeface="Calibri" charset="0"/>
                      </a:endParaRPr>
                    </a:p>
                  </a:txBody>
                  <a:tcPr marL="76200" marR="76200" marT="76200" marB="7620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350" b="1" dirty="0">
                          <a:solidFill>
                            <a:srgbClr val="6366F1"/>
                          </a:solidFill>
                          <a:latin typeface="Calibri" pitchFamily="34" charset="0"/>
                          <a:ea typeface="Calibri" pitchFamily="34" charset="-122"/>
                          <a:cs typeface="Calibri" pitchFamily="34" charset="-120"/>
                        </a:rPr>
                        <a:t>SQLAlchemy</a:t>
                      </a:r>
                      <a:endParaRPr lang="en-US" sz="1350" dirty="0">
                        <a:latin typeface="Calibri" charset="0"/>
                        <a:ea typeface="Calibri" charset="0"/>
                        <a:cs typeface="Calibri" charset="0"/>
                      </a:endParaRPr>
                    </a:p>
                  </a:txBody>
                  <a:tcPr marL="76200" marR="76200" marT="76200" marB="7620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350" dirty="0">
                          <a:solidFill>
                            <a:srgbClr val="64748B"/>
                          </a:solidFill>
                          <a:latin typeface="Calibri" pitchFamily="34" charset="0"/>
                          <a:ea typeface="Calibri" pitchFamily="34" charset="-122"/>
                          <a:cs typeface="Calibri" pitchFamily="34" charset="-120"/>
                        </a:rPr>
                        <a:t>MongoDB</a:t>
                      </a:r>
                      <a:endParaRPr lang="en-US" sz="1350" dirty="0">
                        <a:latin typeface="Calibri" charset="0"/>
                        <a:ea typeface="Calibri" charset="0"/>
                        <a:cs typeface="Calibri" charset="0"/>
                      </a:endParaRPr>
                    </a:p>
                  </a:txBody>
                  <a:tcPr marL="76200" marR="76200" marT="76200" marB="7620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350" dirty="0">
                          <a:solidFill>
                            <a:srgbClr val="1E293B"/>
                          </a:solidFill>
                          <a:latin typeface="Calibri" pitchFamily="34" charset="0"/>
                          <a:ea typeface="Calibri" pitchFamily="34" charset="-122"/>
                          <a:cs typeface="Calibri" pitchFamily="34" charset="-120"/>
                        </a:rPr>
                        <a:t>Relationnel, SQLite-&gt;PostgreSQL</a:t>
                      </a:r>
                      <a:endParaRPr lang="en-US" sz="1350" dirty="0">
                        <a:latin typeface="Calibri" charset="0"/>
                        <a:ea typeface="Calibri" charset="0"/>
                        <a:cs typeface="Calibri" charset="0"/>
                      </a:endParaRPr>
                    </a:p>
                  </a:txBody>
                  <a:tcPr marL="76200" marR="76200" marT="76200" marB="7620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658368">
                <a:tc>
                  <a:txBody>
                    <a:bodyPr/>
                    <a:lstStyle/>
                    <a:p>
                      <a:pPr marL="0" indent="0">
                        <a:buNone/>
                      </a:pPr>
                      <a:r>
                        <a:rPr lang="en-US" sz="1350" b="1" dirty="0">
                          <a:solidFill>
                            <a:srgbClr val="1E2761"/>
                          </a:solidFill>
                          <a:latin typeface="Calibri" pitchFamily="34" charset="0"/>
                          <a:ea typeface="Calibri" pitchFamily="34" charset="-122"/>
                          <a:cs typeface="Calibri" pitchFamily="34" charset="-120"/>
                        </a:rPr>
                        <a:t>Extraction</a:t>
                      </a:r>
                      <a:endParaRPr lang="en-US" sz="1350" dirty="0">
                        <a:latin typeface="Calibri" charset="0"/>
                        <a:ea typeface="Calibri" charset="0"/>
                        <a:cs typeface="Calibri" charset="0"/>
                      </a:endParaRPr>
                    </a:p>
                  </a:txBody>
                  <a:tcPr marL="76200" marR="76200" marT="76200" marB="7620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EEF2FF"/>
                    </a:solidFill>
                  </a:tcPr>
                </a:tc>
                <a:tc>
                  <a:txBody>
                    <a:bodyPr/>
                    <a:lstStyle/>
                    <a:p>
                      <a:pPr marL="0" indent="0">
                        <a:buNone/>
                      </a:pPr>
                      <a:r>
                        <a:rPr lang="en-US" sz="1350" b="1" dirty="0">
                          <a:solidFill>
                            <a:srgbClr val="6366F1"/>
                          </a:solidFill>
                          <a:latin typeface="Calibri" pitchFamily="34" charset="0"/>
                          <a:ea typeface="Calibri" pitchFamily="34" charset="-122"/>
                          <a:cs typeface="Calibri" pitchFamily="34" charset="-120"/>
                        </a:rPr>
                        <a:t>IA vision (Gemini)</a:t>
                      </a:r>
                      <a:endParaRPr lang="en-US" sz="1350" dirty="0">
                        <a:latin typeface="Calibri" charset="0"/>
                        <a:ea typeface="Calibri" charset="0"/>
                        <a:cs typeface="Calibri" charset="0"/>
                      </a:endParaRPr>
                    </a:p>
                  </a:txBody>
                  <a:tcPr marL="76200" marR="76200" marT="76200" marB="7620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EEF2FF"/>
                    </a:solidFill>
                  </a:tcPr>
                </a:tc>
                <a:tc>
                  <a:txBody>
                    <a:bodyPr/>
                    <a:lstStyle/>
                    <a:p>
                      <a:pPr marL="0" indent="0">
                        <a:buNone/>
                      </a:pPr>
                      <a:r>
                        <a:rPr lang="en-US" sz="1350" dirty="0">
                          <a:solidFill>
                            <a:srgbClr val="64748B"/>
                          </a:solidFill>
                          <a:latin typeface="Calibri" pitchFamily="34" charset="0"/>
                          <a:ea typeface="Calibri" pitchFamily="34" charset="-122"/>
                          <a:cs typeface="Calibri" pitchFamily="34" charset="-120"/>
                        </a:rPr>
                        <a:t>OCR Tesseract</a:t>
                      </a:r>
                      <a:endParaRPr lang="en-US" sz="1350" dirty="0">
                        <a:latin typeface="Calibri" charset="0"/>
                        <a:ea typeface="Calibri" charset="0"/>
                        <a:cs typeface="Calibri" charset="0"/>
                      </a:endParaRPr>
                    </a:p>
                  </a:txBody>
                  <a:tcPr marL="76200" marR="76200" marT="76200" marB="7620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EEF2FF"/>
                    </a:solidFill>
                  </a:tcPr>
                </a:tc>
                <a:tc>
                  <a:txBody>
                    <a:bodyPr/>
                    <a:lstStyle/>
                    <a:p>
                      <a:pPr marL="0" indent="0">
                        <a:buNone/>
                      </a:pPr>
                      <a:r>
                        <a:rPr lang="en-US" sz="1350" dirty="0">
                          <a:solidFill>
                            <a:srgbClr val="1E293B"/>
                          </a:solidFill>
                          <a:latin typeface="Calibri" pitchFamily="34" charset="0"/>
                          <a:ea typeface="Calibri" pitchFamily="34" charset="-122"/>
                          <a:cs typeface="Calibri" pitchFamily="34" charset="-120"/>
                        </a:rPr>
                        <a:t>Lit les vraies etiquettes, JSON direct</a:t>
                      </a:r>
                      <a:endParaRPr lang="en-US" sz="1350" dirty="0">
                        <a:latin typeface="Calibri" charset="0"/>
                        <a:ea typeface="Calibri" charset="0"/>
                        <a:cs typeface="Calibri" charset="0"/>
                      </a:endParaRPr>
                    </a:p>
                  </a:txBody>
                  <a:tcPr marL="76200" marR="76200" marT="76200" marB="7620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EEF2FF"/>
                    </a:solidFill>
                  </a:tcPr>
                </a:tc>
                <a:extLst>
                  <a:ext uri="{0D108BD9-81ED-4DB2-BD59-A6C34878D82A}">
                    <a16:rowId xmlns:a16="http://schemas.microsoft.com/office/drawing/2014/main" val="10004"/>
                  </a:ext>
                </a:extLst>
              </a:tr>
              <a:tr h="658368">
                <a:tc>
                  <a:txBody>
                    <a:bodyPr/>
                    <a:lstStyle/>
                    <a:p>
                      <a:pPr marL="0" indent="0">
                        <a:buNone/>
                      </a:pPr>
                      <a:r>
                        <a:rPr lang="en-US" sz="1350" b="1" dirty="0">
                          <a:solidFill>
                            <a:srgbClr val="1E2761"/>
                          </a:solidFill>
                          <a:latin typeface="Calibri" pitchFamily="34" charset="0"/>
                          <a:ea typeface="Calibri" pitchFamily="34" charset="-122"/>
                          <a:cs typeface="Calibri" pitchFamily="34" charset="-120"/>
                        </a:rPr>
                        <a:t>Auth</a:t>
                      </a:r>
                      <a:endParaRPr lang="en-US" sz="1350" dirty="0">
                        <a:latin typeface="Calibri" charset="0"/>
                        <a:ea typeface="Calibri" charset="0"/>
                        <a:cs typeface="Calibri" charset="0"/>
                      </a:endParaRPr>
                    </a:p>
                  </a:txBody>
                  <a:tcPr marL="76200" marR="76200" marT="76200" marB="7620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350" b="1" dirty="0">
                          <a:solidFill>
                            <a:srgbClr val="6366F1"/>
                          </a:solidFill>
                          <a:latin typeface="Calibri" pitchFamily="34" charset="0"/>
                          <a:ea typeface="Calibri" pitchFamily="34" charset="-122"/>
                          <a:cs typeface="Calibri" pitchFamily="34" charset="-120"/>
                        </a:rPr>
                        <a:t>JWT</a:t>
                      </a:r>
                      <a:endParaRPr lang="en-US" sz="1350" dirty="0">
                        <a:latin typeface="Calibri" charset="0"/>
                        <a:ea typeface="Calibri" charset="0"/>
                        <a:cs typeface="Calibri" charset="0"/>
                      </a:endParaRPr>
                    </a:p>
                  </a:txBody>
                  <a:tcPr marL="76200" marR="76200" marT="76200" marB="7620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350" dirty="0">
                          <a:solidFill>
                            <a:srgbClr val="64748B"/>
                          </a:solidFill>
                          <a:latin typeface="Calibri" pitchFamily="34" charset="0"/>
                          <a:ea typeface="Calibri" pitchFamily="34" charset="-122"/>
                          <a:cs typeface="Calibri" pitchFamily="34" charset="-120"/>
                        </a:rPr>
                        <a:t>Sessions / OAuth2</a:t>
                      </a:r>
                      <a:endParaRPr lang="en-US" sz="1350" dirty="0">
                        <a:latin typeface="Calibri" charset="0"/>
                        <a:ea typeface="Calibri" charset="0"/>
                        <a:cs typeface="Calibri" charset="0"/>
                      </a:endParaRPr>
                    </a:p>
                  </a:txBody>
                  <a:tcPr marL="76200" marR="76200" marT="76200" marB="7620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350" dirty="0">
                          <a:solidFill>
                            <a:srgbClr val="1E293B"/>
                          </a:solidFill>
                          <a:latin typeface="Calibri" pitchFamily="34" charset="0"/>
                          <a:ea typeface="Calibri" pitchFamily="34" charset="-122"/>
                          <a:cs typeface="Calibri" pitchFamily="34" charset="-120"/>
                        </a:rPr>
                        <a:t>Sans etat, adapte API + SPA</a:t>
                      </a:r>
                      <a:endParaRPr lang="en-US" sz="1350" dirty="0">
                        <a:latin typeface="Calibri" charset="0"/>
                        <a:ea typeface="Calibri" charset="0"/>
                        <a:cs typeface="Calibri" charset="0"/>
                      </a:endParaRPr>
                    </a:p>
                  </a:txBody>
                  <a:tcPr marL="76200" marR="76200" marT="76200" marB="7620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0" y="0"/>
            <a:ext cx="201168" cy="6858000"/>
          </a:xfrm>
          <a:prstGeom prst="rect">
            <a:avLst/>
          </a:prstGeom>
          <a:solidFill>
            <a:srgbClr val="6366F1"/>
          </a:solidFill>
          <a:ln/>
        </p:spPr>
      </p:sp>
      <p:sp>
        <p:nvSpPr>
          <p:cNvPr id="3" name="Shape 1"/>
          <p:cNvSpPr/>
          <p:nvPr/>
        </p:nvSpPr>
        <p:spPr>
          <a:xfrm>
            <a:off x="640080" y="502920"/>
            <a:ext cx="2377440" cy="384048"/>
          </a:xfrm>
          <a:prstGeom prst="roundRect">
            <a:avLst>
              <a:gd name="adj" fmla="val 50000"/>
            </a:avLst>
          </a:prstGeom>
          <a:solidFill>
            <a:srgbClr val="6366F1"/>
          </a:solidFill>
          <a:ln/>
        </p:spPr>
      </p:sp>
      <p:sp>
        <p:nvSpPr>
          <p:cNvPr id="4" name="Text 2"/>
          <p:cNvSpPr/>
          <p:nvPr/>
        </p:nvSpPr>
        <p:spPr>
          <a:xfrm>
            <a:off x="640080" y="502920"/>
            <a:ext cx="2377440" cy="384048"/>
          </a:xfrm>
          <a:prstGeom prst="rect">
            <a:avLst/>
          </a:prstGeom>
          <a:noFill/>
          <a:ln/>
        </p:spPr>
        <p:txBody>
          <a:bodyPr wrap="square" rtlCol="0" anchor="ctr"/>
          <a:lstStyle/>
          <a:p>
            <a:pPr marL="0" indent="0" algn="ctr">
              <a:buNone/>
            </a:pPr>
            <a:r>
              <a:rPr lang="en-US" sz="1100" b="1" kern="0" spc="200" dirty="0">
                <a:solidFill>
                  <a:srgbClr val="FFFFFF"/>
                </a:solidFill>
                <a:latin typeface="Calibri" pitchFamily="34" charset="0"/>
                <a:ea typeface="Calibri" pitchFamily="34" charset="-122"/>
                <a:cs typeface="Calibri" pitchFamily="34" charset="-120"/>
              </a:rPr>
              <a:t>INTRODUCTION</a:t>
            </a:r>
            <a:endParaRPr lang="en-US" sz="1100" dirty="0"/>
          </a:p>
        </p:txBody>
      </p:sp>
      <p:sp>
        <p:nvSpPr>
          <p:cNvPr id="5" name="Text 3"/>
          <p:cNvSpPr/>
          <p:nvPr/>
        </p:nvSpPr>
        <p:spPr>
          <a:xfrm>
            <a:off x="640080" y="960120"/>
            <a:ext cx="10881360" cy="731520"/>
          </a:xfrm>
          <a:prstGeom prst="rect">
            <a:avLst/>
          </a:prstGeom>
          <a:noFill/>
          <a:ln/>
        </p:spPr>
        <p:txBody>
          <a:bodyPr wrap="square" rtlCol="0" anchor="ctr"/>
          <a:lstStyle/>
          <a:p>
            <a:pPr marL="0" indent="0">
              <a:buNone/>
            </a:pPr>
            <a:r>
              <a:rPr lang="en-US" sz="2700" b="1" dirty="0">
                <a:solidFill>
                  <a:srgbClr val="1E2761"/>
                </a:solidFill>
                <a:latin typeface="Georgia" pitchFamily="34" charset="0"/>
                <a:ea typeface="Georgia" pitchFamily="34" charset="-122"/>
                <a:cs typeface="Georgia" pitchFamily="34" charset="-120"/>
              </a:rPr>
              <a:t>Gestion de projet &amp; charge</a:t>
            </a:r>
            <a:endParaRPr lang="en-US" sz="2700" dirty="0"/>
          </a:p>
        </p:txBody>
      </p:sp>
      <p:sp>
        <p:nvSpPr>
          <p:cNvPr id="6" name="Shape 4"/>
          <p:cNvSpPr/>
          <p:nvPr/>
        </p:nvSpPr>
        <p:spPr>
          <a:xfrm>
            <a:off x="640080" y="1664208"/>
            <a:ext cx="2011680" cy="0"/>
          </a:xfrm>
          <a:prstGeom prst="line">
            <a:avLst/>
          </a:prstGeom>
          <a:noFill/>
          <a:ln w="31750">
            <a:solidFill>
              <a:srgbClr val="6366F1"/>
            </a:solidFill>
            <a:prstDash val="solid"/>
          </a:ln>
        </p:spPr>
      </p:sp>
      <p:sp>
        <p:nvSpPr>
          <p:cNvPr id="7" name="Text 5"/>
          <p:cNvSpPr/>
          <p:nvPr/>
        </p:nvSpPr>
        <p:spPr>
          <a:xfrm>
            <a:off x="11338560" y="6400800"/>
            <a:ext cx="548640" cy="274320"/>
          </a:xfrm>
          <a:prstGeom prst="rect">
            <a:avLst/>
          </a:prstGeom>
          <a:noFill/>
          <a:ln/>
        </p:spPr>
        <p:txBody>
          <a:bodyPr wrap="square" rtlCol="0" anchor="ctr"/>
          <a:lstStyle/>
          <a:p>
            <a:pPr marL="0" indent="0" algn="r">
              <a:buNone/>
            </a:pPr>
            <a:r>
              <a:rPr lang="en-US" sz="1000" dirty="0">
                <a:solidFill>
                  <a:srgbClr val="64748B"/>
                </a:solidFill>
                <a:latin typeface="Calibri" pitchFamily="34" charset="0"/>
                <a:ea typeface="Calibri" pitchFamily="34" charset="-122"/>
                <a:cs typeface="Calibri" pitchFamily="34" charset="-120"/>
              </a:rPr>
              <a:t>04</a:t>
            </a:r>
            <a:endParaRPr lang="en-US" sz="1000" dirty="0"/>
          </a:p>
        </p:txBody>
      </p:sp>
      <p:pic>
        <p:nvPicPr>
          <p:cNvPr id="8" name="Image 0" descr="gantt.png"/>
          <p:cNvPicPr>
            <a:picLocks noChangeAspect="1"/>
          </p:cNvPicPr>
          <p:nvPr/>
        </p:nvPicPr>
        <p:blipFill>
          <a:blip r:embed="rId3"/>
          <a:stretch>
            <a:fillRect/>
          </a:stretch>
        </p:blipFill>
        <p:spPr>
          <a:xfrm>
            <a:off x="1482634" y="1920240"/>
            <a:ext cx="9196251" cy="4023360"/>
          </a:xfrm>
          <a:prstGeom prst="rect">
            <a:avLst/>
          </a:prstGeom>
        </p:spPr>
      </p:pic>
      <p:sp>
        <p:nvSpPr>
          <p:cNvPr id="9" name="Text 6"/>
          <p:cNvSpPr/>
          <p:nvPr/>
        </p:nvSpPr>
        <p:spPr>
          <a:xfrm>
            <a:off x="640080" y="5989320"/>
            <a:ext cx="10881360" cy="457200"/>
          </a:xfrm>
          <a:prstGeom prst="rect">
            <a:avLst/>
          </a:prstGeom>
          <a:noFill/>
          <a:ln/>
        </p:spPr>
        <p:txBody>
          <a:bodyPr wrap="square" rtlCol="0" anchor="ctr"/>
          <a:lstStyle/>
          <a:p>
            <a:pPr marL="0" indent="0" algn="ctr">
              <a:buNone/>
            </a:pPr>
            <a:r>
              <a:rPr lang="en-US" sz="1300" i="1" dirty="0">
                <a:solidFill>
                  <a:srgbClr val="64748B"/>
                </a:solidFill>
                <a:latin typeface="Calibri" pitchFamily="34" charset="0"/>
                <a:ea typeface="Calibri" pitchFamily="34" charset="-122"/>
                <a:cs typeface="Calibri" pitchFamily="34" charset="-120"/>
              </a:rPr>
              <a:t>Approche iterative sur 6 semaines . charge estimee ~41 jours-hommes (equipe de 2)</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0" y="0"/>
            <a:ext cx="201168" cy="6858000"/>
          </a:xfrm>
          <a:prstGeom prst="rect">
            <a:avLst/>
          </a:prstGeom>
          <a:solidFill>
            <a:srgbClr val="10B981"/>
          </a:solidFill>
          <a:ln/>
        </p:spPr>
      </p:sp>
      <p:sp>
        <p:nvSpPr>
          <p:cNvPr id="3" name="Shape 1"/>
          <p:cNvSpPr/>
          <p:nvPr/>
        </p:nvSpPr>
        <p:spPr>
          <a:xfrm>
            <a:off x="640080" y="502920"/>
            <a:ext cx="2377440" cy="384048"/>
          </a:xfrm>
          <a:prstGeom prst="roundRect">
            <a:avLst>
              <a:gd name="adj" fmla="val 50000"/>
            </a:avLst>
          </a:prstGeom>
          <a:solidFill>
            <a:srgbClr val="10B981"/>
          </a:solidFill>
          <a:ln/>
        </p:spPr>
      </p:sp>
      <p:sp>
        <p:nvSpPr>
          <p:cNvPr id="4" name="Text 2"/>
          <p:cNvSpPr/>
          <p:nvPr/>
        </p:nvSpPr>
        <p:spPr>
          <a:xfrm>
            <a:off x="640080" y="502920"/>
            <a:ext cx="2377440" cy="384048"/>
          </a:xfrm>
          <a:prstGeom prst="rect">
            <a:avLst/>
          </a:prstGeom>
          <a:noFill/>
          <a:ln/>
        </p:spPr>
        <p:txBody>
          <a:bodyPr wrap="square" rtlCol="0" anchor="ctr"/>
          <a:lstStyle/>
          <a:p>
            <a:pPr marL="0" indent="0" algn="ctr">
              <a:buNone/>
            </a:pPr>
            <a:r>
              <a:rPr lang="en-US" sz="1100" b="1" kern="0" spc="200" dirty="0">
                <a:solidFill>
                  <a:srgbClr val="FFFFFF"/>
                </a:solidFill>
                <a:latin typeface="Calibri" pitchFamily="34" charset="0"/>
                <a:ea typeface="Calibri" pitchFamily="34" charset="-122"/>
                <a:cs typeface="Calibri" pitchFamily="34" charset="-120"/>
              </a:rPr>
              <a:t>DEMONSTRATION</a:t>
            </a:r>
            <a:endParaRPr lang="en-US" sz="1100" dirty="0"/>
          </a:p>
        </p:txBody>
      </p:sp>
      <p:sp>
        <p:nvSpPr>
          <p:cNvPr id="5" name="Text 3"/>
          <p:cNvSpPr/>
          <p:nvPr/>
        </p:nvSpPr>
        <p:spPr>
          <a:xfrm>
            <a:off x="640080" y="960120"/>
            <a:ext cx="10881360" cy="731520"/>
          </a:xfrm>
          <a:prstGeom prst="rect">
            <a:avLst/>
          </a:prstGeom>
          <a:noFill/>
          <a:ln/>
        </p:spPr>
        <p:txBody>
          <a:bodyPr wrap="square" rtlCol="0" anchor="ctr"/>
          <a:lstStyle/>
          <a:p>
            <a:pPr marL="0" indent="0">
              <a:buNone/>
            </a:pPr>
            <a:r>
              <a:rPr lang="en-US" sz="2700" b="1" dirty="0">
                <a:solidFill>
                  <a:srgbClr val="1E2761"/>
                </a:solidFill>
                <a:latin typeface="Georgia" pitchFamily="34" charset="0"/>
                <a:ea typeface="Georgia" pitchFamily="34" charset="-122"/>
                <a:cs typeface="Georgia" pitchFamily="34" charset="-120"/>
              </a:rPr>
              <a:t>Fonctionnalite phare : ingestion par IA de vision</a:t>
            </a:r>
            <a:endParaRPr lang="en-US" sz="2700" dirty="0"/>
          </a:p>
        </p:txBody>
      </p:sp>
      <p:sp>
        <p:nvSpPr>
          <p:cNvPr id="6" name="Shape 4"/>
          <p:cNvSpPr/>
          <p:nvPr/>
        </p:nvSpPr>
        <p:spPr>
          <a:xfrm>
            <a:off x="640080" y="1664208"/>
            <a:ext cx="2011680" cy="0"/>
          </a:xfrm>
          <a:prstGeom prst="line">
            <a:avLst/>
          </a:prstGeom>
          <a:noFill/>
          <a:ln w="31750">
            <a:solidFill>
              <a:srgbClr val="10B981"/>
            </a:solidFill>
            <a:prstDash val="solid"/>
          </a:ln>
        </p:spPr>
      </p:sp>
      <p:sp>
        <p:nvSpPr>
          <p:cNvPr id="7" name="Text 5"/>
          <p:cNvSpPr/>
          <p:nvPr/>
        </p:nvSpPr>
        <p:spPr>
          <a:xfrm>
            <a:off x="11338560" y="6400800"/>
            <a:ext cx="548640" cy="274320"/>
          </a:xfrm>
          <a:prstGeom prst="rect">
            <a:avLst/>
          </a:prstGeom>
          <a:noFill/>
          <a:ln/>
        </p:spPr>
        <p:txBody>
          <a:bodyPr wrap="square" rtlCol="0" anchor="ctr"/>
          <a:lstStyle/>
          <a:p>
            <a:pPr marL="0" indent="0" algn="r">
              <a:buNone/>
            </a:pPr>
            <a:r>
              <a:rPr lang="en-US" sz="1000" dirty="0">
                <a:solidFill>
                  <a:srgbClr val="64748B"/>
                </a:solidFill>
                <a:latin typeface="Calibri" pitchFamily="34" charset="0"/>
                <a:ea typeface="Calibri" pitchFamily="34" charset="-122"/>
                <a:cs typeface="Calibri" pitchFamily="34" charset="-120"/>
              </a:rPr>
              <a:t>05</a:t>
            </a:r>
            <a:endParaRPr lang="en-US" sz="1000" dirty="0"/>
          </a:p>
        </p:txBody>
      </p:sp>
      <p:sp>
        <p:nvSpPr>
          <p:cNvPr id="8" name="Shape 6"/>
          <p:cNvSpPr/>
          <p:nvPr/>
        </p:nvSpPr>
        <p:spPr>
          <a:xfrm>
            <a:off x="822960" y="2103120"/>
            <a:ext cx="10515600" cy="822960"/>
          </a:xfrm>
          <a:prstGeom prst="roundRect">
            <a:avLst>
              <a:gd name="adj" fmla="val 8889"/>
            </a:avLst>
          </a:prstGeom>
          <a:solidFill>
            <a:srgbClr val="FFFFFF"/>
          </a:solidFill>
          <a:ln w="12700">
            <a:solidFill>
              <a:srgbClr val="6366F1"/>
            </a:solidFill>
            <a:prstDash val="solid"/>
          </a:ln>
          <a:effectLst>
            <a:outerShdw blurRad="76200" dist="25400" dir="8100000" algn="bl" rotWithShape="0">
              <a:srgbClr val="94A3B8">
                <a:alpha val="18000"/>
              </a:srgbClr>
            </a:outerShdw>
          </a:effectLst>
        </p:spPr>
      </p:sp>
      <p:sp>
        <p:nvSpPr>
          <p:cNvPr id="9" name="Shape 7"/>
          <p:cNvSpPr/>
          <p:nvPr/>
        </p:nvSpPr>
        <p:spPr>
          <a:xfrm>
            <a:off x="822960" y="2103120"/>
            <a:ext cx="128016" cy="822960"/>
          </a:xfrm>
          <a:prstGeom prst="rect">
            <a:avLst/>
          </a:prstGeom>
          <a:solidFill>
            <a:srgbClr val="6366F1"/>
          </a:solidFill>
          <a:ln/>
        </p:spPr>
      </p:sp>
      <p:sp>
        <p:nvSpPr>
          <p:cNvPr id="10" name="Text 8"/>
          <p:cNvSpPr/>
          <p:nvPr/>
        </p:nvSpPr>
        <p:spPr>
          <a:xfrm>
            <a:off x="1143000" y="2194560"/>
            <a:ext cx="2834640" cy="640080"/>
          </a:xfrm>
          <a:prstGeom prst="rect">
            <a:avLst/>
          </a:prstGeom>
          <a:noFill/>
          <a:ln/>
        </p:spPr>
        <p:txBody>
          <a:bodyPr wrap="square" rtlCol="0" anchor="ctr"/>
          <a:lstStyle/>
          <a:p>
            <a:pPr marL="0" indent="0">
              <a:buNone/>
            </a:pPr>
            <a:r>
              <a:rPr lang="en-US" sz="1600" b="1" dirty="0">
                <a:solidFill>
                  <a:srgbClr val="1E2761"/>
                </a:solidFill>
                <a:latin typeface="Calibri" pitchFamily="34" charset="0"/>
                <a:ea typeface="Calibri" pitchFamily="34" charset="-122"/>
                <a:cs typeface="Calibri" pitchFamily="34" charset="-120"/>
              </a:rPr>
              <a:t>1. Depot</a:t>
            </a:r>
            <a:endParaRPr lang="en-US" sz="1600" dirty="0"/>
          </a:p>
        </p:txBody>
      </p:sp>
      <p:sp>
        <p:nvSpPr>
          <p:cNvPr id="11" name="Text 9"/>
          <p:cNvSpPr/>
          <p:nvPr/>
        </p:nvSpPr>
        <p:spPr>
          <a:xfrm>
            <a:off x="4023360" y="2194560"/>
            <a:ext cx="7132320" cy="640080"/>
          </a:xfrm>
          <a:prstGeom prst="rect">
            <a:avLst/>
          </a:prstGeom>
          <a:noFill/>
          <a:ln/>
        </p:spPr>
        <p:txBody>
          <a:bodyPr wrap="square" rtlCol="0" anchor="ctr"/>
          <a:lstStyle/>
          <a:p>
            <a:pPr marL="0" indent="0">
              <a:buNone/>
            </a:pPr>
            <a:r>
              <a:rPr lang="en-US" sz="1350" dirty="0">
                <a:solidFill>
                  <a:srgbClr val="64748B"/>
                </a:solidFill>
                <a:latin typeface="Calibri" pitchFamily="34" charset="0"/>
                <a:ea typeface="Calibri" pitchFamily="34" charset="-122"/>
                <a:cs typeface="Calibri" pitchFamily="34" charset="-120"/>
              </a:rPr>
              <a:t>Glisser-deposer la photo d'une etiquette (JPG/PNG)</a:t>
            </a:r>
            <a:endParaRPr lang="en-US" sz="1350" dirty="0"/>
          </a:p>
        </p:txBody>
      </p:sp>
      <p:sp>
        <p:nvSpPr>
          <p:cNvPr id="12" name="Shape 10"/>
          <p:cNvSpPr/>
          <p:nvPr/>
        </p:nvSpPr>
        <p:spPr>
          <a:xfrm>
            <a:off x="822960" y="3063240"/>
            <a:ext cx="10515600" cy="822960"/>
          </a:xfrm>
          <a:prstGeom prst="roundRect">
            <a:avLst>
              <a:gd name="adj" fmla="val 8889"/>
            </a:avLst>
          </a:prstGeom>
          <a:solidFill>
            <a:srgbClr val="FFFFFF"/>
          </a:solidFill>
          <a:ln w="12700">
            <a:solidFill>
              <a:srgbClr val="10B981"/>
            </a:solidFill>
            <a:prstDash val="solid"/>
          </a:ln>
          <a:effectLst>
            <a:outerShdw blurRad="76200" dist="25400" dir="8100000" algn="bl" rotWithShape="0">
              <a:srgbClr val="94A3B8">
                <a:alpha val="18000"/>
              </a:srgbClr>
            </a:outerShdw>
          </a:effectLst>
        </p:spPr>
      </p:sp>
      <p:sp>
        <p:nvSpPr>
          <p:cNvPr id="13" name="Shape 11"/>
          <p:cNvSpPr/>
          <p:nvPr/>
        </p:nvSpPr>
        <p:spPr>
          <a:xfrm>
            <a:off x="822960" y="3063240"/>
            <a:ext cx="128016" cy="822960"/>
          </a:xfrm>
          <a:prstGeom prst="rect">
            <a:avLst/>
          </a:prstGeom>
          <a:solidFill>
            <a:srgbClr val="10B981"/>
          </a:solidFill>
          <a:ln/>
        </p:spPr>
      </p:sp>
      <p:sp>
        <p:nvSpPr>
          <p:cNvPr id="14" name="Text 12"/>
          <p:cNvSpPr/>
          <p:nvPr/>
        </p:nvSpPr>
        <p:spPr>
          <a:xfrm>
            <a:off x="1143000" y="3154680"/>
            <a:ext cx="2834640" cy="640080"/>
          </a:xfrm>
          <a:prstGeom prst="rect">
            <a:avLst/>
          </a:prstGeom>
          <a:noFill/>
          <a:ln/>
        </p:spPr>
        <p:txBody>
          <a:bodyPr wrap="square" rtlCol="0" anchor="ctr"/>
          <a:lstStyle/>
          <a:p>
            <a:pPr marL="0" indent="0">
              <a:buNone/>
            </a:pPr>
            <a:r>
              <a:rPr lang="en-US" sz="1600" b="1" dirty="0">
                <a:solidFill>
                  <a:srgbClr val="1E2761"/>
                </a:solidFill>
                <a:latin typeface="Calibri" pitchFamily="34" charset="0"/>
                <a:ea typeface="Calibri" pitchFamily="34" charset="-122"/>
                <a:cs typeface="Calibri" pitchFamily="34" charset="-120"/>
              </a:rPr>
              <a:t>2. Lecture IA</a:t>
            </a:r>
            <a:endParaRPr lang="en-US" sz="1600" dirty="0"/>
          </a:p>
        </p:txBody>
      </p:sp>
      <p:sp>
        <p:nvSpPr>
          <p:cNvPr id="15" name="Text 13"/>
          <p:cNvSpPr/>
          <p:nvPr/>
        </p:nvSpPr>
        <p:spPr>
          <a:xfrm>
            <a:off x="4023360" y="3154680"/>
            <a:ext cx="7132320" cy="640080"/>
          </a:xfrm>
          <a:prstGeom prst="rect">
            <a:avLst/>
          </a:prstGeom>
          <a:noFill/>
          <a:ln/>
        </p:spPr>
        <p:txBody>
          <a:bodyPr wrap="square" rtlCol="0" anchor="ctr"/>
          <a:lstStyle/>
          <a:p>
            <a:pPr marL="0" indent="0">
              <a:buNone/>
            </a:pPr>
            <a:r>
              <a:rPr lang="en-US" sz="1350" dirty="0">
                <a:solidFill>
                  <a:srgbClr val="64748B"/>
                </a:solidFill>
                <a:latin typeface="Calibri" pitchFamily="34" charset="0"/>
                <a:ea typeface="Calibri" pitchFamily="34" charset="-122"/>
                <a:cs typeface="Calibri" pitchFamily="34" charset="-120"/>
              </a:rPr>
              <a:t>Gemini lit l'image et renvoie un JSON structure</a:t>
            </a:r>
            <a:endParaRPr lang="en-US" sz="1350" dirty="0"/>
          </a:p>
        </p:txBody>
      </p:sp>
      <p:sp>
        <p:nvSpPr>
          <p:cNvPr id="16" name="Shape 14"/>
          <p:cNvSpPr/>
          <p:nvPr/>
        </p:nvSpPr>
        <p:spPr>
          <a:xfrm>
            <a:off x="822960" y="4023360"/>
            <a:ext cx="10515600" cy="822960"/>
          </a:xfrm>
          <a:prstGeom prst="roundRect">
            <a:avLst>
              <a:gd name="adj" fmla="val 8889"/>
            </a:avLst>
          </a:prstGeom>
          <a:solidFill>
            <a:srgbClr val="FFFFFF"/>
          </a:solidFill>
          <a:ln w="12700">
            <a:solidFill>
              <a:srgbClr val="F59E0B"/>
            </a:solidFill>
            <a:prstDash val="solid"/>
          </a:ln>
          <a:effectLst>
            <a:outerShdw blurRad="76200" dist="25400" dir="8100000" algn="bl" rotWithShape="0">
              <a:srgbClr val="94A3B8">
                <a:alpha val="18000"/>
              </a:srgbClr>
            </a:outerShdw>
          </a:effectLst>
        </p:spPr>
      </p:sp>
      <p:sp>
        <p:nvSpPr>
          <p:cNvPr id="17" name="Shape 15"/>
          <p:cNvSpPr/>
          <p:nvPr/>
        </p:nvSpPr>
        <p:spPr>
          <a:xfrm>
            <a:off x="822960" y="4023360"/>
            <a:ext cx="128016" cy="822960"/>
          </a:xfrm>
          <a:prstGeom prst="rect">
            <a:avLst/>
          </a:prstGeom>
          <a:solidFill>
            <a:srgbClr val="F59E0B"/>
          </a:solidFill>
          <a:ln/>
        </p:spPr>
      </p:sp>
      <p:sp>
        <p:nvSpPr>
          <p:cNvPr id="18" name="Text 16"/>
          <p:cNvSpPr/>
          <p:nvPr/>
        </p:nvSpPr>
        <p:spPr>
          <a:xfrm>
            <a:off x="1143000" y="4114800"/>
            <a:ext cx="2834640" cy="640080"/>
          </a:xfrm>
          <a:prstGeom prst="rect">
            <a:avLst/>
          </a:prstGeom>
          <a:noFill/>
          <a:ln/>
        </p:spPr>
        <p:txBody>
          <a:bodyPr wrap="square" rtlCol="0" anchor="ctr"/>
          <a:lstStyle/>
          <a:p>
            <a:pPr marL="0" indent="0">
              <a:buNone/>
            </a:pPr>
            <a:r>
              <a:rPr lang="en-US" sz="1600" b="1" dirty="0">
                <a:solidFill>
                  <a:srgbClr val="1E2761"/>
                </a:solidFill>
                <a:latin typeface="Calibri" pitchFamily="34" charset="0"/>
                <a:ea typeface="Calibri" pitchFamily="34" charset="-122"/>
                <a:cs typeface="Calibri" pitchFamily="34" charset="-120"/>
              </a:rPr>
              <a:t>3. Revue humaine</a:t>
            </a:r>
            <a:endParaRPr lang="en-US" sz="1600" dirty="0"/>
          </a:p>
        </p:txBody>
      </p:sp>
      <p:sp>
        <p:nvSpPr>
          <p:cNvPr id="19" name="Text 17"/>
          <p:cNvSpPr/>
          <p:nvPr/>
        </p:nvSpPr>
        <p:spPr>
          <a:xfrm>
            <a:off x="4023360" y="4114800"/>
            <a:ext cx="7132320" cy="640080"/>
          </a:xfrm>
          <a:prstGeom prst="rect">
            <a:avLst/>
          </a:prstGeom>
          <a:noFill/>
          <a:ln/>
        </p:spPr>
        <p:txBody>
          <a:bodyPr wrap="square" rtlCol="0" anchor="ctr"/>
          <a:lstStyle/>
          <a:p>
            <a:pPr marL="0" indent="0">
              <a:buNone/>
            </a:pPr>
            <a:r>
              <a:rPr lang="en-US" sz="1350" dirty="0">
                <a:solidFill>
                  <a:srgbClr val="64748B"/>
                </a:solidFill>
                <a:latin typeface="Calibri" pitchFamily="34" charset="0"/>
                <a:ea typeface="Calibri" pitchFamily="34" charset="-122"/>
                <a:cs typeface="Calibri" pitchFamily="34" charset="-120"/>
              </a:rPr>
              <a:t>On verifie/corrige la fiche (human-in-the-loop)</a:t>
            </a:r>
            <a:endParaRPr lang="en-US" sz="1350" dirty="0"/>
          </a:p>
        </p:txBody>
      </p:sp>
      <p:sp>
        <p:nvSpPr>
          <p:cNvPr id="20" name="Shape 18"/>
          <p:cNvSpPr/>
          <p:nvPr/>
        </p:nvSpPr>
        <p:spPr>
          <a:xfrm>
            <a:off x="822960" y="4983480"/>
            <a:ext cx="10515600" cy="822960"/>
          </a:xfrm>
          <a:prstGeom prst="roundRect">
            <a:avLst>
              <a:gd name="adj" fmla="val 8889"/>
            </a:avLst>
          </a:prstGeom>
          <a:solidFill>
            <a:srgbClr val="FFFFFF"/>
          </a:solidFill>
          <a:ln w="12700">
            <a:solidFill>
              <a:srgbClr val="3B82F6"/>
            </a:solidFill>
            <a:prstDash val="solid"/>
          </a:ln>
          <a:effectLst>
            <a:outerShdw blurRad="76200" dist="25400" dir="8100000" algn="bl" rotWithShape="0">
              <a:srgbClr val="94A3B8">
                <a:alpha val="18000"/>
              </a:srgbClr>
            </a:outerShdw>
          </a:effectLst>
        </p:spPr>
      </p:sp>
      <p:sp>
        <p:nvSpPr>
          <p:cNvPr id="21" name="Shape 19"/>
          <p:cNvSpPr/>
          <p:nvPr/>
        </p:nvSpPr>
        <p:spPr>
          <a:xfrm>
            <a:off x="822960" y="4983480"/>
            <a:ext cx="128016" cy="822960"/>
          </a:xfrm>
          <a:prstGeom prst="rect">
            <a:avLst/>
          </a:prstGeom>
          <a:solidFill>
            <a:srgbClr val="3B82F6"/>
          </a:solidFill>
          <a:ln/>
        </p:spPr>
      </p:sp>
      <p:sp>
        <p:nvSpPr>
          <p:cNvPr id="22" name="Text 20"/>
          <p:cNvSpPr/>
          <p:nvPr/>
        </p:nvSpPr>
        <p:spPr>
          <a:xfrm>
            <a:off x="1143000" y="5074920"/>
            <a:ext cx="2834640" cy="640080"/>
          </a:xfrm>
          <a:prstGeom prst="rect">
            <a:avLst/>
          </a:prstGeom>
          <a:noFill/>
          <a:ln/>
        </p:spPr>
        <p:txBody>
          <a:bodyPr wrap="square" rtlCol="0" anchor="ctr"/>
          <a:lstStyle/>
          <a:p>
            <a:pPr marL="0" indent="0">
              <a:buNone/>
            </a:pPr>
            <a:r>
              <a:rPr lang="en-US" sz="1600" b="1" dirty="0">
                <a:solidFill>
                  <a:srgbClr val="1E2761"/>
                </a:solidFill>
                <a:latin typeface="Calibri" pitchFamily="34" charset="0"/>
                <a:ea typeface="Calibri" pitchFamily="34" charset="-122"/>
                <a:cs typeface="Calibri" pitchFamily="34" charset="-120"/>
              </a:rPr>
              <a:t>4. Upsert EAN</a:t>
            </a:r>
            <a:endParaRPr lang="en-US" sz="1600" dirty="0"/>
          </a:p>
        </p:txBody>
      </p:sp>
      <p:sp>
        <p:nvSpPr>
          <p:cNvPr id="23" name="Text 21"/>
          <p:cNvSpPr/>
          <p:nvPr/>
        </p:nvSpPr>
        <p:spPr>
          <a:xfrm>
            <a:off x="4023360" y="5074920"/>
            <a:ext cx="7132320" cy="640080"/>
          </a:xfrm>
          <a:prstGeom prst="rect">
            <a:avLst/>
          </a:prstGeom>
          <a:noFill/>
          <a:ln/>
        </p:spPr>
        <p:txBody>
          <a:bodyPr wrap="square" rtlCol="0" anchor="ctr"/>
          <a:lstStyle/>
          <a:p>
            <a:pPr marL="0" indent="0">
              <a:buNone/>
            </a:pPr>
            <a:r>
              <a:rPr lang="en-US" sz="1350" dirty="0">
                <a:solidFill>
                  <a:srgbClr val="64748B"/>
                </a:solidFill>
                <a:latin typeface="Calibri" pitchFamily="34" charset="0"/>
                <a:ea typeface="Calibri" pitchFamily="34" charset="-122"/>
                <a:cs typeface="Calibri" pitchFamily="34" charset="-120"/>
              </a:rPr>
              <a:t>Enregistrement : mise a jour si l'EAN existe</a:t>
            </a:r>
            <a:endParaRPr lang="en-US" sz="1350" dirty="0"/>
          </a:p>
        </p:txBody>
      </p:sp>
      <p:sp>
        <p:nvSpPr>
          <p:cNvPr id="24" name="Text 22"/>
          <p:cNvSpPr/>
          <p:nvPr/>
        </p:nvSpPr>
        <p:spPr>
          <a:xfrm>
            <a:off x="822960" y="6035040"/>
            <a:ext cx="10515600" cy="457200"/>
          </a:xfrm>
          <a:prstGeom prst="rect">
            <a:avLst/>
          </a:prstGeom>
          <a:noFill/>
          <a:ln/>
        </p:spPr>
        <p:txBody>
          <a:bodyPr wrap="square" rtlCol="0" anchor="ctr"/>
          <a:lstStyle/>
          <a:p>
            <a:pPr marL="0" indent="0" algn="ctr">
              <a:buNone/>
            </a:pPr>
            <a:r>
              <a:rPr lang="en-US" sz="1300" i="1" dirty="0">
                <a:solidFill>
                  <a:srgbClr val="64748B"/>
                </a:solidFill>
                <a:latin typeface="Calibri" pitchFamily="34" charset="0"/>
                <a:ea typeface="Calibri" pitchFamily="34" charset="-122"/>
                <a:cs typeface="Calibri" pitchFamily="34" charset="-120"/>
              </a:rPr>
              <a:t>Pourquoi l'IA de vision et pas un OCR : les vraies etiquettes (bouteilles courbees, logos, photos) ne sont pas lisibles ligne a ligne.</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0" y="0"/>
            <a:ext cx="201168" cy="6858000"/>
          </a:xfrm>
          <a:prstGeom prst="rect">
            <a:avLst/>
          </a:prstGeom>
          <a:solidFill>
            <a:srgbClr val="10B981"/>
          </a:solidFill>
          <a:ln/>
        </p:spPr>
      </p:sp>
      <p:sp>
        <p:nvSpPr>
          <p:cNvPr id="3" name="Shape 1"/>
          <p:cNvSpPr/>
          <p:nvPr/>
        </p:nvSpPr>
        <p:spPr>
          <a:xfrm>
            <a:off x="640080" y="502920"/>
            <a:ext cx="2377440" cy="384048"/>
          </a:xfrm>
          <a:prstGeom prst="roundRect">
            <a:avLst>
              <a:gd name="adj" fmla="val 50000"/>
            </a:avLst>
          </a:prstGeom>
          <a:solidFill>
            <a:srgbClr val="10B981"/>
          </a:solidFill>
          <a:ln/>
        </p:spPr>
      </p:sp>
      <p:sp>
        <p:nvSpPr>
          <p:cNvPr id="4" name="Text 2"/>
          <p:cNvSpPr/>
          <p:nvPr/>
        </p:nvSpPr>
        <p:spPr>
          <a:xfrm>
            <a:off x="640080" y="502920"/>
            <a:ext cx="2377440" cy="384048"/>
          </a:xfrm>
          <a:prstGeom prst="rect">
            <a:avLst/>
          </a:prstGeom>
          <a:noFill/>
          <a:ln/>
        </p:spPr>
        <p:txBody>
          <a:bodyPr wrap="square" rtlCol="0" anchor="ctr"/>
          <a:lstStyle/>
          <a:p>
            <a:pPr marL="0" indent="0" algn="ctr">
              <a:buNone/>
            </a:pPr>
            <a:r>
              <a:rPr lang="en-US" sz="1100" b="1" kern="0" spc="200" dirty="0">
                <a:solidFill>
                  <a:srgbClr val="FFFFFF"/>
                </a:solidFill>
                <a:latin typeface="Calibri" pitchFamily="34" charset="0"/>
                <a:ea typeface="Calibri" pitchFamily="34" charset="-122"/>
                <a:cs typeface="Calibri" pitchFamily="34" charset="-120"/>
              </a:rPr>
              <a:t>DEMONSTRATION</a:t>
            </a:r>
            <a:endParaRPr lang="en-US" sz="1100" dirty="0"/>
          </a:p>
        </p:txBody>
      </p:sp>
      <p:sp>
        <p:nvSpPr>
          <p:cNvPr id="5" name="Text 3"/>
          <p:cNvSpPr/>
          <p:nvPr/>
        </p:nvSpPr>
        <p:spPr>
          <a:xfrm>
            <a:off x="640080" y="960120"/>
            <a:ext cx="10881360" cy="731520"/>
          </a:xfrm>
          <a:prstGeom prst="rect">
            <a:avLst/>
          </a:prstGeom>
          <a:noFill/>
          <a:ln/>
        </p:spPr>
        <p:txBody>
          <a:bodyPr wrap="square" rtlCol="0" anchor="ctr"/>
          <a:lstStyle/>
          <a:p>
            <a:pPr marL="0" indent="0">
              <a:buNone/>
            </a:pPr>
            <a:r>
              <a:rPr lang="en-US" sz="2700" b="1" dirty="0">
                <a:solidFill>
                  <a:srgbClr val="1E2761"/>
                </a:solidFill>
                <a:latin typeface="Georgia" pitchFamily="34" charset="0"/>
                <a:ea typeface="Georgia" pitchFamily="34" charset="-122"/>
                <a:cs typeface="Georgia" pitchFamily="34" charset="-120"/>
              </a:rPr>
              <a:t>Acteurs &amp; cas d'utilisation</a:t>
            </a:r>
            <a:endParaRPr lang="en-US" sz="2700" dirty="0"/>
          </a:p>
        </p:txBody>
      </p:sp>
      <p:sp>
        <p:nvSpPr>
          <p:cNvPr id="6" name="Shape 4"/>
          <p:cNvSpPr/>
          <p:nvPr/>
        </p:nvSpPr>
        <p:spPr>
          <a:xfrm>
            <a:off x="640080" y="1664208"/>
            <a:ext cx="2011680" cy="0"/>
          </a:xfrm>
          <a:prstGeom prst="line">
            <a:avLst/>
          </a:prstGeom>
          <a:noFill/>
          <a:ln w="31750">
            <a:solidFill>
              <a:srgbClr val="10B981"/>
            </a:solidFill>
            <a:prstDash val="solid"/>
          </a:ln>
        </p:spPr>
      </p:sp>
      <p:sp>
        <p:nvSpPr>
          <p:cNvPr id="7" name="Text 5"/>
          <p:cNvSpPr/>
          <p:nvPr/>
        </p:nvSpPr>
        <p:spPr>
          <a:xfrm>
            <a:off x="11338560" y="6400800"/>
            <a:ext cx="548640" cy="274320"/>
          </a:xfrm>
          <a:prstGeom prst="rect">
            <a:avLst/>
          </a:prstGeom>
          <a:noFill/>
          <a:ln/>
        </p:spPr>
        <p:txBody>
          <a:bodyPr wrap="square" rtlCol="0" anchor="ctr"/>
          <a:lstStyle/>
          <a:p>
            <a:pPr marL="0" indent="0" algn="r">
              <a:buNone/>
            </a:pPr>
            <a:r>
              <a:rPr lang="en-US" sz="1000" dirty="0">
                <a:solidFill>
                  <a:srgbClr val="64748B"/>
                </a:solidFill>
                <a:latin typeface="Calibri" pitchFamily="34" charset="0"/>
                <a:ea typeface="Calibri" pitchFamily="34" charset="-122"/>
                <a:cs typeface="Calibri" pitchFamily="34" charset="-120"/>
              </a:rPr>
              <a:t>06</a:t>
            </a:r>
            <a:endParaRPr lang="en-US" sz="1000" dirty="0"/>
          </a:p>
        </p:txBody>
      </p:sp>
      <p:pic>
        <p:nvPicPr>
          <p:cNvPr id="8" name="Image 0" descr="diagrams/01_cas_utilisation.png"/>
          <p:cNvPicPr>
            <a:picLocks noChangeAspect="1"/>
          </p:cNvPicPr>
          <p:nvPr/>
        </p:nvPicPr>
        <p:blipFill>
          <a:blip r:embed="rId3"/>
          <a:stretch>
            <a:fillRect/>
          </a:stretch>
        </p:blipFill>
        <p:spPr>
          <a:xfrm>
            <a:off x="3032760" y="1920240"/>
            <a:ext cx="6096000" cy="4023360"/>
          </a:xfrm>
          <a:prstGeom prst="rect">
            <a:avLst/>
          </a:prstGeom>
        </p:spPr>
      </p:pic>
      <p:sp>
        <p:nvSpPr>
          <p:cNvPr id="9" name="Text 6"/>
          <p:cNvSpPr/>
          <p:nvPr/>
        </p:nvSpPr>
        <p:spPr>
          <a:xfrm>
            <a:off x="640080" y="5989320"/>
            <a:ext cx="10881360" cy="457200"/>
          </a:xfrm>
          <a:prstGeom prst="rect">
            <a:avLst/>
          </a:prstGeom>
          <a:noFill/>
          <a:ln/>
        </p:spPr>
        <p:txBody>
          <a:bodyPr wrap="square" rtlCol="0" anchor="ctr"/>
          <a:lstStyle/>
          <a:p>
            <a:pPr marL="0" indent="0" algn="ctr">
              <a:buNone/>
            </a:pPr>
            <a:r>
              <a:rPr lang="en-US" sz="1300" i="1" dirty="0">
                <a:solidFill>
                  <a:srgbClr val="64748B"/>
                </a:solidFill>
                <a:latin typeface="Calibri" pitchFamily="34" charset="0"/>
                <a:ea typeface="Calibri" pitchFamily="34" charset="-122"/>
                <a:cs typeface="Calibri" pitchFamily="34" charset="-120"/>
              </a:rPr>
              <a:t>4 roles (admin, marketing, achats, fournisseur) + canal externe, validation/publication </a:t>
            </a:r>
            <a:r>
              <a:rPr lang="en-US" sz="1300" i="1" dirty="0" err="1">
                <a:solidFill>
                  <a:srgbClr val="64748B"/>
                </a:solidFill>
                <a:latin typeface="Calibri" pitchFamily="34" charset="0"/>
                <a:ea typeface="Calibri" pitchFamily="34" charset="-122"/>
                <a:cs typeface="Calibri" pitchFamily="34" charset="-120"/>
              </a:rPr>
              <a:t>reservées</a:t>
            </a:r>
            <a:r>
              <a:rPr lang="en-US" sz="1300" i="1" dirty="0">
                <a:solidFill>
                  <a:srgbClr val="64748B"/>
                </a:solidFill>
                <a:latin typeface="Calibri" pitchFamily="34" charset="0"/>
                <a:ea typeface="Calibri" pitchFamily="34" charset="-122"/>
                <a:cs typeface="Calibri" pitchFamily="34" charset="-120"/>
              </a:rPr>
              <a:t> à l'admin</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0" y="0"/>
            <a:ext cx="201168" cy="6858000"/>
          </a:xfrm>
          <a:prstGeom prst="rect">
            <a:avLst/>
          </a:prstGeom>
          <a:solidFill>
            <a:srgbClr val="10B981"/>
          </a:solidFill>
          <a:ln/>
        </p:spPr>
      </p:sp>
      <p:sp>
        <p:nvSpPr>
          <p:cNvPr id="3" name="Shape 1"/>
          <p:cNvSpPr/>
          <p:nvPr/>
        </p:nvSpPr>
        <p:spPr>
          <a:xfrm>
            <a:off x="640080" y="502920"/>
            <a:ext cx="2377440" cy="384048"/>
          </a:xfrm>
          <a:prstGeom prst="roundRect">
            <a:avLst>
              <a:gd name="adj" fmla="val 50000"/>
            </a:avLst>
          </a:prstGeom>
          <a:solidFill>
            <a:srgbClr val="10B981"/>
          </a:solidFill>
          <a:ln/>
        </p:spPr>
      </p:sp>
      <p:sp>
        <p:nvSpPr>
          <p:cNvPr id="4" name="Text 2"/>
          <p:cNvSpPr/>
          <p:nvPr/>
        </p:nvSpPr>
        <p:spPr>
          <a:xfrm>
            <a:off x="640080" y="502920"/>
            <a:ext cx="2377440" cy="384048"/>
          </a:xfrm>
          <a:prstGeom prst="rect">
            <a:avLst/>
          </a:prstGeom>
          <a:noFill/>
          <a:ln/>
        </p:spPr>
        <p:txBody>
          <a:bodyPr wrap="square" rtlCol="0" anchor="ctr"/>
          <a:lstStyle/>
          <a:p>
            <a:pPr marL="0" indent="0" algn="ctr">
              <a:buNone/>
            </a:pPr>
            <a:r>
              <a:rPr lang="en-US" sz="1100" b="1" kern="0" spc="200" dirty="0">
                <a:solidFill>
                  <a:srgbClr val="FFFFFF"/>
                </a:solidFill>
                <a:latin typeface="Calibri" pitchFamily="34" charset="0"/>
                <a:ea typeface="Calibri" pitchFamily="34" charset="-122"/>
                <a:cs typeface="Calibri" pitchFamily="34" charset="-120"/>
              </a:rPr>
              <a:t>DEMONSTRATION</a:t>
            </a:r>
            <a:endParaRPr lang="en-US" sz="1100" dirty="0"/>
          </a:p>
        </p:txBody>
      </p:sp>
      <p:sp>
        <p:nvSpPr>
          <p:cNvPr id="5" name="Text 3"/>
          <p:cNvSpPr/>
          <p:nvPr/>
        </p:nvSpPr>
        <p:spPr>
          <a:xfrm>
            <a:off x="640080" y="960120"/>
            <a:ext cx="10881360" cy="731520"/>
          </a:xfrm>
          <a:prstGeom prst="rect">
            <a:avLst/>
          </a:prstGeom>
          <a:noFill/>
          <a:ln/>
        </p:spPr>
        <p:txBody>
          <a:bodyPr wrap="square" rtlCol="0" anchor="ctr"/>
          <a:lstStyle/>
          <a:p>
            <a:pPr marL="0" indent="0">
              <a:buNone/>
            </a:pPr>
            <a:r>
              <a:rPr lang="en-US" sz="2700" b="1" dirty="0">
                <a:solidFill>
                  <a:srgbClr val="1E2761"/>
                </a:solidFill>
                <a:latin typeface="Georgia" pitchFamily="34" charset="0"/>
                <a:ea typeface="Georgia" pitchFamily="34" charset="-122"/>
                <a:cs typeface="Georgia" pitchFamily="34" charset="-120"/>
              </a:rPr>
              <a:t>Parcours &amp; fonctionnalites</a:t>
            </a:r>
            <a:endParaRPr lang="en-US" sz="2700" dirty="0"/>
          </a:p>
        </p:txBody>
      </p:sp>
      <p:sp>
        <p:nvSpPr>
          <p:cNvPr id="6" name="Shape 4"/>
          <p:cNvSpPr/>
          <p:nvPr/>
        </p:nvSpPr>
        <p:spPr>
          <a:xfrm>
            <a:off x="640080" y="1664208"/>
            <a:ext cx="2011680" cy="0"/>
          </a:xfrm>
          <a:prstGeom prst="line">
            <a:avLst/>
          </a:prstGeom>
          <a:noFill/>
          <a:ln w="31750">
            <a:solidFill>
              <a:srgbClr val="10B981"/>
            </a:solidFill>
            <a:prstDash val="solid"/>
          </a:ln>
        </p:spPr>
      </p:sp>
      <p:sp>
        <p:nvSpPr>
          <p:cNvPr id="7" name="Text 5"/>
          <p:cNvSpPr/>
          <p:nvPr/>
        </p:nvSpPr>
        <p:spPr>
          <a:xfrm>
            <a:off x="11338560" y="6400800"/>
            <a:ext cx="548640" cy="274320"/>
          </a:xfrm>
          <a:prstGeom prst="rect">
            <a:avLst/>
          </a:prstGeom>
          <a:noFill/>
          <a:ln/>
        </p:spPr>
        <p:txBody>
          <a:bodyPr wrap="square" rtlCol="0" anchor="ctr"/>
          <a:lstStyle/>
          <a:p>
            <a:pPr marL="0" indent="0" algn="r">
              <a:buNone/>
            </a:pPr>
            <a:r>
              <a:rPr lang="en-US" sz="1000" dirty="0">
                <a:solidFill>
                  <a:srgbClr val="64748B"/>
                </a:solidFill>
                <a:latin typeface="Calibri" pitchFamily="34" charset="0"/>
                <a:ea typeface="Calibri" pitchFamily="34" charset="-122"/>
                <a:cs typeface="Calibri" pitchFamily="34" charset="-120"/>
              </a:rPr>
              <a:t>07</a:t>
            </a:r>
            <a:endParaRPr lang="en-US" sz="1000" dirty="0"/>
          </a:p>
        </p:txBody>
      </p:sp>
      <p:sp>
        <p:nvSpPr>
          <p:cNvPr id="8" name="Shape 6"/>
          <p:cNvSpPr/>
          <p:nvPr/>
        </p:nvSpPr>
        <p:spPr>
          <a:xfrm>
            <a:off x="731520" y="2103120"/>
            <a:ext cx="5669280" cy="640080"/>
          </a:xfrm>
          <a:prstGeom prst="roundRect">
            <a:avLst>
              <a:gd name="adj" fmla="val 11429"/>
            </a:avLst>
          </a:prstGeom>
          <a:solidFill>
            <a:srgbClr val="FFFFFF"/>
          </a:solidFill>
          <a:ln w="12700">
            <a:solidFill>
              <a:srgbClr val="E2E8F0"/>
            </a:solidFill>
            <a:prstDash val="solid"/>
          </a:ln>
          <a:effectLst>
            <a:outerShdw blurRad="76200" dist="25400" dir="8100000" algn="bl" rotWithShape="0">
              <a:srgbClr val="94A3B8">
                <a:alpha val="18000"/>
              </a:srgbClr>
            </a:outerShdw>
          </a:effectLst>
        </p:spPr>
      </p:sp>
      <p:sp>
        <p:nvSpPr>
          <p:cNvPr id="9" name="Shape 7"/>
          <p:cNvSpPr/>
          <p:nvPr/>
        </p:nvSpPr>
        <p:spPr>
          <a:xfrm>
            <a:off x="914400" y="2203704"/>
            <a:ext cx="438912" cy="438912"/>
          </a:xfrm>
          <a:prstGeom prst="ellipse">
            <a:avLst/>
          </a:prstGeom>
          <a:solidFill>
            <a:srgbClr val="6366F1"/>
          </a:solidFill>
          <a:ln/>
        </p:spPr>
      </p:sp>
      <p:sp>
        <p:nvSpPr>
          <p:cNvPr id="10" name="Text 8"/>
          <p:cNvSpPr/>
          <p:nvPr/>
        </p:nvSpPr>
        <p:spPr>
          <a:xfrm>
            <a:off x="914400" y="2203704"/>
            <a:ext cx="438912" cy="438912"/>
          </a:xfrm>
          <a:prstGeom prst="rect">
            <a:avLst/>
          </a:prstGeom>
          <a:noFill/>
          <a:ln/>
        </p:spPr>
        <p:txBody>
          <a:bodyPr wrap="square" rtlCol="0" anchor="ctr"/>
          <a:lstStyle/>
          <a:p>
            <a:pPr marL="0" indent="0" algn="ctr">
              <a:buNone/>
            </a:pPr>
            <a:r>
              <a:rPr lang="en-US" sz="1400" b="1" dirty="0">
                <a:solidFill>
                  <a:srgbClr val="FFFFFF"/>
                </a:solidFill>
                <a:latin typeface="Georgia" pitchFamily="34" charset="0"/>
                <a:ea typeface="Georgia" pitchFamily="34" charset="-122"/>
                <a:cs typeface="Georgia" pitchFamily="34" charset="-120"/>
              </a:rPr>
              <a:t>1</a:t>
            </a:r>
            <a:endParaRPr lang="en-US" sz="1400" dirty="0"/>
          </a:p>
        </p:txBody>
      </p:sp>
      <p:sp>
        <p:nvSpPr>
          <p:cNvPr id="11" name="Text 9"/>
          <p:cNvSpPr/>
          <p:nvPr/>
        </p:nvSpPr>
        <p:spPr>
          <a:xfrm>
            <a:off x="1508760" y="2176272"/>
            <a:ext cx="2011680" cy="502920"/>
          </a:xfrm>
          <a:prstGeom prst="rect">
            <a:avLst/>
          </a:prstGeom>
          <a:noFill/>
          <a:ln/>
        </p:spPr>
        <p:txBody>
          <a:bodyPr wrap="square" rtlCol="0" anchor="ctr"/>
          <a:lstStyle/>
          <a:p>
            <a:pPr marL="0" indent="0">
              <a:buNone/>
            </a:pPr>
            <a:r>
              <a:rPr lang="en-US" sz="1400" b="1" dirty="0">
                <a:solidFill>
                  <a:srgbClr val="1E2761"/>
                </a:solidFill>
                <a:latin typeface="Calibri" pitchFamily="34" charset="0"/>
                <a:ea typeface="Calibri" pitchFamily="34" charset="-122"/>
                <a:cs typeface="Calibri" pitchFamily="34" charset="-120"/>
              </a:rPr>
              <a:t>Ingestion</a:t>
            </a:r>
            <a:endParaRPr lang="en-US" sz="1400" dirty="0"/>
          </a:p>
        </p:txBody>
      </p:sp>
      <p:sp>
        <p:nvSpPr>
          <p:cNvPr id="12" name="Text 10"/>
          <p:cNvSpPr/>
          <p:nvPr/>
        </p:nvSpPr>
        <p:spPr>
          <a:xfrm>
            <a:off x="3383280" y="2176272"/>
            <a:ext cx="2926080" cy="502920"/>
          </a:xfrm>
          <a:prstGeom prst="rect">
            <a:avLst/>
          </a:prstGeom>
          <a:noFill/>
          <a:ln/>
        </p:spPr>
        <p:txBody>
          <a:bodyPr wrap="square" rtlCol="0" anchor="ctr"/>
          <a:lstStyle/>
          <a:p>
            <a:pPr marL="0" indent="0">
              <a:buNone/>
            </a:pPr>
            <a:r>
              <a:rPr lang="en-US" sz="1150" dirty="0">
                <a:solidFill>
                  <a:srgbClr val="64748B"/>
                </a:solidFill>
                <a:latin typeface="Calibri" pitchFamily="34" charset="0"/>
                <a:ea typeface="Calibri" pitchFamily="34" charset="-122"/>
                <a:cs typeface="Calibri" pitchFamily="34" charset="-120"/>
              </a:rPr>
              <a:t>Etiquette -&gt; extraction IA -&gt; fiche</a:t>
            </a:r>
            <a:endParaRPr lang="en-US" sz="1150" dirty="0"/>
          </a:p>
        </p:txBody>
      </p:sp>
      <p:sp>
        <p:nvSpPr>
          <p:cNvPr id="13" name="Shape 11"/>
          <p:cNvSpPr/>
          <p:nvPr/>
        </p:nvSpPr>
        <p:spPr>
          <a:xfrm>
            <a:off x="731520" y="2852928"/>
            <a:ext cx="5669280" cy="640080"/>
          </a:xfrm>
          <a:prstGeom prst="roundRect">
            <a:avLst>
              <a:gd name="adj" fmla="val 11429"/>
            </a:avLst>
          </a:prstGeom>
          <a:solidFill>
            <a:srgbClr val="FFFFFF"/>
          </a:solidFill>
          <a:ln w="12700">
            <a:solidFill>
              <a:srgbClr val="E2E8F0"/>
            </a:solidFill>
            <a:prstDash val="solid"/>
          </a:ln>
          <a:effectLst>
            <a:outerShdw blurRad="76200" dist="25400" dir="8100000" algn="bl" rotWithShape="0">
              <a:srgbClr val="94A3B8">
                <a:alpha val="18000"/>
              </a:srgbClr>
            </a:outerShdw>
          </a:effectLst>
        </p:spPr>
      </p:sp>
      <p:sp>
        <p:nvSpPr>
          <p:cNvPr id="14" name="Shape 12"/>
          <p:cNvSpPr/>
          <p:nvPr/>
        </p:nvSpPr>
        <p:spPr>
          <a:xfrm>
            <a:off x="914400" y="2953512"/>
            <a:ext cx="438912" cy="438912"/>
          </a:xfrm>
          <a:prstGeom prst="ellipse">
            <a:avLst/>
          </a:prstGeom>
          <a:solidFill>
            <a:srgbClr val="6366F1"/>
          </a:solidFill>
          <a:ln/>
        </p:spPr>
      </p:sp>
      <p:sp>
        <p:nvSpPr>
          <p:cNvPr id="15" name="Text 13"/>
          <p:cNvSpPr/>
          <p:nvPr/>
        </p:nvSpPr>
        <p:spPr>
          <a:xfrm>
            <a:off x="914400" y="2953512"/>
            <a:ext cx="438912" cy="438912"/>
          </a:xfrm>
          <a:prstGeom prst="rect">
            <a:avLst/>
          </a:prstGeom>
          <a:noFill/>
          <a:ln/>
        </p:spPr>
        <p:txBody>
          <a:bodyPr wrap="square" rtlCol="0" anchor="ctr"/>
          <a:lstStyle/>
          <a:p>
            <a:pPr marL="0" indent="0" algn="ctr">
              <a:buNone/>
            </a:pPr>
            <a:r>
              <a:rPr lang="en-US" sz="1400" b="1" dirty="0">
                <a:solidFill>
                  <a:srgbClr val="FFFFFF"/>
                </a:solidFill>
                <a:latin typeface="Georgia" pitchFamily="34" charset="0"/>
                <a:ea typeface="Georgia" pitchFamily="34" charset="-122"/>
                <a:cs typeface="Georgia" pitchFamily="34" charset="-120"/>
              </a:rPr>
              <a:t>2</a:t>
            </a:r>
            <a:endParaRPr lang="en-US" sz="1400" dirty="0"/>
          </a:p>
        </p:txBody>
      </p:sp>
      <p:sp>
        <p:nvSpPr>
          <p:cNvPr id="16" name="Text 14"/>
          <p:cNvSpPr/>
          <p:nvPr/>
        </p:nvSpPr>
        <p:spPr>
          <a:xfrm>
            <a:off x="1508760" y="2926080"/>
            <a:ext cx="2011680" cy="502920"/>
          </a:xfrm>
          <a:prstGeom prst="rect">
            <a:avLst/>
          </a:prstGeom>
          <a:noFill/>
          <a:ln/>
        </p:spPr>
        <p:txBody>
          <a:bodyPr wrap="square" rtlCol="0" anchor="ctr"/>
          <a:lstStyle/>
          <a:p>
            <a:pPr marL="0" indent="0">
              <a:buNone/>
            </a:pPr>
            <a:r>
              <a:rPr lang="en-US" sz="1400" b="1" dirty="0">
                <a:solidFill>
                  <a:srgbClr val="1E2761"/>
                </a:solidFill>
                <a:latin typeface="Calibri" pitchFamily="34" charset="0"/>
                <a:ea typeface="Calibri" pitchFamily="34" charset="-122"/>
                <a:cs typeface="Calibri" pitchFamily="34" charset="-120"/>
              </a:rPr>
              <a:t>Catalogue</a:t>
            </a:r>
            <a:endParaRPr lang="en-US" sz="1400" dirty="0"/>
          </a:p>
        </p:txBody>
      </p:sp>
      <p:sp>
        <p:nvSpPr>
          <p:cNvPr id="17" name="Text 15"/>
          <p:cNvSpPr/>
          <p:nvPr/>
        </p:nvSpPr>
        <p:spPr>
          <a:xfrm>
            <a:off x="3383280" y="2926080"/>
            <a:ext cx="2926080" cy="502920"/>
          </a:xfrm>
          <a:prstGeom prst="rect">
            <a:avLst/>
          </a:prstGeom>
          <a:noFill/>
          <a:ln/>
        </p:spPr>
        <p:txBody>
          <a:bodyPr wrap="square" rtlCol="0" anchor="ctr"/>
          <a:lstStyle/>
          <a:p>
            <a:pPr marL="0" indent="0">
              <a:buNone/>
            </a:pPr>
            <a:r>
              <a:rPr lang="en-US" sz="1150" dirty="0">
                <a:solidFill>
                  <a:srgbClr val="64748B"/>
                </a:solidFill>
                <a:latin typeface="Calibri" pitchFamily="34" charset="0"/>
                <a:ea typeface="Calibri" pitchFamily="34" charset="-122"/>
                <a:cs typeface="Calibri" pitchFamily="34" charset="-120"/>
              </a:rPr>
              <a:t>Recherche, filtres, pagination (~610)</a:t>
            </a:r>
            <a:endParaRPr lang="en-US" sz="1150" dirty="0"/>
          </a:p>
        </p:txBody>
      </p:sp>
      <p:sp>
        <p:nvSpPr>
          <p:cNvPr id="18" name="Shape 16"/>
          <p:cNvSpPr/>
          <p:nvPr/>
        </p:nvSpPr>
        <p:spPr>
          <a:xfrm>
            <a:off x="731520" y="3602736"/>
            <a:ext cx="5669280" cy="640080"/>
          </a:xfrm>
          <a:prstGeom prst="roundRect">
            <a:avLst>
              <a:gd name="adj" fmla="val 11429"/>
            </a:avLst>
          </a:prstGeom>
          <a:solidFill>
            <a:srgbClr val="FFFFFF"/>
          </a:solidFill>
          <a:ln w="12700">
            <a:solidFill>
              <a:srgbClr val="E2E8F0"/>
            </a:solidFill>
            <a:prstDash val="solid"/>
          </a:ln>
          <a:effectLst>
            <a:outerShdw blurRad="76200" dist="25400" dir="8100000" algn="bl" rotWithShape="0">
              <a:srgbClr val="94A3B8">
                <a:alpha val="18000"/>
              </a:srgbClr>
            </a:outerShdw>
          </a:effectLst>
        </p:spPr>
      </p:sp>
      <p:sp>
        <p:nvSpPr>
          <p:cNvPr id="19" name="Shape 17"/>
          <p:cNvSpPr/>
          <p:nvPr/>
        </p:nvSpPr>
        <p:spPr>
          <a:xfrm>
            <a:off x="914400" y="3703320"/>
            <a:ext cx="438912" cy="438912"/>
          </a:xfrm>
          <a:prstGeom prst="ellipse">
            <a:avLst/>
          </a:prstGeom>
          <a:solidFill>
            <a:srgbClr val="6366F1"/>
          </a:solidFill>
          <a:ln/>
        </p:spPr>
      </p:sp>
      <p:sp>
        <p:nvSpPr>
          <p:cNvPr id="20" name="Text 18"/>
          <p:cNvSpPr/>
          <p:nvPr/>
        </p:nvSpPr>
        <p:spPr>
          <a:xfrm>
            <a:off x="914400" y="3703320"/>
            <a:ext cx="438912" cy="438912"/>
          </a:xfrm>
          <a:prstGeom prst="rect">
            <a:avLst/>
          </a:prstGeom>
          <a:noFill/>
          <a:ln/>
        </p:spPr>
        <p:txBody>
          <a:bodyPr wrap="square" rtlCol="0" anchor="ctr"/>
          <a:lstStyle/>
          <a:p>
            <a:pPr marL="0" indent="0" algn="ctr">
              <a:buNone/>
            </a:pPr>
            <a:r>
              <a:rPr lang="en-US" sz="1400" b="1" dirty="0">
                <a:solidFill>
                  <a:srgbClr val="FFFFFF"/>
                </a:solidFill>
                <a:latin typeface="Georgia" pitchFamily="34" charset="0"/>
                <a:ea typeface="Georgia" pitchFamily="34" charset="-122"/>
                <a:cs typeface="Georgia" pitchFamily="34" charset="-120"/>
              </a:rPr>
              <a:t>3</a:t>
            </a:r>
            <a:endParaRPr lang="en-US" sz="1400" dirty="0"/>
          </a:p>
        </p:txBody>
      </p:sp>
      <p:sp>
        <p:nvSpPr>
          <p:cNvPr id="21" name="Text 19"/>
          <p:cNvSpPr/>
          <p:nvPr/>
        </p:nvSpPr>
        <p:spPr>
          <a:xfrm>
            <a:off x="1508760" y="3675888"/>
            <a:ext cx="2011680" cy="502920"/>
          </a:xfrm>
          <a:prstGeom prst="rect">
            <a:avLst/>
          </a:prstGeom>
          <a:noFill/>
          <a:ln/>
        </p:spPr>
        <p:txBody>
          <a:bodyPr wrap="square" rtlCol="0" anchor="ctr"/>
          <a:lstStyle/>
          <a:p>
            <a:pPr marL="0" indent="0">
              <a:buNone/>
            </a:pPr>
            <a:r>
              <a:rPr lang="en-US" sz="1400" b="1" dirty="0">
                <a:solidFill>
                  <a:srgbClr val="1E2761"/>
                </a:solidFill>
                <a:latin typeface="Calibri" pitchFamily="34" charset="0"/>
                <a:ea typeface="Calibri" pitchFamily="34" charset="-122"/>
                <a:cs typeface="Calibri" pitchFamily="34" charset="-120"/>
              </a:rPr>
              <a:t>Fiche produit</a:t>
            </a:r>
            <a:endParaRPr lang="en-US" sz="1400" dirty="0"/>
          </a:p>
        </p:txBody>
      </p:sp>
      <p:sp>
        <p:nvSpPr>
          <p:cNvPr id="22" name="Text 20"/>
          <p:cNvSpPr/>
          <p:nvPr/>
        </p:nvSpPr>
        <p:spPr>
          <a:xfrm>
            <a:off x="3383280" y="3675888"/>
            <a:ext cx="2926080" cy="502920"/>
          </a:xfrm>
          <a:prstGeom prst="rect">
            <a:avLst/>
          </a:prstGeom>
          <a:noFill/>
          <a:ln/>
        </p:spPr>
        <p:txBody>
          <a:bodyPr wrap="square" rtlCol="0" anchor="ctr"/>
          <a:lstStyle/>
          <a:p>
            <a:pPr marL="0" indent="0">
              <a:buNone/>
            </a:pPr>
            <a:r>
              <a:rPr lang="en-US" sz="1150" dirty="0">
                <a:solidFill>
                  <a:srgbClr val="64748B"/>
                </a:solidFill>
                <a:latin typeface="Calibri" pitchFamily="34" charset="0"/>
                <a:ea typeface="Calibri" pitchFamily="34" charset="-122"/>
                <a:cs typeface="Calibri" pitchFamily="34" charset="-120"/>
              </a:rPr>
              <a:t>Attributs FR/EN, medias, completude</a:t>
            </a:r>
            <a:endParaRPr lang="en-US" sz="1150" dirty="0"/>
          </a:p>
        </p:txBody>
      </p:sp>
      <p:sp>
        <p:nvSpPr>
          <p:cNvPr id="23" name="Shape 21"/>
          <p:cNvSpPr/>
          <p:nvPr/>
        </p:nvSpPr>
        <p:spPr>
          <a:xfrm>
            <a:off x="731520" y="4352544"/>
            <a:ext cx="5669280" cy="640080"/>
          </a:xfrm>
          <a:prstGeom prst="roundRect">
            <a:avLst>
              <a:gd name="adj" fmla="val 11429"/>
            </a:avLst>
          </a:prstGeom>
          <a:solidFill>
            <a:srgbClr val="FFFFFF"/>
          </a:solidFill>
          <a:ln w="12700">
            <a:solidFill>
              <a:srgbClr val="E2E8F0"/>
            </a:solidFill>
            <a:prstDash val="solid"/>
          </a:ln>
          <a:effectLst>
            <a:outerShdw blurRad="76200" dist="25400" dir="8100000" algn="bl" rotWithShape="0">
              <a:srgbClr val="94A3B8">
                <a:alpha val="18000"/>
              </a:srgbClr>
            </a:outerShdw>
          </a:effectLst>
        </p:spPr>
      </p:sp>
      <p:sp>
        <p:nvSpPr>
          <p:cNvPr id="24" name="Shape 22"/>
          <p:cNvSpPr/>
          <p:nvPr/>
        </p:nvSpPr>
        <p:spPr>
          <a:xfrm>
            <a:off x="914400" y="4453128"/>
            <a:ext cx="438912" cy="438912"/>
          </a:xfrm>
          <a:prstGeom prst="ellipse">
            <a:avLst/>
          </a:prstGeom>
          <a:solidFill>
            <a:srgbClr val="6366F1"/>
          </a:solidFill>
          <a:ln/>
        </p:spPr>
      </p:sp>
      <p:sp>
        <p:nvSpPr>
          <p:cNvPr id="25" name="Text 23"/>
          <p:cNvSpPr/>
          <p:nvPr/>
        </p:nvSpPr>
        <p:spPr>
          <a:xfrm>
            <a:off x="914400" y="4453128"/>
            <a:ext cx="438912" cy="438912"/>
          </a:xfrm>
          <a:prstGeom prst="rect">
            <a:avLst/>
          </a:prstGeom>
          <a:noFill/>
          <a:ln/>
        </p:spPr>
        <p:txBody>
          <a:bodyPr wrap="square" rtlCol="0" anchor="ctr"/>
          <a:lstStyle/>
          <a:p>
            <a:pPr marL="0" indent="0" algn="ctr">
              <a:buNone/>
            </a:pPr>
            <a:r>
              <a:rPr lang="en-US" sz="1400" b="1" dirty="0">
                <a:solidFill>
                  <a:srgbClr val="FFFFFF"/>
                </a:solidFill>
                <a:latin typeface="Georgia" pitchFamily="34" charset="0"/>
                <a:ea typeface="Georgia" pitchFamily="34" charset="-122"/>
                <a:cs typeface="Georgia" pitchFamily="34" charset="-120"/>
              </a:rPr>
              <a:t>4</a:t>
            </a:r>
            <a:endParaRPr lang="en-US" sz="1400" dirty="0"/>
          </a:p>
        </p:txBody>
      </p:sp>
      <p:sp>
        <p:nvSpPr>
          <p:cNvPr id="26" name="Text 24"/>
          <p:cNvSpPr/>
          <p:nvPr/>
        </p:nvSpPr>
        <p:spPr>
          <a:xfrm>
            <a:off x="1508760" y="4425696"/>
            <a:ext cx="2011680" cy="502920"/>
          </a:xfrm>
          <a:prstGeom prst="rect">
            <a:avLst/>
          </a:prstGeom>
          <a:noFill/>
          <a:ln/>
        </p:spPr>
        <p:txBody>
          <a:bodyPr wrap="square" rtlCol="0" anchor="ctr"/>
          <a:lstStyle/>
          <a:p>
            <a:pPr marL="0" indent="0">
              <a:buNone/>
            </a:pPr>
            <a:r>
              <a:rPr lang="en-US" sz="1400" b="1" dirty="0">
                <a:solidFill>
                  <a:srgbClr val="1E2761"/>
                </a:solidFill>
                <a:latin typeface="Calibri" pitchFamily="34" charset="0"/>
                <a:ea typeface="Calibri" pitchFamily="34" charset="-122"/>
                <a:cs typeface="Calibri" pitchFamily="34" charset="-120"/>
              </a:rPr>
              <a:t>Workflow</a:t>
            </a:r>
            <a:endParaRPr lang="en-US" sz="1400" dirty="0"/>
          </a:p>
        </p:txBody>
      </p:sp>
      <p:sp>
        <p:nvSpPr>
          <p:cNvPr id="27" name="Text 25"/>
          <p:cNvSpPr/>
          <p:nvPr/>
        </p:nvSpPr>
        <p:spPr>
          <a:xfrm>
            <a:off x="3383280" y="4425696"/>
            <a:ext cx="2926080" cy="502920"/>
          </a:xfrm>
          <a:prstGeom prst="rect">
            <a:avLst/>
          </a:prstGeom>
          <a:noFill/>
          <a:ln/>
        </p:spPr>
        <p:txBody>
          <a:bodyPr wrap="square" rtlCol="0" anchor="ctr"/>
          <a:lstStyle/>
          <a:p>
            <a:pPr marL="0" indent="0">
              <a:buNone/>
            </a:pPr>
            <a:r>
              <a:rPr lang="en-US" sz="1150" dirty="0">
                <a:solidFill>
                  <a:srgbClr val="64748B"/>
                </a:solidFill>
                <a:latin typeface="Calibri" pitchFamily="34" charset="0"/>
                <a:ea typeface="Calibri" pitchFamily="34" charset="-122"/>
                <a:cs typeface="Calibri" pitchFamily="34" charset="-120"/>
              </a:rPr>
              <a:t>Soumettre -&gt; valider -&gt; publier</a:t>
            </a:r>
            <a:endParaRPr lang="en-US" sz="1150" dirty="0"/>
          </a:p>
        </p:txBody>
      </p:sp>
      <p:sp>
        <p:nvSpPr>
          <p:cNvPr id="28" name="Shape 26"/>
          <p:cNvSpPr/>
          <p:nvPr/>
        </p:nvSpPr>
        <p:spPr>
          <a:xfrm>
            <a:off x="731520" y="5102352"/>
            <a:ext cx="5669280" cy="640080"/>
          </a:xfrm>
          <a:prstGeom prst="roundRect">
            <a:avLst>
              <a:gd name="adj" fmla="val 11429"/>
            </a:avLst>
          </a:prstGeom>
          <a:solidFill>
            <a:srgbClr val="FFFFFF"/>
          </a:solidFill>
          <a:ln w="12700">
            <a:solidFill>
              <a:srgbClr val="E2E8F0"/>
            </a:solidFill>
            <a:prstDash val="solid"/>
          </a:ln>
          <a:effectLst>
            <a:outerShdw blurRad="76200" dist="25400" dir="8100000" algn="bl" rotWithShape="0">
              <a:srgbClr val="94A3B8">
                <a:alpha val="18000"/>
              </a:srgbClr>
            </a:outerShdw>
          </a:effectLst>
        </p:spPr>
      </p:sp>
      <p:sp>
        <p:nvSpPr>
          <p:cNvPr id="29" name="Shape 27"/>
          <p:cNvSpPr/>
          <p:nvPr/>
        </p:nvSpPr>
        <p:spPr>
          <a:xfrm>
            <a:off x="914400" y="5202936"/>
            <a:ext cx="438912" cy="438912"/>
          </a:xfrm>
          <a:prstGeom prst="ellipse">
            <a:avLst/>
          </a:prstGeom>
          <a:solidFill>
            <a:srgbClr val="6366F1"/>
          </a:solidFill>
          <a:ln/>
        </p:spPr>
      </p:sp>
      <p:sp>
        <p:nvSpPr>
          <p:cNvPr id="30" name="Text 28"/>
          <p:cNvSpPr/>
          <p:nvPr/>
        </p:nvSpPr>
        <p:spPr>
          <a:xfrm>
            <a:off x="914400" y="5202936"/>
            <a:ext cx="438912" cy="438912"/>
          </a:xfrm>
          <a:prstGeom prst="rect">
            <a:avLst/>
          </a:prstGeom>
          <a:noFill/>
          <a:ln/>
        </p:spPr>
        <p:txBody>
          <a:bodyPr wrap="square" rtlCol="0" anchor="ctr"/>
          <a:lstStyle/>
          <a:p>
            <a:pPr marL="0" indent="0" algn="ctr">
              <a:buNone/>
            </a:pPr>
            <a:r>
              <a:rPr lang="en-US" sz="1400" b="1" dirty="0">
                <a:solidFill>
                  <a:srgbClr val="FFFFFF"/>
                </a:solidFill>
                <a:latin typeface="Georgia" pitchFamily="34" charset="0"/>
                <a:ea typeface="Georgia" pitchFamily="34" charset="-122"/>
                <a:cs typeface="Georgia" pitchFamily="34" charset="-120"/>
              </a:rPr>
              <a:t>5</a:t>
            </a:r>
            <a:endParaRPr lang="en-US" sz="1400" dirty="0"/>
          </a:p>
        </p:txBody>
      </p:sp>
      <p:sp>
        <p:nvSpPr>
          <p:cNvPr id="31" name="Text 29"/>
          <p:cNvSpPr/>
          <p:nvPr/>
        </p:nvSpPr>
        <p:spPr>
          <a:xfrm>
            <a:off x="1508760" y="5175504"/>
            <a:ext cx="2011680" cy="502920"/>
          </a:xfrm>
          <a:prstGeom prst="rect">
            <a:avLst/>
          </a:prstGeom>
          <a:noFill/>
          <a:ln/>
        </p:spPr>
        <p:txBody>
          <a:bodyPr wrap="square" rtlCol="0" anchor="ctr"/>
          <a:lstStyle/>
          <a:p>
            <a:pPr marL="0" indent="0">
              <a:buNone/>
            </a:pPr>
            <a:r>
              <a:rPr lang="en-US" sz="1400" b="1" dirty="0">
                <a:solidFill>
                  <a:srgbClr val="1E2761"/>
                </a:solidFill>
                <a:latin typeface="Calibri" pitchFamily="34" charset="0"/>
                <a:ea typeface="Calibri" pitchFamily="34" charset="-122"/>
                <a:cs typeface="Calibri" pitchFamily="34" charset="-120"/>
              </a:rPr>
              <a:t>Diffusion</a:t>
            </a:r>
            <a:endParaRPr lang="en-US" sz="1400" dirty="0"/>
          </a:p>
        </p:txBody>
      </p:sp>
      <p:sp>
        <p:nvSpPr>
          <p:cNvPr id="32" name="Text 30"/>
          <p:cNvSpPr/>
          <p:nvPr/>
        </p:nvSpPr>
        <p:spPr>
          <a:xfrm>
            <a:off x="3383280" y="5175504"/>
            <a:ext cx="2926080" cy="502920"/>
          </a:xfrm>
          <a:prstGeom prst="rect">
            <a:avLst/>
          </a:prstGeom>
          <a:noFill/>
          <a:ln/>
        </p:spPr>
        <p:txBody>
          <a:bodyPr wrap="square" rtlCol="0" anchor="ctr"/>
          <a:lstStyle/>
          <a:p>
            <a:pPr marL="0" indent="0">
              <a:buNone/>
            </a:pPr>
            <a:r>
              <a:rPr lang="en-US" sz="1150" dirty="0">
                <a:solidFill>
                  <a:srgbClr val="64748B"/>
                </a:solidFill>
                <a:latin typeface="Calibri" pitchFamily="34" charset="0"/>
                <a:ea typeface="Calibri" pitchFamily="34" charset="-122"/>
                <a:cs typeface="Calibri" pitchFamily="34" charset="-120"/>
              </a:rPr>
              <a:t>Flux adaptes par canal</a:t>
            </a:r>
            <a:endParaRPr lang="en-US" sz="11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0" y="0"/>
            <a:ext cx="201168" cy="6858000"/>
          </a:xfrm>
          <a:prstGeom prst="rect">
            <a:avLst/>
          </a:prstGeom>
          <a:solidFill>
            <a:srgbClr val="3B82F6"/>
          </a:solidFill>
          <a:ln/>
        </p:spPr>
      </p:sp>
      <p:sp>
        <p:nvSpPr>
          <p:cNvPr id="3" name="Shape 1"/>
          <p:cNvSpPr/>
          <p:nvPr/>
        </p:nvSpPr>
        <p:spPr>
          <a:xfrm>
            <a:off x="640080" y="502920"/>
            <a:ext cx="2377440" cy="384048"/>
          </a:xfrm>
          <a:prstGeom prst="roundRect">
            <a:avLst>
              <a:gd name="adj" fmla="val 50000"/>
            </a:avLst>
          </a:prstGeom>
          <a:solidFill>
            <a:srgbClr val="3B82F6"/>
          </a:solidFill>
          <a:ln/>
        </p:spPr>
      </p:sp>
      <p:sp>
        <p:nvSpPr>
          <p:cNvPr id="4" name="Text 2"/>
          <p:cNvSpPr/>
          <p:nvPr/>
        </p:nvSpPr>
        <p:spPr>
          <a:xfrm>
            <a:off x="640080" y="502920"/>
            <a:ext cx="2377440" cy="384048"/>
          </a:xfrm>
          <a:prstGeom prst="rect">
            <a:avLst/>
          </a:prstGeom>
          <a:noFill/>
          <a:ln/>
        </p:spPr>
        <p:txBody>
          <a:bodyPr wrap="square" rtlCol="0" anchor="ctr"/>
          <a:lstStyle/>
          <a:p>
            <a:pPr marL="0" indent="0" algn="ctr">
              <a:buNone/>
            </a:pPr>
            <a:r>
              <a:rPr lang="en-US" sz="1100" b="1" kern="0" spc="200" dirty="0">
                <a:solidFill>
                  <a:srgbClr val="FFFFFF"/>
                </a:solidFill>
                <a:latin typeface="Calibri" pitchFamily="34" charset="0"/>
                <a:ea typeface="Calibri" pitchFamily="34" charset="-122"/>
                <a:cs typeface="Calibri" pitchFamily="34" charset="-120"/>
              </a:rPr>
              <a:t>TECHNIQUE</a:t>
            </a:r>
            <a:endParaRPr lang="en-US" sz="1100" dirty="0"/>
          </a:p>
        </p:txBody>
      </p:sp>
      <p:sp>
        <p:nvSpPr>
          <p:cNvPr id="5" name="Text 3"/>
          <p:cNvSpPr/>
          <p:nvPr/>
        </p:nvSpPr>
        <p:spPr>
          <a:xfrm>
            <a:off x="640080" y="960120"/>
            <a:ext cx="10881360" cy="731520"/>
          </a:xfrm>
          <a:prstGeom prst="rect">
            <a:avLst/>
          </a:prstGeom>
          <a:noFill/>
          <a:ln/>
        </p:spPr>
        <p:txBody>
          <a:bodyPr wrap="square" rtlCol="0" anchor="ctr"/>
          <a:lstStyle/>
          <a:p>
            <a:pPr marL="0" indent="0">
              <a:buNone/>
            </a:pPr>
            <a:r>
              <a:rPr lang="en-US" sz="2700" b="1" dirty="0">
                <a:solidFill>
                  <a:srgbClr val="1E2761"/>
                </a:solidFill>
                <a:latin typeface="Georgia" pitchFamily="34" charset="0"/>
                <a:ea typeface="Georgia" pitchFamily="34" charset="-122"/>
                <a:cs typeface="Georgia" pitchFamily="34" charset="-120"/>
              </a:rPr>
              <a:t>Architecture trois tiers</a:t>
            </a:r>
            <a:endParaRPr lang="en-US" sz="2700" dirty="0"/>
          </a:p>
        </p:txBody>
      </p:sp>
      <p:sp>
        <p:nvSpPr>
          <p:cNvPr id="6" name="Shape 4"/>
          <p:cNvSpPr/>
          <p:nvPr/>
        </p:nvSpPr>
        <p:spPr>
          <a:xfrm>
            <a:off x="640080" y="1664208"/>
            <a:ext cx="2011680" cy="0"/>
          </a:xfrm>
          <a:prstGeom prst="line">
            <a:avLst/>
          </a:prstGeom>
          <a:noFill/>
          <a:ln w="31750">
            <a:solidFill>
              <a:srgbClr val="3B82F6"/>
            </a:solidFill>
            <a:prstDash val="solid"/>
          </a:ln>
        </p:spPr>
      </p:sp>
      <p:sp>
        <p:nvSpPr>
          <p:cNvPr id="7" name="Text 5"/>
          <p:cNvSpPr/>
          <p:nvPr/>
        </p:nvSpPr>
        <p:spPr>
          <a:xfrm>
            <a:off x="11338560" y="6400800"/>
            <a:ext cx="548640" cy="274320"/>
          </a:xfrm>
          <a:prstGeom prst="rect">
            <a:avLst/>
          </a:prstGeom>
          <a:noFill/>
          <a:ln/>
        </p:spPr>
        <p:txBody>
          <a:bodyPr wrap="square" rtlCol="0" anchor="ctr"/>
          <a:lstStyle/>
          <a:p>
            <a:pPr marL="0" indent="0" algn="r">
              <a:buNone/>
            </a:pPr>
            <a:r>
              <a:rPr lang="en-US" sz="1000" dirty="0">
                <a:solidFill>
                  <a:srgbClr val="64748B"/>
                </a:solidFill>
                <a:latin typeface="Calibri" pitchFamily="34" charset="0"/>
                <a:ea typeface="Calibri" pitchFamily="34" charset="-122"/>
                <a:cs typeface="Calibri" pitchFamily="34" charset="-120"/>
              </a:rPr>
              <a:t>08</a:t>
            </a:r>
            <a:endParaRPr lang="en-US" sz="1000" dirty="0"/>
          </a:p>
        </p:txBody>
      </p:sp>
      <p:pic>
        <p:nvPicPr>
          <p:cNvPr id="8" name="Image 0" descr="architecture.png"/>
          <p:cNvPicPr>
            <a:picLocks noChangeAspect="1"/>
          </p:cNvPicPr>
          <p:nvPr/>
        </p:nvPicPr>
        <p:blipFill>
          <a:blip r:embed="rId3"/>
          <a:stretch>
            <a:fillRect/>
          </a:stretch>
        </p:blipFill>
        <p:spPr>
          <a:xfrm>
            <a:off x="2901008" y="1920240"/>
            <a:ext cx="6359505" cy="4023360"/>
          </a:xfrm>
          <a:prstGeom prst="rect">
            <a:avLst/>
          </a:prstGeom>
        </p:spPr>
      </p:pic>
      <p:sp>
        <p:nvSpPr>
          <p:cNvPr id="9" name="Text 6"/>
          <p:cNvSpPr/>
          <p:nvPr/>
        </p:nvSpPr>
        <p:spPr>
          <a:xfrm>
            <a:off x="640080" y="5989320"/>
            <a:ext cx="10881360" cy="457200"/>
          </a:xfrm>
          <a:prstGeom prst="rect">
            <a:avLst/>
          </a:prstGeom>
          <a:noFill/>
          <a:ln/>
        </p:spPr>
        <p:txBody>
          <a:bodyPr wrap="square" rtlCol="0" anchor="ctr"/>
          <a:lstStyle/>
          <a:p>
            <a:pPr marL="0" indent="0" algn="ctr">
              <a:buNone/>
            </a:pPr>
            <a:r>
              <a:rPr lang="en-US" sz="1300" i="1" dirty="0">
                <a:solidFill>
                  <a:srgbClr val="64748B"/>
                </a:solidFill>
                <a:latin typeface="Calibri" pitchFamily="34" charset="0"/>
                <a:ea typeface="Calibri" pitchFamily="34" charset="-122"/>
                <a:cs typeface="Calibri" pitchFamily="34" charset="-120"/>
              </a:rPr>
              <a:t>Presentation (React) . Metier (FastAPI + IA de vision) . Donnees (SQLAlchemy) - couplage faible par API REST/JWT</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0" y="0"/>
            <a:ext cx="201168" cy="6858000"/>
          </a:xfrm>
          <a:prstGeom prst="rect">
            <a:avLst/>
          </a:prstGeom>
          <a:solidFill>
            <a:srgbClr val="3B82F6"/>
          </a:solidFill>
          <a:ln/>
        </p:spPr>
      </p:sp>
      <p:sp>
        <p:nvSpPr>
          <p:cNvPr id="3" name="Shape 1"/>
          <p:cNvSpPr/>
          <p:nvPr/>
        </p:nvSpPr>
        <p:spPr>
          <a:xfrm>
            <a:off x="640080" y="502920"/>
            <a:ext cx="2377440" cy="384048"/>
          </a:xfrm>
          <a:prstGeom prst="roundRect">
            <a:avLst>
              <a:gd name="adj" fmla="val 50000"/>
            </a:avLst>
          </a:prstGeom>
          <a:solidFill>
            <a:srgbClr val="3B82F6"/>
          </a:solidFill>
          <a:ln/>
        </p:spPr>
      </p:sp>
      <p:sp>
        <p:nvSpPr>
          <p:cNvPr id="4" name="Text 2"/>
          <p:cNvSpPr/>
          <p:nvPr/>
        </p:nvSpPr>
        <p:spPr>
          <a:xfrm>
            <a:off x="640080" y="502920"/>
            <a:ext cx="2377440" cy="384048"/>
          </a:xfrm>
          <a:prstGeom prst="rect">
            <a:avLst/>
          </a:prstGeom>
          <a:noFill/>
          <a:ln/>
        </p:spPr>
        <p:txBody>
          <a:bodyPr wrap="square" rtlCol="0" anchor="ctr"/>
          <a:lstStyle/>
          <a:p>
            <a:pPr marL="0" indent="0" algn="ctr">
              <a:buNone/>
            </a:pPr>
            <a:r>
              <a:rPr lang="en-US" sz="1100" b="1" kern="0" spc="200" dirty="0">
                <a:solidFill>
                  <a:srgbClr val="FFFFFF"/>
                </a:solidFill>
                <a:latin typeface="Calibri" pitchFamily="34" charset="0"/>
                <a:ea typeface="Calibri" pitchFamily="34" charset="-122"/>
                <a:cs typeface="Calibri" pitchFamily="34" charset="-120"/>
              </a:rPr>
              <a:t>TECHNIQUE</a:t>
            </a:r>
            <a:endParaRPr lang="en-US" sz="1100" dirty="0"/>
          </a:p>
        </p:txBody>
      </p:sp>
      <p:sp>
        <p:nvSpPr>
          <p:cNvPr id="5" name="Text 3"/>
          <p:cNvSpPr/>
          <p:nvPr/>
        </p:nvSpPr>
        <p:spPr>
          <a:xfrm>
            <a:off x="640080" y="960120"/>
            <a:ext cx="10881360" cy="731520"/>
          </a:xfrm>
          <a:prstGeom prst="rect">
            <a:avLst/>
          </a:prstGeom>
          <a:noFill/>
          <a:ln/>
        </p:spPr>
        <p:txBody>
          <a:bodyPr wrap="square" rtlCol="0" anchor="ctr"/>
          <a:lstStyle/>
          <a:p>
            <a:pPr marL="0" indent="0">
              <a:buNone/>
            </a:pPr>
            <a:r>
              <a:rPr lang="en-US" sz="2700" b="1" dirty="0">
                <a:solidFill>
                  <a:srgbClr val="1E2761"/>
                </a:solidFill>
                <a:latin typeface="Georgia" pitchFamily="34" charset="0"/>
                <a:ea typeface="Georgia" pitchFamily="34" charset="-122"/>
                <a:cs typeface="Georgia" pitchFamily="34" charset="-120"/>
              </a:rPr>
              <a:t>Extraction par IA de vision (Gemini)</a:t>
            </a:r>
            <a:endParaRPr lang="en-US" sz="2700" dirty="0"/>
          </a:p>
        </p:txBody>
      </p:sp>
      <p:sp>
        <p:nvSpPr>
          <p:cNvPr id="6" name="Shape 4"/>
          <p:cNvSpPr/>
          <p:nvPr/>
        </p:nvSpPr>
        <p:spPr>
          <a:xfrm>
            <a:off x="640080" y="1664208"/>
            <a:ext cx="2011680" cy="0"/>
          </a:xfrm>
          <a:prstGeom prst="line">
            <a:avLst/>
          </a:prstGeom>
          <a:noFill/>
          <a:ln w="31750">
            <a:solidFill>
              <a:srgbClr val="3B82F6"/>
            </a:solidFill>
            <a:prstDash val="solid"/>
          </a:ln>
        </p:spPr>
      </p:sp>
      <p:sp>
        <p:nvSpPr>
          <p:cNvPr id="7" name="Text 5"/>
          <p:cNvSpPr/>
          <p:nvPr/>
        </p:nvSpPr>
        <p:spPr>
          <a:xfrm>
            <a:off x="11338560" y="6400800"/>
            <a:ext cx="548640" cy="274320"/>
          </a:xfrm>
          <a:prstGeom prst="rect">
            <a:avLst/>
          </a:prstGeom>
          <a:noFill/>
          <a:ln/>
        </p:spPr>
        <p:txBody>
          <a:bodyPr wrap="square" rtlCol="0" anchor="ctr"/>
          <a:lstStyle/>
          <a:p>
            <a:pPr marL="0" indent="0" algn="r">
              <a:buNone/>
            </a:pPr>
            <a:r>
              <a:rPr lang="en-US" sz="1000" dirty="0">
                <a:solidFill>
                  <a:srgbClr val="64748B"/>
                </a:solidFill>
                <a:latin typeface="Calibri" pitchFamily="34" charset="0"/>
                <a:ea typeface="Calibri" pitchFamily="34" charset="-122"/>
                <a:cs typeface="Calibri" pitchFamily="34" charset="-120"/>
              </a:rPr>
              <a:t>09</a:t>
            </a:r>
            <a:endParaRPr lang="en-US" sz="1000" dirty="0"/>
          </a:p>
        </p:txBody>
      </p:sp>
      <p:sp>
        <p:nvSpPr>
          <p:cNvPr id="8" name="Shape 6"/>
          <p:cNvSpPr/>
          <p:nvPr/>
        </p:nvSpPr>
        <p:spPr>
          <a:xfrm>
            <a:off x="640080" y="2103120"/>
            <a:ext cx="5212080" cy="3840480"/>
          </a:xfrm>
          <a:prstGeom prst="roundRect">
            <a:avLst>
              <a:gd name="adj" fmla="val 1905"/>
            </a:avLst>
          </a:prstGeom>
          <a:solidFill>
            <a:srgbClr val="FFFFFF"/>
          </a:solidFill>
          <a:ln w="12700">
            <a:solidFill>
              <a:srgbClr val="E2E8F0"/>
            </a:solidFill>
            <a:prstDash val="solid"/>
          </a:ln>
          <a:effectLst>
            <a:outerShdw blurRad="76200" dist="25400" dir="8100000" algn="bl" rotWithShape="0">
              <a:srgbClr val="94A3B8">
                <a:alpha val="18000"/>
              </a:srgbClr>
            </a:outerShdw>
          </a:effectLst>
        </p:spPr>
      </p:sp>
      <p:sp>
        <p:nvSpPr>
          <p:cNvPr id="9" name="Text 7"/>
          <p:cNvSpPr/>
          <p:nvPr/>
        </p:nvSpPr>
        <p:spPr>
          <a:xfrm>
            <a:off x="914400" y="2286000"/>
            <a:ext cx="4572000" cy="457200"/>
          </a:xfrm>
          <a:prstGeom prst="rect">
            <a:avLst/>
          </a:prstGeom>
          <a:noFill/>
          <a:ln/>
        </p:spPr>
        <p:txBody>
          <a:bodyPr wrap="square" rtlCol="0" anchor="ctr"/>
          <a:lstStyle/>
          <a:p>
            <a:pPr marL="0" indent="0">
              <a:buNone/>
            </a:pPr>
            <a:r>
              <a:rPr lang="en-US" sz="1700" b="1" dirty="0">
                <a:solidFill>
                  <a:srgbClr val="6366F1"/>
                </a:solidFill>
                <a:latin typeface="Calibri" pitchFamily="34" charset="0"/>
                <a:ea typeface="Calibri" pitchFamily="34" charset="-122"/>
                <a:cs typeface="Calibri" pitchFamily="34" charset="-120"/>
              </a:rPr>
              <a:t>Principe</a:t>
            </a:r>
            <a:endParaRPr lang="en-US" sz="1700" dirty="0"/>
          </a:p>
        </p:txBody>
      </p:sp>
      <p:sp>
        <p:nvSpPr>
          <p:cNvPr id="10" name="Text 8"/>
          <p:cNvSpPr/>
          <p:nvPr/>
        </p:nvSpPr>
        <p:spPr>
          <a:xfrm>
            <a:off x="914400" y="2834640"/>
            <a:ext cx="4754880" cy="2926080"/>
          </a:xfrm>
          <a:prstGeom prst="rect">
            <a:avLst/>
          </a:prstGeom>
          <a:noFill/>
          <a:ln/>
        </p:spPr>
        <p:txBody>
          <a:bodyPr wrap="square" rtlCol="0" anchor="ctr"/>
          <a:lstStyle/>
          <a:p>
            <a:pPr marL="342900" indent="-342900">
              <a:lnSpc>
                <a:spcPct val="140000"/>
              </a:lnSpc>
              <a:buSzPct val="100000"/>
              <a:buChar char="•"/>
            </a:pPr>
            <a:r>
              <a:rPr lang="en-US" sz="1450" dirty="0">
                <a:solidFill>
                  <a:srgbClr val="1E293B"/>
                </a:solidFill>
                <a:latin typeface="Calibri" pitchFamily="34" charset="0"/>
                <a:ea typeface="Calibri" pitchFamily="34" charset="-122"/>
                <a:cs typeface="Calibri" pitchFamily="34" charset="-120"/>
              </a:rPr>
              <a:t>Image encodee en base64 cote serveur</a:t>
            </a:r>
            <a:endParaRPr lang="en-US" sz="1450" dirty="0"/>
          </a:p>
          <a:p>
            <a:pPr marL="342900" indent="-342900">
              <a:lnSpc>
                <a:spcPct val="140000"/>
              </a:lnSpc>
              <a:buSzPct val="100000"/>
              <a:buChar char="•"/>
            </a:pPr>
            <a:r>
              <a:rPr lang="en-US" sz="1450" dirty="0">
                <a:solidFill>
                  <a:srgbClr val="1E293B"/>
                </a:solidFill>
                <a:latin typeface="Calibri" pitchFamily="34" charset="0"/>
                <a:ea typeface="Calibri" pitchFamily="34" charset="-122"/>
                <a:cs typeface="Calibri" pitchFamily="34" charset="-120"/>
              </a:rPr>
              <a:t>Prompt strict -&gt; reponse imposee en JSON</a:t>
            </a:r>
            <a:endParaRPr lang="en-US" sz="1450" dirty="0"/>
          </a:p>
          <a:p>
            <a:pPr marL="342900" indent="-342900">
              <a:lnSpc>
                <a:spcPct val="140000"/>
              </a:lnSpc>
              <a:buSzPct val="100000"/>
              <a:buChar char="•"/>
            </a:pPr>
            <a:r>
              <a:rPr lang="en-US" sz="1450" dirty="0">
                <a:solidFill>
                  <a:srgbClr val="1E293B"/>
                </a:solidFill>
                <a:latin typeface="Calibri" pitchFamily="34" charset="0"/>
                <a:ea typeface="Calibri" pitchFamily="34" charset="-122"/>
                <a:cs typeface="Calibri" pitchFamily="34" charset="-120"/>
              </a:rPr>
              <a:t>Cle API dans .env, jamais exposee au front</a:t>
            </a:r>
            <a:endParaRPr lang="en-US" sz="1450" dirty="0"/>
          </a:p>
          <a:p>
            <a:pPr marL="342900" indent="-342900">
              <a:lnSpc>
                <a:spcPct val="140000"/>
              </a:lnSpc>
              <a:buSzPct val="100000"/>
              <a:buChar char="•"/>
            </a:pPr>
            <a:r>
              <a:rPr lang="en-US" sz="1450" dirty="0">
                <a:solidFill>
                  <a:srgbClr val="1E293B"/>
                </a:solidFill>
                <a:latin typeface="Calibri" pitchFamily="34" charset="0"/>
                <a:ea typeface="Calibri" pitchFamily="34" charset="-122"/>
                <a:cs typeface="Calibri" pitchFamily="34" charset="-120"/>
              </a:rPr>
              <a:t>IA remplacable sans toucher au reste</a:t>
            </a:r>
            <a:endParaRPr lang="en-US" sz="1450" dirty="0"/>
          </a:p>
        </p:txBody>
      </p:sp>
      <p:sp>
        <p:nvSpPr>
          <p:cNvPr id="11" name="Shape 9"/>
          <p:cNvSpPr/>
          <p:nvPr/>
        </p:nvSpPr>
        <p:spPr>
          <a:xfrm>
            <a:off x="6035040" y="2103120"/>
            <a:ext cx="5394960" cy="3840480"/>
          </a:xfrm>
          <a:prstGeom prst="roundRect">
            <a:avLst>
              <a:gd name="adj" fmla="val 1905"/>
            </a:avLst>
          </a:prstGeom>
          <a:solidFill>
            <a:srgbClr val="FFFFFF"/>
          </a:solidFill>
          <a:ln w="12700">
            <a:solidFill>
              <a:srgbClr val="E2E8F0"/>
            </a:solidFill>
            <a:prstDash val="solid"/>
          </a:ln>
          <a:effectLst>
            <a:outerShdw blurRad="76200" dist="25400" dir="8100000" algn="bl" rotWithShape="0">
              <a:srgbClr val="94A3B8">
                <a:alpha val="18000"/>
              </a:srgbClr>
            </a:outerShdw>
          </a:effectLst>
        </p:spPr>
      </p:sp>
      <p:sp>
        <p:nvSpPr>
          <p:cNvPr id="12" name="Text 10"/>
          <p:cNvSpPr/>
          <p:nvPr/>
        </p:nvSpPr>
        <p:spPr>
          <a:xfrm>
            <a:off x="6309360" y="2286000"/>
            <a:ext cx="4572000" cy="457200"/>
          </a:xfrm>
          <a:prstGeom prst="rect">
            <a:avLst/>
          </a:prstGeom>
          <a:noFill/>
          <a:ln/>
        </p:spPr>
        <p:txBody>
          <a:bodyPr wrap="square" rtlCol="0" anchor="ctr"/>
          <a:lstStyle/>
          <a:p>
            <a:pPr marL="0" indent="0">
              <a:buNone/>
            </a:pPr>
            <a:r>
              <a:rPr lang="en-US" sz="1700" b="1" dirty="0">
                <a:solidFill>
                  <a:srgbClr val="6366F1"/>
                </a:solidFill>
                <a:latin typeface="Calibri" pitchFamily="34" charset="0"/>
                <a:ea typeface="Calibri" pitchFamily="34" charset="-122"/>
                <a:cs typeface="Calibri" pitchFamily="34" charset="-120"/>
              </a:rPr>
              <a:t>Sortie structuree (exemple reel)</a:t>
            </a:r>
            <a:endParaRPr lang="en-US" sz="1700" dirty="0"/>
          </a:p>
        </p:txBody>
      </p:sp>
      <p:sp>
        <p:nvSpPr>
          <p:cNvPr id="13" name="Text 11"/>
          <p:cNvSpPr/>
          <p:nvPr/>
        </p:nvSpPr>
        <p:spPr>
          <a:xfrm>
            <a:off x="6309360" y="2788920"/>
            <a:ext cx="4937760" cy="2926080"/>
          </a:xfrm>
          <a:prstGeom prst="rect">
            <a:avLst/>
          </a:prstGeom>
          <a:noFill/>
          <a:ln/>
        </p:spPr>
        <p:txBody>
          <a:bodyPr wrap="square" rtlCol="0" anchor="ctr"/>
          <a:lstStyle/>
          <a:p>
            <a:pPr marL="0" indent="0">
              <a:lnSpc>
                <a:spcPct val="110000"/>
              </a:lnSpc>
              <a:buNone/>
            </a:pPr>
            <a:r>
              <a:rPr lang="en-US" sz="1200" dirty="0">
                <a:solidFill>
                  <a:srgbClr val="1E293B"/>
                </a:solidFill>
                <a:latin typeface="Consolas" pitchFamily="34" charset="0"/>
                <a:ea typeface="Consolas" pitchFamily="34" charset="-122"/>
                <a:cs typeface="Consolas" pitchFamily="34" charset="-120"/>
              </a:rPr>
              <a:t>{</a:t>
            </a:r>
            <a:endParaRPr lang="en-US" sz="1200" dirty="0"/>
          </a:p>
          <a:p>
            <a:pPr marL="0" indent="0">
              <a:lnSpc>
                <a:spcPct val="110000"/>
              </a:lnSpc>
              <a:buNone/>
            </a:pPr>
            <a:r>
              <a:rPr lang="en-US" sz="1200" dirty="0">
                <a:solidFill>
                  <a:srgbClr val="1E293B"/>
                </a:solidFill>
                <a:latin typeface="Consolas" pitchFamily="34" charset="0"/>
                <a:ea typeface="Consolas" pitchFamily="34" charset="-122"/>
                <a:cs typeface="Consolas" pitchFamily="34" charset="-120"/>
              </a:rPr>
              <a:t>  "nom_produit": "Mont Roucous",</a:t>
            </a:r>
            <a:endParaRPr lang="en-US" sz="1200" dirty="0"/>
          </a:p>
          <a:p>
            <a:pPr marL="0" indent="0">
              <a:lnSpc>
                <a:spcPct val="110000"/>
              </a:lnSpc>
              <a:buNone/>
            </a:pPr>
            <a:r>
              <a:rPr lang="en-US" sz="1200" dirty="0">
                <a:solidFill>
                  <a:srgbClr val="1E293B"/>
                </a:solidFill>
                <a:latin typeface="Consolas" pitchFamily="34" charset="0"/>
                <a:ea typeface="Consolas" pitchFamily="34" charset="-122"/>
                <a:cs typeface="Consolas" pitchFamily="34" charset="-120"/>
              </a:rPr>
              <a:t>  "marque": "Mont Roucous",</a:t>
            </a:r>
            <a:endParaRPr lang="en-US" sz="1200" dirty="0"/>
          </a:p>
          <a:p>
            <a:pPr marL="0" indent="0">
              <a:lnSpc>
                <a:spcPct val="110000"/>
              </a:lnSpc>
              <a:buNone/>
            </a:pPr>
            <a:r>
              <a:rPr lang="en-US" sz="1200" dirty="0">
                <a:solidFill>
                  <a:srgbClr val="1E293B"/>
                </a:solidFill>
                <a:latin typeface="Consolas" pitchFamily="34" charset="0"/>
                <a:ea typeface="Consolas" pitchFamily="34" charset="-122"/>
                <a:cs typeface="Consolas" pitchFamily="34" charset="-120"/>
              </a:rPr>
              <a:t>  "ean": "3257971080112",</a:t>
            </a:r>
            <a:endParaRPr lang="en-US" sz="1200" dirty="0"/>
          </a:p>
          <a:p>
            <a:pPr marL="0" indent="0">
              <a:lnSpc>
                <a:spcPct val="110000"/>
              </a:lnSpc>
              <a:buNone/>
            </a:pPr>
            <a:r>
              <a:rPr lang="en-US" sz="1200" dirty="0">
                <a:solidFill>
                  <a:srgbClr val="1E293B"/>
                </a:solidFill>
                <a:latin typeface="Consolas" pitchFamily="34" charset="0"/>
                <a:ea typeface="Consolas" pitchFamily="34" charset="-122"/>
                <a:cs typeface="Consolas" pitchFamily="34" charset="-120"/>
              </a:rPr>
              <a:t>  "categorie": "Eau",</a:t>
            </a:r>
            <a:endParaRPr lang="en-US" sz="1200" dirty="0"/>
          </a:p>
          <a:p>
            <a:pPr marL="0" indent="0">
              <a:lnSpc>
                <a:spcPct val="110000"/>
              </a:lnSpc>
              <a:buNone/>
            </a:pPr>
            <a:r>
              <a:rPr lang="en-US" sz="1200" dirty="0">
                <a:solidFill>
                  <a:srgbClr val="1E293B"/>
                </a:solidFill>
                <a:latin typeface="Consolas" pitchFamily="34" charset="0"/>
                <a:ea typeface="Consolas" pitchFamily="34" charset="-122"/>
                <a:cs typeface="Consolas" pitchFamily="34" charset="-120"/>
              </a:rPr>
              <a:t>  "contenance": "1,5 L",</a:t>
            </a:r>
            <a:endParaRPr lang="en-US" sz="1200" dirty="0"/>
          </a:p>
          <a:p>
            <a:pPr marL="0" indent="0">
              <a:lnSpc>
                <a:spcPct val="110000"/>
              </a:lnSpc>
              <a:buNone/>
            </a:pPr>
            <a:r>
              <a:rPr lang="en-US" sz="1200" dirty="0">
                <a:solidFill>
                  <a:srgbClr val="1E293B"/>
                </a:solidFill>
                <a:latin typeface="Consolas" pitchFamily="34" charset="0"/>
                <a:ea typeface="Consolas" pitchFamily="34" charset="-122"/>
                <a:cs typeface="Consolas" pitchFamily="34" charset="-120"/>
              </a:rPr>
              <a:t>  "pays_origine": "France",</a:t>
            </a:r>
            <a:endParaRPr lang="en-US" sz="1200" dirty="0"/>
          </a:p>
          <a:p>
            <a:pPr marL="0" indent="0">
              <a:lnSpc>
                <a:spcPct val="110000"/>
              </a:lnSpc>
              <a:buNone/>
            </a:pPr>
            <a:r>
              <a:rPr lang="en-US" sz="1200" dirty="0">
                <a:solidFill>
                  <a:srgbClr val="1E293B"/>
                </a:solidFill>
                <a:latin typeface="Consolas" pitchFamily="34" charset="0"/>
                <a:ea typeface="Consolas" pitchFamily="34" charset="-122"/>
                <a:cs typeface="Consolas" pitchFamily="34" charset="-120"/>
              </a:rPr>
              <a:t>  "composition": [</a:t>
            </a:r>
            <a:endParaRPr lang="en-US" sz="1200" dirty="0"/>
          </a:p>
          <a:p>
            <a:pPr marL="0" indent="0">
              <a:lnSpc>
                <a:spcPct val="110000"/>
              </a:lnSpc>
              <a:buNone/>
            </a:pPr>
            <a:r>
              <a:rPr lang="en-US" sz="1200" dirty="0">
                <a:solidFill>
                  <a:srgbClr val="1E293B"/>
                </a:solidFill>
                <a:latin typeface="Consolas" pitchFamily="34" charset="0"/>
                <a:ea typeface="Consolas" pitchFamily="34" charset="-122"/>
                <a:cs typeface="Consolas" pitchFamily="34" charset="-120"/>
              </a:rPr>
              <a:t>    {"libelle":"Calcium","valeur":"1,20 mg/l"}</a:t>
            </a:r>
            <a:endParaRPr lang="en-US" sz="1200" dirty="0"/>
          </a:p>
          <a:p>
            <a:pPr marL="0" indent="0">
              <a:lnSpc>
                <a:spcPct val="110000"/>
              </a:lnSpc>
              <a:buNone/>
            </a:pPr>
            <a:r>
              <a:rPr lang="en-US" sz="1200" dirty="0">
                <a:solidFill>
                  <a:srgbClr val="1E293B"/>
                </a:solidFill>
                <a:latin typeface="Consolas" pitchFamily="34" charset="0"/>
                <a:ea typeface="Consolas" pitchFamily="34" charset="-122"/>
                <a:cs typeface="Consolas" pitchFamily="34" charset="-120"/>
              </a:rPr>
              <a:t>  ]</a:t>
            </a:r>
            <a:endParaRPr lang="en-US" sz="1200" dirty="0"/>
          </a:p>
          <a:p>
            <a:pPr marL="0" indent="0">
              <a:lnSpc>
                <a:spcPct val="110000"/>
              </a:lnSpc>
              <a:buNone/>
            </a:pPr>
            <a:r>
              <a:rPr lang="en-US" sz="1200" dirty="0">
                <a:solidFill>
                  <a:srgbClr val="1E293B"/>
                </a:solidFill>
                <a:latin typeface="Consolas" pitchFamily="34" charset="0"/>
                <a:ea typeface="Consolas" pitchFamily="34" charset="-122"/>
                <a:cs typeface="Consolas" pitchFamily="34" charset="-120"/>
              </a:rPr>
              <a:t>}</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0" y="0"/>
            <a:ext cx="201168" cy="6858000"/>
          </a:xfrm>
          <a:prstGeom prst="rect">
            <a:avLst/>
          </a:prstGeom>
          <a:solidFill>
            <a:srgbClr val="3B82F6"/>
          </a:solidFill>
          <a:ln/>
        </p:spPr>
      </p:sp>
      <p:sp>
        <p:nvSpPr>
          <p:cNvPr id="3" name="Shape 1"/>
          <p:cNvSpPr/>
          <p:nvPr/>
        </p:nvSpPr>
        <p:spPr>
          <a:xfrm>
            <a:off x="640080" y="502920"/>
            <a:ext cx="2377440" cy="384048"/>
          </a:xfrm>
          <a:prstGeom prst="roundRect">
            <a:avLst>
              <a:gd name="adj" fmla="val 50000"/>
            </a:avLst>
          </a:prstGeom>
          <a:solidFill>
            <a:srgbClr val="3B82F6"/>
          </a:solidFill>
          <a:ln/>
        </p:spPr>
      </p:sp>
      <p:sp>
        <p:nvSpPr>
          <p:cNvPr id="4" name="Text 2"/>
          <p:cNvSpPr/>
          <p:nvPr/>
        </p:nvSpPr>
        <p:spPr>
          <a:xfrm>
            <a:off x="640080" y="502920"/>
            <a:ext cx="2377440" cy="384048"/>
          </a:xfrm>
          <a:prstGeom prst="rect">
            <a:avLst/>
          </a:prstGeom>
          <a:noFill/>
          <a:ln/>
        </p:spPr>
        <p:txBody>
          <a:bodyPr wrap="square" rtlCol="0" anchor="ctr"/>
          <a:lstStyle/>
          <a:p>
            <a:pPr marL="0" indent="0" algn="ctr">
              <a:buNone/>
            </a:pPr>
            <a:r>
              <a:rPr lang="en-US" sz="1100" b="1" kern="0" spc="200" dirty="0">
                <a:solidFill>
                  <a:srgbClr val="FFFFFF"/>
                </a:solidFill>
                <a:latin typeface="Calibri" pitchFamily="34" charset="0"/>
                <a:ea typeface="Calibri" pitchFamily="34" charset="-122"/>
                <a:cs typeface="Calibri" pitchFamily="34" charset="-120"/>
              </a:rPr>
              <a:t>TECHNIQUE</a:t>
            </a:r>
            <a:endParaRPr lang="en-US" sz="1100" dirty="0"/>
          </a:p>
        </p:txBody>
      </p:sp>
      <p:sp>
        <p:nvSpPr>
          <p:cNvPr id="5" name="Text 3"/>
          <p:cNvSpPr/>
          <p:nvPr/>
        </p:nvSpPr>
        <p:spPr>
          <a:xfrm>
            <a:off x="640080" y="960120"/>
            <a:ext cx="10881360" cy="731520"/>
          </a:xfrm>
          <a:prstGeom prst="rect">
            <a:avLst/>
          </a:prstGeom>
          <a:noFill/>
          <a:ln/>
        </p:spPr>
        <p:txBody>
          <a:bodyPr wrap="square" rtlCol="0" anchor="ctr"/>
          <a:lstStyle/>
          <a:p>
            <a:pPr marL="0" indent="0">
              <a:buNone/>
            </a:pPr>
            <a:r>
              <a:rPr lang="en-US" sz="2700" b="1" dirty="0">
                <a:solidFill>
                  <a:srgbClr val="1E2761"/>
                </a:solidFill>
                <a:latin typeface="Georgia" pitchFamily="34" charset="0"/>
                <a:ea typeface="Georgia" pitchFamily="34" charset="-122"/>
                <a:cs typeface="Georgia" pitchFamily="34" charset="-120"/>
              </a:rPr>
              <a:t>Modele de donnees (MCD Merise)</a:t>
            </a:r>
            <a:endParaRPr lang="en-US" sz="2700" dirty="0"/>
          </a:p>
        </p:txBody>
      </p:sp>
      <p:sp>
        <p:nvSpPr>
          <p:cNvPr id="6" name="Shape 4"/>
          <p:cNvSpPr/>
          <p:nvPr/>
        </p:nvSpPr>
        <p:spPr>
          <a:xfrm>
            <a:off x="640080" y="1664208"/>
            <a:ext cx="2011680" cy="0"/>
          </a:xfrm>
          <a:prstGeom prst="line">
            <a:avLst/>
          </a:prstGeom>
          <a:noFill/>
          <a:ln w="31750">
            <a:solidFill>
              <a:srgbClr val="3B82F6"/>
            </a:solidFill>
            <a:prstDash val="solid"/>
          </a:ln>
        </p:spPr>
      </p:sp>
      <p:sp>
        <p:nvSpPr>
          <p:cNvPr id="7" name="Text 5"/>
          <p:cNvSpPr/>
          <p:nvPr/>
        </p:nvSpPr>
        <p:spPr>
          <a:xfrm>
            <a:off x="11338560" y="6400800"/>
            <a:ext cx="548640" cy="274320"/>
          </a:xfrm>
          <a:prstGeom prst="rect">
            <a:avLst/>
          </a:prstGeom>
          <a:noFill/>
          <a:ln/>
        </p:spPr>
        <p:txBody>
          <a:bodyPr wrap="square" rtlCol="0" anchor="ctr"/>
          <a:lstStyle/>
          <a:p>
            <a:pPr marL="0" indent="0" algn="r">
              <a:buNone/>
            </a:pPr>
            <a:r>
              <a:rPr lang="en-US" sz="1000" dirty="0">
                <a:solidFill>
                  <a:srgbClr val="64748B"/>
                </a:solidFill>
                <a:latin typeface="Calibri" pitchFamily="34" charset="0"/>
                <a:ea typeface="Calibri" pitchFamily="34" charset="-122"/>
                <a:cs typeface="Calibri" pitchFamily="34" charset="-120"/>
              </a:rPr>
              <a:t>10</a:t>
            </a:r>
            <a:endParaRPr lang="en-US" sz="1000" dirty="0"/>
          </a:p>
        </p:txBody>
      </p:sp>
      <p:pic>
        <p:nvPicPr>
          <p:cNvPr id="8" name="Image 0" descr="diagrams/05_mcd_merise.png"/>
          <p:cNvPicPr>
            <a:picLocks noChangeAspect="1"/>
          </p:cNvPicPr>
          <p:nvPr/>
        </p:nvPicPr>
        <p:blipFill>
          <a:blip r:embed="rId3"/>
          <a:stretch>
            <a:fillRect/>
          </a:stretch>
        </p:blipFill>
        <p:spPr>
          <a:xfrm>
            <a:off x="3264408" y="1920240"/>
            <a:ext cx="5632704" cy="4023360"/>
          </a:xfrm>
          <a:prstGeom prst="rect">
            <a:avLst/>
          </a:prstGeom>
        </p:spPr>
      </p:pic>
      <p:sp>
        <p:nvSpPr>
          <p:cNvPr id="9" name="Text 6"/>
          <p:cNvSpPr/>
          <p:nvPr/>
        </p:nvSpPr>
        <p:spPr>
          <a:xfrm>
            <a:off x="640080" y="5989320"/>
            <a:ext cx="10881360" cy="457200"/>
          </a:xfrm>
          <a:prstGeom prst="rect">
            <a:avLst/>
          </a:prstGeom>
          <a:noFill/>
          <a:ln/>
        </p:spPr>
        <p:txBody>
          <a:bodyPr wrap="square" rtlCol="0" anchor="ctr"/>
          <a:lstStyle/>
          <a:p>
            <a:pPr marL="0" indent="0" algn="ctr">
              <a:buNone/>
            </a:pPr>
            <a:r>
              <a:rPr lang="en-US" sz="1300" i="1" dirty="0">
                <a:solidFill>
                  <a:srgbClr val="64748B"/>
                </a:solidFill>
                <a:latin typeface="Calibri" pitchFamily="34" charset="0"/>
                <a:ea typeface="Calibri" pitchFamily="34" charset="-122"/>
                <a:cs typeface="Calibri" pitchFamily="34" charset="-120"/>
              </a:rPr>
              <a:t>Produit au centre . attributs dynamiques par famille . valeur + langue (multilingue natif) . EAN = cle anti-doublon</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0" y="0"/>
            <a:ext cx="201168" cy="6858000"/>
          </a:xfrm>
          <a:prstGeom prst="rect">
            <a:avLst/>
          </a:prstGeom>
          <a:solidFill>
            <a:srgbClr val="3B82F6"/>
          </a:solidFill>
          <a:ln/>
        </p:spPr>
      </p:sp>
      <p:sp>
        <p:nvSpPr>
          <p:cNvPr id="3" name="Shape 1"/>
          <p:cNvSpPr/>
          <p:nvPr/>
        </p:nvSpPr>
        <p:spPr>
          <a:xfrm>
            <a:off x="640080" y="502920"/>
            <a:ext cx="2377440" cy="384048"/>
          </a:xfrm>
          <a:prstGeom prst="roundRect">
            <a:avLst>
              <a:gd name="adj" fmla="val 50000"/>
            </a:avLst>
          </a:prstGeom>
          <a:solidFill>
            <a:srgbClr val="3B82F6"/>
          </a:solidFill>
          <a:ln/>
        </p:spPr>
      </p:sp>
      <p:sp>
        <p:nvSpPr>
          <p:cNvPr id="4" name="Text 2"/>
          <p:cNvSpPr/>
          <p:nvPr/>
        </p:nvSpPr>
        <p:spPr>
          <a:xfrm>
            <a:off x="640080" y="502920"/>
            <a:ext cx="2377440" cy="384048"/>
          </a:xfrm>
          <a:prstGeom prst="rect">
            <a:avLst/>
          </a:prstGeom>
          <a:noFill/>
          <a:ln/>
        </p:spPr>
        <p:txBody>
          <a:bodyPr wrap="square" rtlCol="0" anchor="ctr"/>
          <a:lstStyle/>
          <a:p>
            <a:pPr marL="0" indent="0" algn="ctr">
              <a:buNone/>
            </a:pPr>
            <a:r>
              <a:rPr lang="en-US" sz="1100" b="1" kern="0" spc="200" dirty="0">
                <a:solidFill>
                  <a:srgbClr val="FFFFFF"/>
                </a:solidFill>
                <a:latin typeface="Calibri" pitchFamily="34" charset="0"/>
                <a:ea typeface="Calibri" pitchFamily="34" charset="-122"/>
                <a:cs typeface="Calibri" pitchFamily="34" charset="-120"/>
              </a:rPr>
              <a:t>TECHNIQUE</a:t>
            </a:r>
            <a:endParaRPr lang="en-US" sz="1100" dirty="0"/>
          </a:p>
        </p:txBody>
      </p:sp>
      <p:sp>
        <p:nvSpPr>
          <p:cNvPr id="5" name="Text 3"/>
          <p:cNvSpPr/>
          <p:nvPr/>
        </p:nvSpPr>
        <p:spPr>
          <a:xfrm>
            <a:off x="640080" y="960120"/>
            <a:ext cx="10881360" cy="731520"/>
          </a:xfrm>
          <a:prstGeom prst="rect">
            <a:avLst/>
          </a:prstGeom>
          <a:noFill/>
          <a:ln/>
        </p:spPr>
        <p:txBody>
          <a:bodyPr wrap="square" rtlCol="0" anchor="ctr"/>
          <a:lstStyle/>
          <a:p>
            <a:pPr marL="0" indent="0">
              <a:buNone/>
            </a:pPr>
            <a:r>
              <a:rPr lang="en-US" sz="2700" b="1" dirty="0">
                <a:solidFill>
                  <a:srgbClr val="1E2761"/>
                </a:solidFill>
                <a:latin typeface="Georgia" pitchFamily="34" charset="0"/>
                <a:ea typeface="Georgia" pitchFamily="34" charset="-122"/>
                <a:cs typeface="Georgia" pitchFamily="34" charset="-120"/>
              </a:rPr>
              <a:t>Backend &amp; API REST</a:t>
            </a:r>
            <a:endParaRPr lang="en-US" sz="2700" dirty="0"/>
          </a:p>
        </p:txBody>
      </p:sp>
      <p:sp>
        <p:nvSpPr>
          <p:cNvPr id="6" name="Shape 4"/>
          <p:cNvSpPr/>
          <p:nvPr/>
        </p:nvSpPr>
        <p:spPr>
          <a:xfrm>
            <a:off x="640080" y="1664208"/>
            <a:ext cx="2011680" cy="0"/>
          </a:xfrm>
          <a:prstGeom prst="line">
            <a:avLst/>
          </a:prstGeom>
          <a:noFill/>
          <a:ln w="31750">
            <a:solidFill>
              <a:srgbClr val="3B82F6"/>
            </a:solidFill>
            <a:prstDash val="solid"/>
          </a:ln>
        </p:spPr>
      </p:sp>
      <p:sp>
        <p:nvSpPr>
          <p:cNvPr id="7" name="Text 5"/>
          <p:cNvSpPr/>
          <p:nvPr/>
        </p:nvSpPr>
        <p:spPr>
          <a:xfrm>
            <a:off x="11338560" y="6400800"/>
            <a:ext cx="548640" cy="274320"/>
          </a:xfrm>
          <a:prstGeom prst="rect">
            <a:avLst/>
          </a:prstGeom>
          <a:noFill/>
          <a:ln/>
        </p:spPr>
        <p:txBody>
          <a:bodyPr wrap="square" rtlCol="0" anchor="ctr"/>
          <a:lstStyle/>
          <a:p>
            <a:pPr marL="0" indent="0" algn="r">
              <a:buNone/>
            </a:pPr>
            <a:r>
              <a:rPr lang="en-US" sz="1000" dirty="0">
                <a:solidFill>
                  <a:srgbClr val="64748B"/>
                </a:solidFill>
                <a:latin typeface="Calibri" pitchFamily="34" charset="0"/>
                <a:ea typeface="Calibri" pitchFamily="34" charset="-122"/>
                <a:cs typeface="Calibri" pitchFamily="34" charset="-120"/>
              </a:rPr>
              <a:t>11</a:t>
            </a:r>
            <a:endParaRPr lang="en-US" sz="1000" dirty="0"/>
          </a:p>
        </p:txBody>
      </p:sp>
      <p:sp>
        <p:nvSpPr>
          <p:cNvPr id="8" name="Shape 6"/>
          <p:cNvSpPr/>
          <p:nvPr/>
        </p:nvSpPr>
        <p:spPr>
          <a:xfrm>
            <a:off x="640080" y="2103120"/>
            <a:ext cx="5212080" cy="3840480"/>
          </a:xfrm>
          <a:prstGeom prst="roundRect">
            <a:avLst>
              <a:gd name="adj" fmla="val 1905"/>
            </a:avLst>
          </a:prstGeom>
          <a:solidFill>
            <a:srgbClr val="FFFFFF"/>
          </a:solidFill>
          <a:ln w="12700">
            <a:solidFill>
              <a:srgbClr val="E2E8F0"/>
            </a:solidFill>
            <a:prstDash val="solid"/>
          </a:ln>
          <a:effectLst>
            <a:outerShdw blurRad="76200" dist="25400" dir="8100000" algn="bl" rotWithShape="0">
              <a:srgbClr val="94A3B8">
                <a:alpha val="18000"/>
              </a:srgbClr>
            </a:outerShdw>
          </a:effectLst>
        </p:spPr>
      </p:sp>
      <p:sp>
        <p:nvSpPr>
          <p:cNvPr id="9" name="Text 7"/>
          <p:cNvSpPr/>
          <p:nvPr/>
        </p:nvSpPr>
        <p:spPr>
          <a:xfrm>
            <a:off x="914400" y="2286000"/>
            <a:ext cx="4572000" cy="457200"/>
          </a:xfrm>
          <a:prstGeom prst="rect">
            <a:avLst/>
          </a:prstGeom>
          <a:noFill/>
          <a:ln/>
        </p:spPr>
        <p:txBody>
          <a:bodyPr wrap="square" rtlCol="0" anchor="ctr"/>
          <a:lstStyle/>
          <a:p>
            <a:pPr marL="0" indent="0">
              <a:buNone/>
            </a:pPr>
            <a:r>
              <a:rPr lang="en-US" sz="1700" b="1" dirty="0">
                <a:solidFill>
                  <a:srgbClr val="6366F1"/>
                </a:solidFill>
                <a:latin typeface="Calibri" pitchFamily="34" charset="0"/>
                <a:ea typeface="Calibri" pitchFamily="34" charset="-122"/>
                <a:cs typeface="Calibri" pitchFamily="34" charset="-120"/>
              </a:rPr>
              <a:t>Organisation du code</a:t>
            </a:r>
            <a:endParaRPr lang="en-US" sz="1700" dirty="0"/>
          </a:p>
        </p:txBody>
      </p:sp>
      <p:sp>
        <p:nvSpPr>
          <p:cNvPr id="10" name="Text 8"/>
          <p:cNvSpPr/>
          <p:nvPr/>
        </p:nvSpPr>
        <p:spPr>
          <a:xfrm>
            <a:off x="914400" y="2834640"/>
            <a:ext cx="4754880" cy="2926080"/>
          </a:xfrm>
          <a:prstGeom prst="rect">
            <a:avLst/>
          </a:prstGeom>
          <a:noFill/>
          <a:ln/>
        </p:spPr>
        <p:txBody>
          <a:bodyPr wrap="square" rtlCol="0" anchor="ctr"/>
          <a:lstStyle/>
          <a:p>
            <a:pPr marL="342900" indent="-342900">
              <a:lnSpc>
                <a:spcPct val="135000"/>
              </a:lnSpc>
              <a:buSzPct val="100000"/>
              <a:buChar char="•"/>
            </a:pPr>
            <a:r>
              <a:rPr lang="en-US" sz="1350" dirty="0">
                <a:solidFill>
                  <a:srgbClr val="1E293B"/>
                </a:solidFill>
                <a:latin typeface="Consolas" pitchFamily="34" charset="0"/>
                <a:ea typeface="Consolas" pitchFamily="34" charset="-122"/>
                <a:cs typeface="Consolas" pitchFamily="34" charset="-120"/>
              </a:rPr>
              <a:t>models.py / schemas.py (ORM + Pydantic)</a:t>
            </a:r>
            <a:endParaRPr lang="en-US" sz="1350" dirty="0"/>
          </a:p>
          <a:p>
            <a:pPr marL="342900" indent="-342900">
              <a:lnSpc>
                <a:spcPct val="135000"/>
              </a:lnSpc>
              <a:buSzPct val="100000"/>
              <a:buChar char="•"/>
            </a:pPr>
            <a:r>
              <a:rPr lang="en-US" sz="1350" dirty="0">
                <a:solidFill>
                  <a:srgbClr val="1E293B"/>
                </a:solidFill>
                <a:latin typeface="Consolas" pitchFamily="34" charset="0"/>
                <a:ea typeface="Consolas" pitchFamily="34" charset="-122"/>
                <a:cs typeface="Consolas" pitchFamily="34" charset="-120"/>
              </a:rPr>
              <a:t>auth.py - JWT &amp; roles (RBAC)</a:t>
            </a:r>
            <a:endParaRPr lang="en-US" sz="1350" dirty="0"/>
          </a:p>
          <a:p>
            <a:pPr marL="342900" indent="-342900">
              <a:lnSpc>
                <a:spcPct val="135000"/>
              </a:lnSpc>
              <a:buSzPct val="100000"/>
              <a:buChar char="•"/>
            </a:pPr>
            <a:r>
              <a:rPr lang="en-US" sz="1350" dirty="0">
                <a:solidFill>
                  <a:srgbClr val="1E293B"/>
                </a:solidFill>
                <a:latin typeface="Consolas" pitchFamily="34" charset="0"/>
                <a:ea typeface="Consolas" pitchFamily="34" charset="-122"/>
                <a:cs typeface="Consolas" pitchFamily="34" charset="-120"/>
              </a:rPr>
              <a:t>services/extraction.py - IA de vision</a:t>
            </a:r>
            <a:endParaRPr lang="en-US" sz="1350" dirty="0"/>
          </a:p>
          <a:p>
            <a:pPr marL="342900" indent="-342900">
              <a:lnSpc>
                <a:spcPct val="135000"/>
              </a:lnSpc>
              <a:buSzPct val="100000"/>
              <a:buChar char="•"/>
            </a:pPr>
            <a:r>
              <a:rPr lang="en-US" sz="1350" dirty="0">
                <a:solidFill>
                  <a:srgbClr val="1E293B"/>
                </a:solidFill>
                <a:latin typeface="Consolas" pitchFamily="34" charset="0"/>
                <a:ea typeface="Consolas" pitchFamily="34" charset="-122"/>
                <a:cs typeface="Consolas" pitchFamily="34" charset="-120"/>
              </a:rPr>
              <a:t>completeness.py - qualite</a:t>
            </a:r>
            <a:endParaRPr lang="en-US" sz="1350" dirty="0"/>
          </a:p>
          <a:p>
            <a:pPr marL="342900" indent="-342900">
              <a:lnSpc>
                <a:spcPct val="135000"/>
              </a:lnSpc>
              <a:buSzPct val="100000"/>
              <a:buChar char="•"/>
            </a:pPr>
            <a:r>
              <a:rPr lang="en-US" sz="1350" dirty="0">
                <a:solidFill>
                  <a:srgbClr val="1E293B"/>
                </a:solidFill>
                <a:latin typeface="Consolas" pitchFamily="34" charset="0"/>
                <a:ea typeface="Consolas" pitchFamily="34" charset="-122"/>
                <a:cs typeface="Consolas" pitchFamily="34" charset="-120"/>
              </a:rPr>
              <a:t>routers/ - un par domaine (dont ingest)</a:t>
            </a:r>
            <a:endParaRPr lang="en-US" sz="1350" dirty="0"/>
          </a:p>
        </p:txBody>
      </p:sp>
      <p:sp>
        <p:nvSpPr>
          <p:cNvPr id="11" name="Shape 9"/>
          <p:cNvSpPr/>
          <p:nvPr/>
        </p:nvSpPr>
        <p:spPr>
          <a:xfrm>
            <a:off x="6035040" y="2103120"/>
            <a:ext cx="5394960" cy="3840480"/>
          </a:xfrm>
          <a:prstGeom prst="roundRect">
            <a:avLst>
              <a:gd name="adj" fmla="val 1905"/>
            </a:avLst>
          </a:prstGeom>
          <a:solidFill>
            <a:srgbClr val="FFFFFF"/>
          </a:solidFill>
          <a:ln w="12700">
            <a:solidFill>
              <a:srgbClr val="E2E8F0"/>
            </a:solidFill>
            <a:prstDash val="solid"/>
          </a:ln>
          <a:effectLst>
            <a:outerShdw blurRad="76200" dist="25400" dir="8100000" algn="bl" rotWithShape="0">
              <a:srgbClr val="94A3B8">
                <a:alpha val="18000"/>
              </a:srgbClr>
            </a:outerShdw>
          </a:effectLst>
        </p:spPr>
      </p:sp>
      <p:sp>
        <p:nvSpPr>
          <p:cNvPr id="12" name="Text 10"/>
          <p:cNvSpPr/>
          <p:nvPr/>
        </p:nvSpPr>
        <p:spPr>
          <a:xfrm>
            <a:off x="6309360" y="2286000"/>
            <a:ext cx="4572000" cy="457200"/>
          </a:xfrm>
          <a:prstGeom prst="rect">
            <a:avLst/>
          </a:prstGeom>
          <a:noFill/>
          <a:ln/>
        </p:spPr>
        <p:txBody>
          <a:bodyPr wrap="square" rtlCol="0" anchor="ctr"/>
          <a:lstStyle/>
          <a:p>
            <a:pPr marL="0" indent="0">
              <a:buNone/>
            </a:pPr>
            <a:r>
              <a:rPr lang="en-US" sz="1700" b="1" dirty="0">
                <a:solidFill>
                  <a:srgbClr val="6366F1"/>
                </a:solidFill>
                <a:latin typeface="Calibri" pitchFamily="34" charset="0"/>
                <a:ea typeface="Calibri" pitchFamily="34" charset="-122"/>
                <a:cs typeface="Calibri" pitchFamily="34" charset="-120"/>
              </a:rPr>
              <a:t>Endpoints principaux</a:t>
            </a:r>
            <a:endParaRPr lang="en-US" sz="1700" dirty="0"/>
          </a:p>
        </p:txBody>
      </p:sp>
      <p:sp>
        <p:nvSpPr>
          <p:cNvPr id="13" name="Text 11"/>
          <p:cNvSpPr/>
          <p:nvPr/>
        </p:nvSpPr>
        <p:spPr>
          <a:xfrm>
            <a:off x="6309360" y="2788920"/>
            <a:ext cx="4937760" cy="3017520"/>
          </a:xfrm>
          <a:prstGeom prst="rect">
            <a:avLst/>
          </a:prstGeom>
          <a:noFill/>
          <a:ln/>
        </p:spPr>
        <p:txBody>
          <a:bodyPr wrap="square" rtlCol="0" anchor="ctr"/>
          <a:lstStyle/>
          <a:p>
            <a:pPr marL="0" indent="0">
              <a:lnSpc>
                <a:spcPct val="135000"/>
              </a:lnSpc>
              <a:buNone/>
            </a:pPr>
            <a:r>
              <a:rPr lang="en-US" sz="1300" b="1" dirty="0">
                <a:solidFill>
                  <a:srgbClr val="10B981"/>
                </a:solidFill>
                <a:latin typeface="Consolas" pitchFamily="34" charset="0"/>
                <a:ea typeface="Consolas" pitchFamily="34" charset="-122"/>
                <a:cs typeface="Consolas" pitchFamily="34" charset="-120"/>
              </a:rPr>
              <a:t>POST /ingest/extract  (IA de vision)</a:t>
            </a:r>
            <a:endParaRPr lang="en-US" sz="1300" dirty="0"/>
          </a:p>
          <a:p>
            <a:pPr marL="0" indent="0">
              <a:lnSpc>
                <a:spcPct val="135000"/>
              </a:lnSpc>
              <a:buNone/>
            </a:pPr>
            <a:r>
              <a:rPr lang="en-US" sz="1300" b="1" dirty="0">
                <a:solidFill>
                  <a:srgbClr val="F59E0B"/>
                </a:solidFill>
                <a:latin typeface="Consolas" pitchFamily="34" charset="0"/>
                <a:ea typeface="Consolas" pitchFamily="34" charset="-122"/>
                <a:cs typeface="Consolas" pitchFamily="34" charset="-120"/>
              </a:rPr>
              <a:t>POST /ingest/save  (upsert EAN)</a:t>
            </a:r>
            <a:endParaRPr lang="en-US" sz="1300" dirty="0"/>
          </a:p>
          <a:p>
            <a:pPr marL="0" indent="0">
              <a:lnSpc>
                <a:spcPct val="135000"/>
              </a:lnSpc>
              <a:buNone/>
            </a:pPr>
            <a:r>
              <a:rPr lang="en-US" sz="1300" dirty="0">
                <a:solidFill>
                  <a:srgbClr val="1E2761"/>
                </a:solidFill>
                <a:latin typeface="Consolas" pitchFamily="34" charset="0"/>
                <a:ea typeface="Consolas" pitchFamily="34" charset="-122"/>
                <a:cs typeface="Consolas" pitchFamily="34" charset="-120"/>
              </a:rPr>
              <a:t>GET  /products  (filtres + pagination)</a:t>
            </a:r>
            <a:endParaRPr lang="en-US" sz="1300" dirty="0"/>
          </a:p>
          <a:p>
            <a:pPr marL="0" indent="0">
              <a:lnSpc>
                <a:spcPct val="135000"/>
              </a:lnSpc>
              <a:buNone/>
            </a:pPr>
            <a:r>
              <a:rPr lang="en-US" sz="1300" dirty="0">
                <a:solidFill>
                  <a:srgbClr val="1E2761"/>
                </a:solidFill>
                <a:latin typeface="Consolas" pitchFamily="34" charset="0"/>
                <a:ea typeface="Consolas" pitchFamily="34" charset="-122"/>
                <a:cs typeface="Consolas" pitchFamily="34" charset="-120"/>
              </a:rPr>
              <a:t>GET  /products/{id}/completeness</a:t>
            </a:r>
            <a:endParaRPr lang="en-US" sz="1300" dirty="0"/>
          </a:p>
          <a:p>
            <a:pPr marL="0" indent="0">
              <a:lnSpc>
                <a:spcPct val="135000"/>
              </a:lnSpc>
              <a:buNone/>
            </a:pPr>
            <a:r>
              <a:rPr lang="en-US" sz="1300" b="1" dirty="0">
                <a:solidFill>
                  <a:srgbClr val="F59E0B"/>
                </a:solidFill>
                <a:latin typeface="Consolas" pitchFamily="34" charset="0"/>
                <a:ea typeface="Consolas" pitchFamily="34" charset="-122"/>
                <a:cs typeface="Consolas" pitchFamily="34" charset="-120"/>
              </a:rPr>
              <a:t>POST /products/{id}/transition</a:t>
            </a:r>
            <a:endParaRPr lang="en-US" sz="1300" dirty="0"/>
          </a:p>
          <a:p>
            <a:pPr marL="0" indent="0">
              <a:lnSpc>
                <a:spcPct val="135000"/>
              </a:lnSpc>
              <a:buNone/>
            </a:pPr>
            <a:r>
              <a:rPr lang="en-US" sz="1300" dirty="0">
                <a:solidFill>
                  <a:srgbClr val="1E2761"/>
                </a:solidFill>
                <a:latin typeface="Consolas" pitchFamily="34" charset="0"/>
                <a:ea typeface="Consolas" pitchFamily="34" charset="-122"/>
                <a:cs typeface="Consolas" pitchFamily="34" charset="-120"/>
              </a:rPr>
              <a:t>POST /channels/{id}/publish</a:t>
            </a:r>
            <a:endParaRPr lang="en-US" sz="1300" dirty="0"/>
          </a:p>
          <a:p>
            <a:pPr marL="0" indent="0">
              <a:lnSpc>
                <a:spcPct val="135000"/>
              </a:lnSpc>
              <a:buNone/>
            </a:pPr>
            <a:r>
              <a:rPr lang="en-US" sz="1300" dirty="0">
                <a:solidFill>
                  <a:srgbClr val="1E2761"/>
                </a:solidFill>
                <a:latin typeface="Consolas" pitchFamily="34" charset="0"/>
                <a:ea typeface="Consolas" pitchFamily="34" charset="-122"/>
                <a:cs typeface="Consolas" pitchFamily="34" charset="-120"/>
              </a:rPr>
              <a:t>GET  /dashboard</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0" y="0"/>
            <a:ext cx="201168" cy="6858000"/>
          </a:xfrm>
          <a:prstGeom prst="rect">
            <a:avLst/>
          </a:prstGeom>
          <a:solidFill>
            <a:srgbClr val="3B82F6"/>
          </a:solidFill>
          <a:ln/>
        </p:spPr>
      </p:sp>
      <p:sp>
        <p:nvSpPr>
          <p:cNvPr id="3" name="Shape 1"/>
          <p:cNvSpPr/>
          <p:nvPr/>
        </p:nvSpPr>
        <p:spPr>
          <a:xfrm>
            <a:off x="640080" y="502920"/>
            <a:ext cx="2377440" cy="384048"/>
          </a:xfrm>
          <a:prstGeom prst="roundRect">
            <a:avLst>
              <a:gd name="adj" fmla="val 50000"/>
            </a:avLst>
          </a:prstGeom>
          <a:solidFill>
            <a:srgbClr val="3B82F6"/>
          </a:solidFill>
          <a:ln/>
        </p:spPr>
      </p:sp>
      <p:sp>
        <p:nvSpPr>
          <p:cNvPr id="4" name="Text 2"/>
          <p:cNvSpPr/>
          <p:nvPr/>
        </p:nvSpPr>
        <p:spPr>
          <a:xfrm>
            <a:off x="640080" y="502920"/>
            <a:ext cx="2377440" cy="384048"/>
          </a:xfrm>
          <a:prstGeom prst="rect">
            <a:avLst/>
          </a:prstGeom>
          <a:noFill/>
          <a:ln/>
        </p:spPr>
        <p:txBody>
          <a:bodyPr wrap="square" rtlCol="0" anchor="ctr"/>
          <a:lstStyle/>
          <a:p>
            <a:pPr marL="0" indent="0" algn="ctr">
              <a:buNone/>
            </a:pPr>
            <a:r>
              <a:rPr lang="en-US" sz="1100" b="1" kern="0" spc="200" dirty="0">
                <a:solidFill>
                  <a:srgbClr val="FFFFFF"/>
                </a:solidFill>
                <a:latin typeface="Calibri" pitchFamily="34" charset="0"/>
                <a:ea typeface="Calibri" pitchFamily="34" charset="-122"/>
                <a:cs typeface="Calibri" pitchFamily="34" charset="-120"/>
              </a:rPr>
              <a:t>TECHNIQUE</a:t>
            </a:r>
            <a:endParaRPr lang="en-US" sz="1100" dirty="0"/>
          </a:p>
        </p:txBody>
      </p:sp>
      <p:sp>
        <p:nvSpPr>
          <p:cNvPr id="5" name="Text 3"/>
          <p:cNvSpPr/>
          <p:nvPr/>
        </p:nvSpPr>
        <p:spPr>
          <a:xfrm>
            <a:off x="640080" y="960120"/>
            <a:ext cx="10881360" cy="731520"/>
          </a:xfrm>
          <a:prstGeom prst="rect">
            <a:avLst/>
          </a:prstGeom>
          <a:noFill/>
          <a:ln/>
        </p:spPr>
        <p:txBody>
          <a:bodyPr wrap="square" rtlCol="0" anchor="ctr"/>
          <a:lstStyle/>
          <a:p>
            <a:pPr marL="0" indent="0">
              <a:buNone/>
            </a:pPr>
            <a:r>
              <a:rPr lang="en-US" sz="2700" b="1" dirty="0">
                <a:solidFill>
                  <a:srgbClr val="1E2761"/>
                </a:solidFill>
                <a:latin typeface="Georgia" pitchFamily="34" charset="0"/>
                <a:ea typeface="Georgia" pitchFamily="34" charset="-122"/>
                <a:cs typeface="Georgia" pitchFamily="34" charset="-120"/>
              </a:rPr>
              <a:t>Workflow, qualite &amp; gouvernance</a:t>
            </a:r>
            <a:endParaRPr lang="en-US" sz="2700" dirty="0"/>
          </a:p>
        </p:txBody>
      </p:sp>
      <p:sp>
        <p:nvSpPr>
          <p:cNvPr id="6" name="Shape 4"/>
          <p:cNvSpPr/>
          <p:nvPr/>
        </p:nvSpPr>
        <p:spPr>
          <a:xfrm>
            <a:off x="640080" y="1664208"/>
            <a:ext cx="2011680" cy="0"/>
          </a:xfrm>
          <a:prstGeom prst="line">
            <a:avLst/>
          </a:prstGeom>
          <a:noFill/>
          <a:ln w="31750">
            <a:solidFill>
              <a:srgbClr val="3B82F6"/>
            </a:solidFill>
            <a:prstDash val="solid"/>
          </a:ln>
        </p:spPr>
      </p:sp>
      <p:sp>
        <p:nvSpPr>
          <p:cNvPr id="7" name="Text 5"/>
          <p:cNvSpPr/>
          <p:nvPr/>
        </p:nvSpPr>
        <p:spPr>
          <a:xfrm>
            <a:off x="11338560" y="6400800"/>
            <a:ext cx="548640" cy="274320"/>
          </a:xfrm>
          <a:prstGeom prst="rect">
            <a:avLst/>
          </a:prstGeom>
          <a:noFill/>
          <a:ln/>
        </p:spPr>
        <p:txBody>
          <a:bodyPr wrap="square" rtlCol="0" anchor="ctr"/>
          <a:lstStyle/>
          <a:p>
            <a:pPr marL="0" indent="0" algn="r">
              <a:buNone/>
            </a:pPr>
            <a:r>
              <a:rPr lang="en-US" sz="1000" dirty="0">
                <a:solidFill>
                  <a:srgbClr val="64748B"/>
                </a:solidFill>
                <a:latin typeface="Calibri" pitchFamily="34" charset="0"/>
                <a:ea typeface="Calibri" pitchFamily="34" charset="-122"/>
                <a:cs typeface="Calibri" pitchFamily="34" charset="-120"/>
              </a:rPr>
              <a:t>12</a:t>
            </a:r>
            <a:endParaRPr lang="en-US" sz="1000" dirty="0"/>
          </a:p>
        </p:txBody>
      </p:sp>
      <p:sp>
        <p:nvSpPr>
          <p:cNvPr id="8" name="Shape 6"/>
          <p:cNvSpPr/>
          <p:nvPr/>
        </p:nvSpPr>
        <p:spPr>
          <a:xfrm>
            <a:off x="822960" y="2286000"/>
            <a:ext cx="2194560" cy="822960"/>
          </a:xfrm>
          <a:prstGeom prst="roundRect">
            <a:avLst>
              <a:gd name="adj" fmla="val 11111"/>
            </a:avLst>
          </a:prstGeom>
          <a:solidFill>
            <a:srgbClr val="475569"/>
          </a:solidFill>
          <a:ln/>
        </p:spPr>
      </p:sp>
      <p:sp>
        <p:nvSpPr>
          <p:cNvPr id="9" name="Text 7"/>
          <p:cNvSpPr/>
          <p:nvPr/>
        </p:nvSpPr>
        <p:spPr>
          <a:xfrm>
            <a:off x="822960" y="2286000"/>
            <a:ext cx="2194560" cy="822960"/>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Brouillon</a:t>
            </a:r>
            <a:endParaRPr lang="en-US" sz="1600" dirty="0"/>
          </a:p>
        </p:txBody>
      </p:sp>
      <p:sp>
        <p:nvSpPr>
          <p:cNvPr id="10" name="Text 8"/>
          <p:cNvSpPr/>
          <p:nvPr/>
        </p:nvSpPr>
        <p:spPr>
          <a:xfrm>
            <a:off x="3017520" y="2286000"/>
            <a:ext cx="594360" cy="822960"/>
          </a:xfrm>
          <a:prstGeom prst="rect">
            <a:avLst/>
          </a:prstGeom>
          <a:noFill/>
          <a:ln/>
        </p:spPr>
        <p:txBody>
          <a:bodyPr wrap="square" rtlCol="0" anchor="ctr"/>
          <a:lstStyle/>
          <a:p>
            <a:pPr marL="0" indent="0" algn="ctr">
              <a:buNone/>
            </a:pPr>
            <a:r>
              <a:rPr lang="en-US" sz="2400" dirty="0">
                <a:solidFill>
                  <a:srgbClr val="64748B"/>
                </a:solidFill>
              </a:rPr>
              <a:t>&gt;</a:t>
            </a:r>
            <a:endParaRPr lang="en-US" sz="2400" dirty="0"/>
          </a:p>
        </p:txBody>
      </p:sp>
      <p:sp>
        <p:nvSpPr>
          <p:cNvPr id="11" name="Shape 9"/>
          <p:cNvSpPr/>
          <p:nvPr/>
        </p:nvSpPr>
        <p:spPr>
          <a:xfrm>
            <a:off x="3611880" y="2286000"/>
            <a:ext cx="2194560" cy="822960"/>
          </a:xfrm>
          <a:prstGeom prst="roundRect">
            <a:avLst>
              <a:gd name="adj" fmla="val 11111"/>
            </a:avLst>
          </a:prstGeom>
          <a:solidFill>
            <a:srgbClr val="F59E0B"/>
          </a:solidFill>
          <a:ln/>
        </p:spPr>
      </p:sp>
      <p:sp>
        <p:nvSpPr>
          <p:cNvPr id="12" name="Text 10"/>
          <p:cNvSpPr/>
          <p:nvPr/>
        </p:nvSpPr>
        <p:spPr>
          <a:xfrm>
            <a:off x="3611880" y="2286000"/>
            <a:ext cx="2194560" cy="822960"/>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En revue</a:t>
            </a:r>
            <a:endParaRPr lang="en-US" sz="1600" dirty="0"/>
          </a:p>
        </p:txBody>
      </p:sp>
      <p:sp>
        <p:nvSpPr>
          <p:cNvPr id="13" name="Text 11"/>
          <p:cNvSpPr/>
          <p:nvPr/>
        </p:nvSpPr>
        <p:spPr>
          <a:xfrm>
            <a:off x="5806440" y="2286000"/>
            <a:ext cx="594360" cy="822960"/>
          </a:xfrm>
          <a:prstGeom prst="rect">
            <a:avLst/>
          </a:prstGeom>
          <a:noFill/>
          <a:ln/>
        </p:spPr>
        <p:txBody>
          <a:bodyPr wrap="square" rtlCol="0" anchor="ctr"/>
          <a:lstStyle/>
          <a:p>
            <a:pPr marL="0" indent="0" algn="ctr">
              <a:buNone/>
            </a:pPr>
            <a:r>
              <a:rPr lang="en-US" sz="2400" dirty="0">
                <a:solidFill>
                  <a:srgbClr val="64748B"/>
                </a:solidFill>
              </a:rPr>
              <a:t>&gt;</a:t>
            </a:r>
            <a:endParaRPr lang="en-US" sz="2400" dirty="0"/>
          </a:p>
        </p:txBody>
      </p:sp>
      <p:sp>
        <p:nvSpPr>
          <p:cNvPr id="14" name="Shape 12"/>
          <p:cNvSpPr/>
          <p:nvPr/>
        </p:nvSpPr>
        <p:spPr>
          <a:xfrm>
            <a:off x="6400800" y="2286000"/>
            <a:ext cx="2194560" cy="822960"/>
          </a:xfrm>
          <a:prstGeom prst="roundRect">
            <a:avLst>
              <a:gd name="adj" fmla="val 11111"/>
            </a:avLst>
          </a:prstGeom>
          <a:solidFill>
            <a:srgbClr val="10B981"/>
          </a:solidFill>
          <a:ln/>
        </p:spPr>
      </p:sp>
      <p:sp>
        <p:nvSpPr>
          <p:cNvPr id="15" name="Text 13"/>
          <p:cNvSpPr/>
          <p:nvPr/>
        </p:nvSpPr>
        <p:spPr>
          <a:xfrm>
            <a:off x="6400800" y="2286000"/>
            <a:ext cx="2194560" cy="822960"/>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Valide</a:t>
            </a:r>
            <a:endParaRPr lang="en-US" sz="1600" dirty="0"/>
          </a:p>
        </p:txBody>
      </p:sp>
      <p:sp>
        <p:nvSpPr>
          <p:cNvPr id="16" name="Text 14"/>
          <p:cNvSpPr/>
          <p:nvPr/>
        </p:nvSpPr>
        <p:spPr>
          <a:xfrm>
            <a:off x="8595360" y="2286000"/>
            <a:ext cx="594360" cy="822960"/>
          </a:xfrm>
          <a:prstGeom prst="rect">
            <a:avLst/>
          </a:prstGeom>
          <a:noFill/>
          <a:ln/>
        </p:spPr>
        <p:txBody>
          <a:bodyPr wrap="square" rtlCol="0" anchor="ctr"/>
          <a:lstStyle/>
          <a:p>
            <a:pPr marL="0" indent="0" algn="ctr">
              <a:buNone/>
            </a:pPr>
            <a:r>
              <a:rPr lang="en-US" sz="2400" dirty="0">
                <a:solidFill>
                  <a:srgbClr val="64748B"/>
                </a:solidFill>
              </a:rPr>
              <a:t>&gt;</a:t>
            </a:r>
            <a:endParaRPr lang="en-US" sz="2400" dirty="0"/>
          </a:p>
        </p:txBody>
      </p:sp>
      <p:sp>
        <p:nvSpPr>
          <p:cNvPr id="17" name="Shape 15"/>
          <p:cNvSpPr/>
          <p:nvPr/>
        </p:nvSpPr>
        <p:spPr>
          <a:xfrm>
            <a:off x="9189720" y="2286000"/>
            <a:ext cx="2194560" cy="822960"/>
          </a:xfrm>
          <a:prstGeom prst="roundRect">
            <a:avLst>
              <a:gd name="adj" fmla="val 11111"/>
            </a:avLst>
          </a:prstGeom>
          <a:solidFill>
            <a:srgbClr val="3B82F6"/>
          </a:solidFill>
          <a:ln/>
        </p:spPr>
      </p:sp>
      <p:sp>
        <p:nvSpPr>
          <p:cNvPr id="18" name="Text 16"/>
          <p:cNvSpPr/>
          <p:nvPr/>
        </p:nvSpPr>
        <p:spPr>
          <a:xfrm>
            <a:off x="9189720" y="2286000"/>
            <a:ext cx="2194560" cy="822960"/>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Publie</a:t>
            </a:r>
            <a:endParaRPr lang="en-US" sz="1600" dirty="0"/>
          </a:p>
        </p:txBody>
      </p:sp>
      <p:sp>
        <p:nvSpPr>
          <p:cNvPr id="19" name="Shape 17"/>
          <p:cNvSpPr/>
          <p:nvPr/>
        </p:nvSpPr>
        <p:spPr>
          <a:xfrm>
            <a:off x="914400" y="3566160"/>
            <a:ext cx="10332720" cy="685800"/>
          </a:xfrm>
          <a:prstGeom prst="roundRect">
            <a:avLst>
              <a:gd name="adj" fmla="val 10667"/>
            </a:avLst>
          </a:prstGeom>
          <a:solidFill>
            <a:srgbClr val="FFFFFF"/>
          </a:solidFill>
          <a:ln w="12700">
            <a:solidFill>
              <a:srgbClr val="E2E8F0"/>
            </a:solidFill>
            <a:prstDash val="solid"/>
          </a:ln>
          <a:effectLst>
            <a:outerShdw blurRad="76200" dist="25400" dir="8100000" algn="bl" rotWithShape="0">
              <a:srgbClr val="94A3B8">
                <a:alpha val="18000"/>
              </a:srgbClr>
            </a:outerShdw>
          </a:effectLst>
        </p:spPr>
      </p:sp>
      <p:sp>
        <p:nvSpPr>
          <p:cNvPr id="20" name="Shape 18"/>
          <p:cNvSpPr/>
          <p:nvPr/>
        </p:nvSpPr>
        <p:spPr>
          <a:xfrm>
            <a:off x="1143000" y="3730752"/>
            <a:ext cx="365760" cy="365760"/>
          </a:xfrm>
          <a:prstGeom prst="ellipse">
            <a:avLst/>
          </a:prstGeom>
          <a:solidFill>
            <a:srgbClr val="6366F1"/>
          </a:solidFill>
          <a:ln/>
        </p:spPr>
      </p:sp>
      <p:sp>
        <p:nvSpPr>
          <p:cNvPr id="21" name="Text 19"/>
          <p:cNvSpPr/>
          <p:nvPr/>
        </p:nvSpPr>
        <p:spPr>
          <a:xfrm>
            <a:off x="1143000" y="3730752"/>
            <a:ext cx="365760" cy="365760"/>
          </a:xfrm>
          <a:prstGeom prst="rect">
            <a:avLst/>
          </a:prstGeom>
          <a:noFill/>
          <a:ln/>
        </p:spPr>
        <p:txBody>
          <a:bodyPr wrap="square" rtlCol="0" anchor="ctr"/>
          <a:lstStyle/>
          <a:p>
            <a:pPr marL="0" indent="0" algn="ctr">
              <a:buNone/>
            </a:pPr>
            <a:r>
              <a:rPr lang="en-US" sz="1400" b="1" dirty="0">
                <a:solidFill>
                  <a:srgbClr val="FFFFFF"/>
                </a:solidFill>
              </a:rPr>
              <a:t>v</a:t>
            </a:r>
            <a:endParaRPr lang="en-US" sz="1400" dirty="0"/>
          </a:p>
        </p:txBody>
      </p:sp>
      <p:sp>
        <p:nvSpPr>
          <p:cNvPr id="22" name="Text 20"/>
          <p:cNvSpPr/>
          <p:nvPr/>
        </p:nvSpPr>
        <p:spPr>
          <a:xfrm>
            <a:off x="1691640" y="3566160"/>
            <a:ext cx="9326880" cy="685800"/>
          </a:xfrm>
          <a:prstGeom prst="rect">
            <a:avLst/>
          </a:prstGeom>
          <a:noFill/>
          <a:ln/>
        </p:spPr>
        <p:txBody>
          <a:bodyPr wrap="square" rtlCol="0" anchor="ctr"/>
          <a:lstStyle/>
          <a:p>
            <a:pPr marL="0" indent="0">
              <a:buNone/>
            </a:pPr>
            <a:r>
              <a:rPr lang="en-US" sz="1450" dirty="0">
                <a:solidFill>
                  <a:srgbClr val="1E293B"/>
                </a:solidFill>
                <a:latin typeface="Calibri" pitchFamily="34" charset="0"/>
                <a:ea typeface="Calibri" pitchFamily="34" charset="-122"/>
                <a:cs typeface="Calibri" pitchFamily="34" charset="-120"/>
              </a:rPr>
              <a:t>Completude = % attributs requis + image ; liste des champs manquants</a:t>
            </a:r>
            <a:endParaRPr lang="en-US" sz="1450" dirty="0"/>
          </a:p>
        </p:txBody>
      </p:sp>
      <p:sp>
        <p:nvSpPr>
          <p:cNvPr id="23" name="Shape 21"/>
          <p:cNvSpPr/>
          <p:nvPr/>
        </p:nvSpPr>
        <p:spPr>
          <a:xfrm>
            <a:off x="914400" y="4389120"/>
            <a:ext cx="10332720" cy="685800"/>
          </a:xfrm>
          <a:prstGeom prst="roundRect">
            <a:avLst>
              <a:gd name="adj" fmla="val 10667"/>
            </a:avLst>
          </a:prstGeom>
          <a:solidFill>
            <a:srgbClr val="FFFFFF"/>
          </a:solidFill>
          <a:ln w="12700">
            <a:solidFill>
              <a:srgbClr val="E2E8F0"/>
            </a:solidFill>
            <a:prstDash val="solid"/>
          </a:ln>
          <a:effectLst>
            <a:outerShdw blurRad="76200" dist="25400" dir="8100000" algn="bl" rotWithShape="0">
              <a:srgbClr val="94A3B8">
                <a:alpha val="18000"/>
              </a:srgbClr>
            </a:outerShdw>
          </a:effectLst>
        </p:spPr>
      </p:sp>
      <p:sp>
        <p:nvSpPr>
          <p:cNvPr id="24" name="Shape 22"/>
          <p:cNvSpPr/>
          <p:nvPr/>
        </p:nvSpPr>
        <p:spPr>
          <a:xfrm>
            <a:off x="1143000" y="4553712"/>
            <a:ext cx="365760" cy="365760"/>
          </a:xfrm>
          <a:prstGeom prst="ellipse">
            <a:avLst/>
          </a:prstGeom>
          <a:solidFill>
            <a:srgbClr val="6366F1"/>
          </a:solidFill>
          <a:ln/>
        </p:spPr>
      </p:sp>
      <p:sp>
        <p:nvSpPr>
          <p:cNvPr id="25" name="Text 23"/>
          <p:cNvSpPr/>
          <p:nvPr/>
        </p:nvSpPr>
        <p:spPr>
          <a:xfrm>
            <a:off x="1143000" y="4553712"/>
            <a:ext cx="365760" cy="365760"/>
          </a:xfrm>
          <a:prstGeom prst="rect">
            <a:avLst/>
          </a:prstGeom>
          <a:noFill/>
          <a:ln/>
        </p:spPr>
        <p:txBody>
          <a:bodyPr wrap="square" rtlCol="0" anchor="ctr"/>
          <a:lstStyle/>
          <a:p>
            <a:pPr marL="0" indent="0" algn="ctr">
              <a:buNone/>
            </a:pPr>
            <a:r>
              <a:rPr lang="en-US" sz="1400" b="1" dirty="0">
                <a:solidFill>
                  <a:srgbClr val="FFFFFF"/>
                </a:solidFill>
              </a:rPr>
              <a:t>v</a:t>
            </a:r>
            <a:endParaRPr lang="en-US" sz="1400" dirty="0"/>
          </a:p>
        </p:txBody>
      </p:sp>
      <p:sp>
        <p:nvSpPr>
          <p:cNvPr id="26" name="Text 24"/>
          <p:cNvSpPr/>
          <p:nvPr/>
        </p:nvSpPr>
        <p:spPr>
          <a:xfrm>
            <a:off x="1691640" y="4389120"/>
            <a:ext cx="9326880" cy="685800"/>
          </a:xfrm>
          <a:prstGeom prst="rect">
            <a:avLst/>
          </a:prstGeom>
          <a:noFill/>
          <a:ln/>
        </p:spPr>
        <p:txBody>
          <a:bodyPr wrap="square" rtlCol="0" anchor="ctr"/>
          <a:lstStyle/>
          <a:p>
            <a:pPr marL="0" indent="0">
              <a:buNone/>
            </a:pPr>
            <a:r>
              <a:rPr lang="en-US" sz="1450" dirty="0">
                <a:solidFill>
                  <a:srgbClr val="1E293B"/>
                </a:solidFill>
                <a:latin typeface="Calibri" pitchFamily="34" charset="0"/>
                <a:ea typeface="Calibri" pitchFamily="34" charset="-122"/>
                <a:cs typeface="Calibri" pitchFamily="34" charset="-120"/>
              </a:rPr>
              <a:t>Soumission refusee si completude &lt; 60 %</a:t>
            </a:r>
            <a:endParaRPr lang="en-US" sz="1450" dirty="0"/>
          </a:p>
        </p:txBody>
      </p:sp>
      <p:sp>
        <p:nvSpPr>
          <p:cNvPr id="27" name="Shape 25"/>
          <p:cNvSpPr/>
          <p:nvPr/>
        </p:nvSpPr>
        <p:spPr>
          <a:xfrm>
            <a:off x="914400" y="5212080"/>
            <a:ext cx="10332720" cy="685800"/>
          </a:xfrm>
          <a:prstGeom prst="roundRect">
            <a:avLst>
              <a:gd name="adj" fmla="val 10667"/>
            </a:avLst>
          </a:prstGeom>
          <a:solidFill>
            <a:srgbClr val="FFFFFF"/>
          </a:solidFill>
          <a:ln w="12700">
            <a:solidFill>
              <a:srgbClr val="E2E8F0"/>
            </a:solidFill>
            <a:prstDash val="solid"/>
          </a:ln>
          <a:effectLst>
            <a:outerShdw blurRad="76200" dist="25400" dir="8100000" algn="bl" rotWithShape="0">
              <a:srgbClr val="94A3B8">
                <a:alpha val="18000"/>
              </a:srgbClr>
            </a:outerShdw>
          </a:effectLst>
        </p:spPr>
      </p:sp>
      <p:sp>
        <p:nvSpPr>
          <p:cNvPr id="28" name="Shape 26"/>
          <p:cNvSpPr/>
          <p:nvPr/>
        </p:nvSpPr>
        <p:spPr>
          <a:xfrm>
            <a:off x="1143000" y="5376672"/>
            <a:ext cx="365760" cy="365760"/>
          </a:xfrm>
          <a:prstGeom prst="ellipse">
            <a:avLst/>
          </a:prstGeom>
          <a:solidFill>
            <a:srgbClr val="6366F1"/>
          </a:solidFill>
          <a:ln/>
        </p:spPr>
      </p:sp>
      <p:sp>
        <p:nvSpPr>
          <p:cNvPr id="29" name="Text 27"/>
          <p:cNvSpPr/>
          <p:nvPr/>
        </p:nvSpPr>
        <p:spPr>
          <a:xfrm>
            <a:off x="1143000" y="5376672"/>
            <a:ext cx="365760" cy="365760"/>
          </a:xfrm>
          <a:prstGeom prst="rect">
            <a:avLst/>
          </a:prstGeom>
          <a:noFill/>
          <a:ln/>
        </p:spPr>
        <p:txBody>
          <a:bodyPr wrap="square" rtlCol="0" anchor="ctr"/>
          <a:lstStyle/>
          <a:p>
            <a:pPr marL="0" indent="0" algn="ctr">
              <a:buNone/>
            </a:pPr>
            <a:r>
              <a:rPr lang="en-US" sz="1400" b="1" dirty="0">
                <a:solidFill>
                  <a:srgbClr val="FFFFFF"/>
                </a:solidFill>
              </a:rPr>
              <a:t>v</a:t>
            </a:r>
            <a:endParaRPr lang="en-US" sz="1400" dirty="0"/>
          </a:p>
        </p:txBody>
      </p:sp>
      <p:sp>
        <p:nvSpPr>
          <p:cNvPr id="30" name="Text 28"/>
          <p:cNvSpPr/>
          <p:nvPr/>
        </p:nvSpPr>
        <p:spPr>
          <a:xfrm>
            <a:off x="1691640" y="5212080"/>
            <a:ext cx="9326880" cy="685800"/>
          </a:xfrm>
          <a:prstGeom prst="rect">
            <a:avLst/>
          </a:prstGeom>
          <a:noFill/>
          <a:ln/>
        </p:spPr>
        <p:txBody>
          <a:bodyPr wrap="square" rtlCol="0" anchor="ctr"/>
          <a:lstStyle/>
          <a:p>
            <a:pPr marL="0" indent="0">
              <a:buNone/>
            </a:pPr>
            <a:r>
              <a:rPr lang="en-US" sz="1450" dirty="0">
                <a:solidFill>
                  <a:srgbClr val="1E293B"/>
                </a:solidFill>
                <a:latin typeface="Calibri" pitchFamily="34" charset="0"/>
                <a:ea typeface="Calibri" pitchFamily="34" charset="-122"/>
                <a:cs typeface="Calibri" pitchFamily="34" charset="-120"/>
              </a:rPr>
              <a:t>Seul l'admin valide/</a:t>
            </a:r>
            <a:r>
              <a:rPr lang="en-US" sz="1450" dirty="0" err="1">
                <a:solidFill>
                  <a:srgbClr val="1E293B"/>
                </a:solidFill>
                <a:latin typeface="Calibri" pitchFamily="34" charset="0"/>
                <a:ea typeface="Calibri" pitchFamily="34" charset="-122"/>
                <a:cs typeface="Calibri" pitchFamily="34" charset="-120"/>
              </a:rPr>
              <a:t>publie</a:t>
            </a:r>
            <a:r>
              <a:rPr lang="en-US" sz="1450" dirty="0">
                <a:solidFill>
                  <a:srgbClr val="1E293B"/>
                </a:solidFill>
                <a:latin typeface="Calibri" pitchFamily="34" charset="0"/>
                <a:ea typeface="Calibri" pitchFamily="34" charset="-122"/>
                <a:cs typeface="Calibri" pitchFamily="34" charset="-120"/>
              </a:rPr>
              <a:t>, chaque transition est historisee</a:t>
            </a:r>
            <a:endParaRPr lang="en-US" sz="14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8FAFC"/>
        </a:solidFill>
        <a:effectLst/>
      </p:bgPr>
    </p:bg>
    <p:spTree>
      <p:nvGrpSpPr>
        <p:cNvPr id="1" name=""/>
        <p:cNvGrpSpPr/>
        <p:nvPr/>
      </p:nvGrpSpPr>
      <p:grpSpPr>
        <a:xfrm>
          <a:off x="0" y="0"/>
          <a:ext cx="0" cy="0"/>
          <a:chOff x="0" y="0"/>
          <a:chExt cx="0" cy="0"/>
        </a:xfrm>
      </p:grpSpPr>
      <p:sp>
        <p:nvSpPr>
          <p:cNvPr id="2" name="Shape 0"/>
          <p:cNvSpPr/>
          <p:nvPr/>
        </p:nvSpPr>
        <p:spPr>
          <a:xfrm>
            <a:off x="0" y="0"/>
            <a:ext cx="201168" cy="6858000"/>
          </a:xfrm>
          <a:prstGeom prst="rect">
            <a:avLst/>
          </a:prstGeom>
          <a:solidFill>
            <a:srgbClr val="3B82F6"/>
          </a:solidFill>
          <a:ln/>
        </p:spPr>
      </p:sp>
      <p:sp>
        <p:nvSpPr>
          <p:cNvPr id="3" name="Shape 1"/>
          <p:cNvSpPr/>
          <p:nvPr/>
        </p:nvSpPr>
        <p:spPr>
          <a:xfrm>
            <a:off x="640080" y="502920"/>
            <a:ext cx="2377440" cy="384048"/>
          </a:xfrm>
          <a:prstGeom prst="roundRect">
            <a:avLst>
              <a:gd name="adj" fmla="val 50000"/>
            </a:avLst>
          </a:prstGeom>
          <a:solidFill>
            <a:srgbClr val="3B82F6"/>
          </a:solidFill>
          <a:ln/>
        </p:spPr>
      </p:sp>
      <p:sp>
        <p:nvSpPr>
          <p:cNvPr id="4" name="Text 2"/>
          <p:cNvSpPr/>
          <p:nvPr/>
        </p:nvSpPr>
        <p:spPr>
          <a:xfrm>
            <a:off x="640080" y="502920"/>
            <a:ext cx="2377440" cy="384048"/>
          </a:xfrm>
          <a:prstGeom prst="rect">
            <a:avLst/>
          </a:prstGeom>
          <a:noFill/>
          <a:ln/>
        </p:spPr>
        <p:txBody>
          <a:bodyPr wrap="square" rtlCol="0" anchor="ctr"/>
          <a:lstStyle/>
          <a:p>
            <a:pPr marL="0" indent="0" algn="ctr">
              <a:buNone/>
            </a:pPr>
            <a:r>
              <a:rPr lang="en-US" sz="1100" b="1" kern="0" spc="200" dirty="0">
                <a:solidFill>
                  <a:srgbClr val="FFFFFF"/>
                </a:solidFill>
                <a:latin typeface="Calibri" pitchFamily="34" charset="0"/>
                <a:ea typeface="Calibri" pitchFamily="34" charset="-122"/>
                <a:cs typeface="Calibri" pitchFamily="34" charset="-120"/>
              </a:rPr>
              <a:t>TECHNIQUE</a:t>
            </a:r>
            <a:endParaRPr lang="en-US" sz="1100" dirty="0"/>
          </a:p>
        </p:txBody>
      </p:sp>
      <p:sp>
        <p:nvSpPr>
          <p:cNvPr id="5" name="Text 3"/>
          <p:cNvSpPr/>
          <p:nvPr/>
        </p:nvSpPr>
        <p:spPr>
          <a:xfrm>
            <a:off x="640080" y="960120"/>
            <a:ext cx="10881360" cy="731520"/>
          </a:xfrm>
          <a:prstGeom prst="rect">
            <a:avLst/>
          </a:prstGeom>
          <a:noFill/>
          <a:ln/>
        </p:spPr>
        <p:txBody>
          <a:bodyPr wrap="square" rtlCol="0" anchor="ctr"/>
          <a:lstStyle/>
          <a:p>
            <a:pPr marL="0" indent="0">
              <a:buNone/>
            </a:pPr>
            <a:r>
              <a:rPr lang="en-US" sz="2700" b="1" dirty="0">
                <a:solidFill>
                  <a:srgbClr val="1E2761"/>
                </a:solidFill>
                <a:latin typeface="Georgia" pitchFamily="34" charset="0"/>
                <a:ea typeface="Georgia" pitchFamily="34" charset="-122"/>
                <a:cs typeface="Georgia" pitchFamily="34" charset="-120"/>
              </a:rPr>
              <a:t>Phase de test (pytest)</a:t>
            </a:r>
            <a:endParaRPr lang="en-US" sz="2700" dirty="0"/>
          </a:p>
        </p:txBody>
      </p:sp>
      <p:sp>
        <p:nvSpPr>
          <p:cNvPr id="6" name="Shape 4"/>
          <p:cNvSpPr/>
          <p:nvPr/>
        </p:nvSpPr>
        <p:spPr>
          <a:xfrm>
            <a:off x="640080" y="1664208"/>
            <a:ext cx="2011680" cy="0"/>
          </a:xfrm>
          <a:prstGeom prst="line">
            <a:avLst/>
          </a:prstGeom>
          <a:noFill/>
          <a:ln w="31750">
            <a:solidFill>
              <a:srgbClr val="3B82F6"/>
            </a:solidFill>
            <a:prstDash val="solid"/>
          </a:ln>
        </p:spPr>
      </p:sp>
      <p:sp>
        <p:nvSpPr>
          <p:cNvPr id="7" name="Text 5"/>
          <p:cNvSpPr/>
          <p:nvPr/>
        </p:nvSpPr>
        <p:spPr>
          <a:xfrm>
            <a:off x="11338560" y="6400800"/>
            <a:ext cx="548640" cy="274320"/>
          </a:xfrm>
          <a:prstGeom prst="rect">
            <a:avLst/>
          </a:prstGeom>
          <a:noFill/>
          <a:ln/>
        </p:spPr>
        <p:txBody>
          <a:bodyPr wrap="square" rtlCol="0" anchor="ctr"/>
          <a:lstStyle/>
          <a:p>
            <a:pPr marL="0" indent="0" algn="r">
              <a:buNone/>
            </a:pPr>
            <a:r>
              <a:rPr lang="en-US" sz="1000" dirty="0">
                <a:solidFill>
                  <a:srgbClr val="64748B"/>
                </a:solidFill>
                <a:latin typeface="Calibri" pitchFamily="34" charset="0"/>
                <a:ea typeface="Calibri" pitchFamily="34" charset="-122"/>
                <a:cs typeface="Calibri" pitchFamily="34" charset="-120"/>
              </a:rPr>
              <a:t>13</a:t>
            </a:r>
            <a:endParaRPr lang="en-US" sz="1000" dirty="0"/>
          </a:p>
        </p:txBody>
      </p:sp>
      <p:sp>
        <p:nvSpPr>
          <p:cNvPr id="8" name="Shape 6"/>
          <p:cNvSpPr/>
          <p:nvPr/>
        </p:nvSpPr>
        <p:spPr>
          <a:xfrm>
            <a:off x="640080" y="2194560"/>
            <a:ext cx="2514600" cy="1280160"/>
          </a:xfrm>
          <a:prstGeom prst="roundRect">
            <a:avLst>
              <a:gd name="adj" fmla="val 5714"/>
            </a:avLst>
          </a:prstGeom>
          <a:solidFill>
            <a:srgbClr val="FFFFFF"/>
          </a:solidFill>
          <a:ln w="12700">
            <a:solidFill>
              <a:srgbClr val="E2E8F0"/>
            </a:solidFill>
            <a:prstDash val="solid"/>
          </a:ln>
          <a:effectLst>
            <a:outerShdw blurRad="76200" dist="25400" dir="8100000" algn="bl" rotWithShape="0">
              <a:srgbClr val="94A3B8">
                <a:alpha val="18000"/>
              </a:srgbClr>
            </a:outerShdw>
          </a:effectLst>
        </p:spPr>
      </p:sp>
      <p:sp>
        <p:nvSpPr>
          <p:cNvPr id="9" name="Text 7"/>
          <p:cNvSpPr/>
          <p:nvPr/>
        </p:nvSpPr>
        <p:spPr>
          <a:xfrm>
            <a:off x="640080" y="2331720"/>
            <a:ext cx="2514600" cy="640080"/>
          </a:xfrm>
          <a:prstGeom prst="rect">
            <a:avLst/>
          </a:prstGeom>
          <a:noFill/>
          <a:ln/>
        </p:spPr>
        <p:txBody>
          <a:bodyPr wrap="square" rtlCol="0" anchor="ctr"/>
          <a:lstStyle/>
          <a:p>
            <a:pPr marL="0" indent="0" algn="ctr">
              <a:buNone/>
            </a:pPr>
            <a:r>
              <a:rPr lang="en-US" sz="2600" b="1" dirty="0">
                <a:solidFill>
                  <a:srgbClr val="6366F1"/>
                </a:solidFill>
                <a:latin typeface="Georgia" pitchFamily="34" charset="0"/>
                <a:ea typeface="Georgia" pitchFamily="34" charset="-122"/>
                <a:cs typeface="Georgia" pitchFamily="34" charset="-120"/>
              </a:rPr>
              <a:t>12</a:t>
            </a:r>
            <a:endParaRPr lang="en-US" sz="2600" dirty="0"/>
          </a:p>
        </p:txBody>
      </p:sp>
      <p:sp>
        <p:nvSpPr>
          <p:cNvPr id="10" name="Text 8"/>
          <p:cNvSpPr/>
          <p:nvPr/>
        </p:nvSpPr>
        <p:spPr>
          <a:xfrm>
            <a:off x="731520" y="2971800"/>
            <a:ext cx="2331720" cy="457200"/>
          </a:xfrm>
          <a:prstGeom prst="rect">
            <a:avLst/>
          </a:prstGeom>
          <a:noFill/>
          <a:ln/>
        </p:spPr>
        <p:txBody>
          <a:bodyPr wrap="square" rtlCol="0" anchor="ctr"/>
          <a:lstStyle/>
          <a:p>
            <a:pPr marL="0" indent="0" algn="ctr">
              <a:buNone/>
            </a:pPr>
            <a:r>
              <a:rPr lang="en-US" sz="1200" dirty="0">
                <a:solidFill>
                  <a:srgbClr val="64748B"/>
                </a:solidFill>
                <a:latin typeface="Calibri" pitchFamily="34" charset="0"/>
                <a:ea typeface="Calibri" pitchFamily="34" charset="-122"/>
                <a:cs typeface="Calibri" pitchFamily="34" charset="-120"/>
              </a:rPr>
              <a:t>tests verts</a:t>
            </a:r>
            <a:endParaRPr lang="en-US" sz="1200" dirty="0"/>
          </a:p>
        </p:txBody>
      </p:sp>
      <p:sp>
        <p:nvSpPr>
          <p:cNvPr id="11" name="Shape 9"/>
          <p:cNvSpPr/>
          <p:nvPr/>
        </p:nvSpPr>
        <p:spPr>
          <a:xfrm>
            <a:off x="3383280" y="2194560"/>
            <a:ext cx="2514600" cy="1280160"/>
          </a:xfrm>
          <a:prstGeom prst="roundRect">
            <a:avLst>
              <a:gd name="adj" fmla="val 5714"/>
            </a:avLst>
          </a:prstGeom>
          <a:solidFill>
            <a:srgbClr val="FFFFFF"/>
          </a:solidFill>
          <a:ln w="12700">
            <a:solidFill>
              <a:srgbClr val="E2E8F0"/>
            </a:solidFill>
            <a:prstDash val="solid"/>
          </a:ln>
          <a:effectLst>
            <a:outerShdw blurRad="76200" dist="25400" dir="8100000" algn="bl" rotWithShape="0">
              <a:srgbClr val="94A3B8">
                <a:alpha val="18000"/>
              </a:srgbClr>
            </a:outerShdw>
          </a:effectLst>
        </p:spPr>
      </p:sp>
      <p:sp>
        <p:nvSpPr>
          <p:cNvPr id="12" name="Text 10"/>
          <p:cNvSpPr/>
          <p:nvPr/>
        </p:nvSpPr>
        <p:spPr>
          <a:xfrm>
            <a:off x="3383280" y="2331720"/>
            <a:ext cx="2514600" cy="640080"/>
          </a:xfrm>
          <a:prstGeom prst="rect">
            <a:avLst/>
          </a:prstGeom>
          <a:noFill/>
          <a:ln/>
        </p:spPr>
        <p:txBody>
          <a:bodyPr wrap="square" rtlCol="0" anchor="ctr"/>
          <a:lstStyle/>
          <a:p>
            <a:pPr marL="0" indent="0" algn="ctr">
              <a:buNone/>
            </a:pPr>
            <a:r>
              <a:rPr lang="en-US" sz="2600" b="1" dirty="0">
                <a:solidFill>
                  <a:srgbClr val="6366F1"/>
                </a:solidFill>
                <a:latin typeface="Georgia" pitchFamily="34" charset="0"/>
                <a:ea typeface="Georgia" pitchFamily="34" charset="-122"/>
                <a:cs typeface="Georgia" pitchFamily="34" charset="-120"/>
              </a:rPr>
              <a:t>5</a:t>
            </a:r>
            <a:endParaRPr lang="en-US" sz="2600" dirty="0"/>
          </a:p>
        </p:txBody>
      </p:sp>
      <p:sp>
        <p:nvSpPr>
          <p:cNvPr id="13" name="Text 11"/>
          <p:cNvSpPr/>
          <p:nvPr/>
        </p:nvSpPr>
        <p:spPr>
          <a:xfrm>
            <a:off x="3474720" y="2971800"/>
            <a:ext cx="2331720" cy="457200"/>
          </a:xfrm>
          <a:prstGeom prst="rect">
            <a:avLst/>
          </a:prstGeom>
          <a:noFill/>
          <a:ln/>
        </p:spPr>
        <p:txBody>
          <a:bodyPr wrap="square" rtlCol="0" anchor="ctr"/>
          <a:lstStyle/>
          <a:p>
            <a:pPr marL="0" indent="0" algn="ctr">
              <a:buNone/>
            </a:pPr>
            <a:r>
              <a:rPr lang="en-US" sz="1200" dirty="0">
                <a:solidFill>
                  <a:srgbClr val="64748B"/>
                </a:solidFill>
                <a:latin typeface="Calibri" pitchFamily="34" charset="0"/>
                <a:ea typeface="Calibri" pitchFamily="34" charset="-122"/>
                <a:cs typeface="Calibri" pitchFamily="34" charset="-120"/>
              </a:rPr>
              <a:t>domaines</a:t>
            </a:r>
            <a:endParaRPr lang="en-US" sz="1200" dirty="0"/>
          </a:p>
        </p:txBody>
      </p:sp>
      <p:sp>
        <p:nvSpPr>
          <p:cNvPr id="14" name="Shape 12"/>
          <p:cNvSpPr/>
          <p:nvPr/>
        </p:nvSpPr>
        <p:spPr>
          <a:xfrm>
            <a:off x="6126480" y="2194560"/>
            <a:ext cx="2514600" cy="1280160"/>
          </a:xfrm>
          <a:prstGeom prst="roundRect">
            <a:avLst>
              <a:gd name="adj" fmla="val 5714"/>
            </a:avLst>
          </a:prstGeom>
          <a:solidFill>
            <a:srgbClr val="FFFFFF"/>
          </a:solidFill>
          <a:ln w="12700">
            <a:solidFill>
              <a:srgbClr val="E2E8F0"/>
            </a:solidFill>
            <a:prstDash val="solid"/>
          </a:ln>
          <a:effectLst>
            <a:outerShdw blurRad="76200" dist="25400" dir="8100000" algn="bl" rotWithShape="0">
              <a:srgbClr val="94A3B8">
                <a:alpha val="18000"/>
              </a:srgbClr>
            </a:outerShdw>
          </a:effectLst>
        </p:spPr>
      </p:sp>
      <p:sp>
        <p:nvSpPr>
          <p:cNvPr id="15" name="Text 13"/>
          <p:cNvSpPr/>
          <p:nvPr/>
        </p:nvSpPr>
        <p:spPr>
          <a:xfrm>
            <a:off x="6126480" y="2331720"/>
            <a:ext cx="2514600" cy="640080"/>
          </a:xfrm>
          <a:prstGeom prst="rect">
            <a:avLst/>
          </a:prstGeom>
          <a:noFill/>
          <a:ln/>
        </p:spPr>
        <p:txBody>
          <a:bodyPr wrap="square" rtlCol="0" anchor="ctr"/>
          <a:lstStyle/>
          <a:p>
            <a:pPr marL="0" indent="0" algn="ctr">
              <a:buNone/>
            </a:pPr>
            <a:r>
              <a:rPr lang="en-US" sz="2600" b="1" dirty="0">
                <a:solidFill>
                  <a:srgbClr val="6366F1"/>
                </a:solidFill>
                <a:latin typeface="Georgia" pitchFamily="34" charset="0"/>
                <a:ea typeface="Georgia" pitchFamily="34" charset="-122"/>
                <a:cs typeface="Georgia" pitchFamily="34" charset="-120"/>
              </a:rPr>
              <a:t>~610</a:t>
            </a:r>
            <a:endParaRPr lang="en-US" sz="2600" dirty="0"/>
          </a:p>
        </p:txBody>
      </p:sp>
      <p:sp>
        <p:nvSpPr>
          <p:cNvPr id="16" name="Text 14"/>
          <p:cNvSpPr/>
          <p:nvPr/>
        </p:nvSpPr>
        <p:spPr>
          <a:xfrm>
            <a:off x="6217920" y="2971800"/>
            <a:ext cx="2331720" cy="457200"/>
          </a:xfrm>
          <a:prstGeom prst="rect">
            <a:avLst/>
          </a:prstGeom>
          <a:noFill/>
          <a:ln/>
        </p:spPr>
        <p:txBody>
          <a:bodyPr wrap="square" rtlCol="0" anchor="ctr"/>
          <a:lstStyle/>
          <a:p>
            <a:pPr marL="0" indent="0" algn="ctr">
              <a:buNone/>
            </a:pPr>
            <a:r>
              <a:rPr lang="en-US" sz="1200" dirty="0">
                <a:solidFill>
                  <a:srgbClr val="64748B"/>
                </a:solidFill>
                <a:latin typeface="Calibri" pitchFamily="34" charset="0"/>
                <a:ea typeface="Calibri" pitchFamily="34" charset="-122"/>
                <a:cs typeface="Calibri" pitchFamily="34" charset="-120"/>
              </a:rPr>
              <a:t>produits</a:t>
            </a:r>
            <a:endParaRPr lang="en-US" sz="1200" dirty="0"/>
          </a:p>
        </p:txBody>
      </p:sp>
      <p:sp>
        <p:nvSpPr>
          <p:cNvPr id="17" name="Shape 15"/>
          <p:cNvSpPr/>
          <p:nvPr/>
        </p:nvSpPr>
        <p:spPr>
          <a:xfrm>
            <a:off x="8869680" y="2194560"/>
            <a:ext cx="2514600" cy="1280160"/>
          </a:xfrm>
          <a:prstGeom prst="roundRect">
            <a:avLst>
              <a:gd name="adj" fmla="val 5714"/>
            </a:avLst>
          </a:prstGeom>
          <a:solidFill>
            <a:srgbClr val="FFFFFF"/>
          </a:solidFill>
          <a:ln w="12700">
            <a:solidFill>
              <a:srgbClr val="E2E8F0"/>
            </a:solidFill>
            <a:prstDash val="solid"/>
          </a:ln>
          <a:effectLst>
            <a:outerShdw blurRad="76200" dist="25400" dir="8100000" algn="bl" rotWithShape="0">
              <a:srgbClr val="94A3B8">
                <a:alpha val="18000"/>
              </a:srgbClr>
            </a:outerShdw>
          </a:effectLst>
        </p:spPr>
      </p:sp>
      <p:sp>
        <p:nvSpPr>
          <p:cNvPr id="18" name="Text 16"/>
          <p:cNvSpPr/>
          <p:nvPr/>
        </p:nvSpPr>
        <p:spPr>
          <a:xfrm>
            <a:off x="8869680" y="2331720"/>
            <a:ext cx="2514600" cy="640080"/>
          </a:xfrm>
          <a:prstGeom prst="rect">
            <a:avLst/>
          </a:prstGeom>
          <a:noFill/>
          <a:ln/>
        </p:spPr>
        <p:txBody>
          <a:bodyPr wrap="square" rtlCol="0" anchor="ctr"/>
          <a:lstStyle/>
          <a:p>
            <a:pPr marL="0" indent="0" algn="ctr">
              <a:buNone/>
            </a:pPr>
            <a:r>
              <a:rPr lang="en-US" sz="2600" b="1" dirty="0">
                <a:solidFill>
                  <a:srgbClr val="6366F1"/>
                </a:solidFill>
                <a:latin typeface="Georgia" pitchFamily="34" charset="0"/>
                <a:ea typeface="Georgia" pitchFamily="34" charset="-122"/>
                <a:cs typeface="Georgia" pitchFamily="34" charset="-120"/>
              </a:rPr>
              <a:t>60 %</a:t>
            </a:r>
            <a:endParaRPr lang="en-US" sz="2600" dirty="0"/>
          </a:p>
        </p:txBody>
      </p:sp>
      <p:sp>
        <p:nvSpPr>
          <p:cNvPr id="19" name="Text 17"/>
          <p:cNvSpPr/>
          <p:nvPr/>
        </p:nvSpPr>
        <p:spPr>
          <a:xfrm>
            <a:off x="8961120" y="2971800"/>
            <a:ext cx="2331720" cy="457200"/>
          </a:xfrm>
          <a:prstGeom prst="rect">
            <a:avLst/>
          </a:prstGeom>
          <a:noFill/>
          <a:ln/>
        </p:spPr>
        <p:txBody>
          <a:bodyPr wrap="square" rtlCol="0" anchor="ctr"/>
          <a:lstStyle/>
          <a:p>
            <a:pPr marL="0" indent="0" algn="ctr">
              <a:buNone/>
            </a:pPr>
            <a:r>
              <a:rPr lang="en-US" sz="1200" dirty="0">
                <a:solidFill>
                  <a:srgbClr val="64748B"/>
                </a:solidFill>
                <a:latin typeface="Calibri" pitchFamily="34" charset="0"/>
                <a:ea typeface="Calibri" pitchFamily="34" charset="-122"/>
                <a:cs typeface="Calibri" pitchFamily="34" charset="-120"/>
              </a:rPr>
              <a:t>seuil gouvernance</a:t>
            </a:r>
            <a:endParaRPr lang="en-US" sz="1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640080" y="3749040"/>
          <a:ext cx="10881360" cy="2743200"/>
        </p:xfrm>
        <a:graphic>
          <a:graphicData uri="http://schemas.openxmlformats.org/drawingml/2006/table">
            <a:tbl>
              <a:tblPr/>
              <a:tblGrid>
                <a:gridCol w="3108960">
                  <a:extLst>
                    <a:ext uri="{9D8B030D-6E8A-4147-A177-3AD203B41FA5}">
                      <a16:colId xmlns:a16="http://schemas.microsoft.com/office/drawing/2014/main" val="20000"/>
                    </a:ext>
                  </a:extLst>
                </a:gridCol>
                <a:gridCol w="5943600">
                  <a:extLst>
                    <a:ext uri="{9D8B030D-6E8A-4147-A177-3AD203B41FA5}">
                      <a16:colId xmlns:a16="http://schemas.microsoft.com/office/drawing/2014/main" val="20001"/>
                    </a:ext>
                  </a:extLst>
                </a:gridCol>
                <a:gridCol w="1828800">
                  <a:extLst>
                    <a:ext uri="{9D8B030D-6E8A-4147-A177-3AD203B41FA5}">
                      <a16:colId xmlns:a16="http://schemas.microsoft.com/office/drawing/2014/main" val="20002"/>
                    </a:ext>
                  </a:extLst>
                </a:gridCol>
              </a:tblGrid>
              <a:tr h="457200">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Famille de tests</a:t>
                      </a:r>
                      <a:endParaRPr lang="en-US" sz="1300" dirty="0">
                        <a:latin typeface="Calibri" charset="0"/>
                        <a:ea typeface="Calibri" charset="0"/>
                        <a:cs typeface="Calibri" charset="0"/>
                      </a:endParaRPr>
                    </a:p>
                  </a:txBody>
                  <a:tcPr marL="76200" marR="76200" marT="76200" marB="7620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1E2761"/>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Scenario</a:t>
                      </a:r>
                      <a:endParaRPr lang="en-US" sz="1300" dirty="0">
                        <a:latin typeface="Calibri" charset="0"/>
                        <a:ea typeface="Calibri" charset="0"/>
                        <a:cs typeface="Calibri" charset="0"/>
                      </a:endParaRPr>
                    </a:p>
                  </a:txBody>
                  <a:tcPr marL="76200" marR="76200" marT="76200" marB="7620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1E2761"/>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Statut</a:t>
                      </a:r>
                      <a:endParaRPr lang="en-US" sz="1300" dirty="0">
                        <a:latin typeface="Calibri" charset="0"/>
                        <a:ea typeface="Calibri" charset="0"/>
                        <a:cs typeface="Calibri" charset="0"/>
                      </a:endParaRPr>
                    </a:p>
                  </a:txBody>
                  <a:tcPr marL="76200" marR="76200" marT="76200" marB="7620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1E2761"/>
                    </a:solidFill>
                  </a:tcPr>
                </a:tc>
                <a:extLst>
                  <a:ext uri="{0D108BD9-81ED-4DB2-BD59-A6C34878D82A}">
                    <a16:rowId xmlns:a16="http://schemas.microsoft.com/office/drawing/2014/main" val="10000"/>
                  </a:ext>
                </a:extLst>
              </a:tr>
              <a:tr h="457200">
                <a:tc>
                  <a:txBody>
                    <a:bodyPr/>
                    <a:lstStyle/>
                    <a:p>
                      <a:pPr marL="0" indent="0">
                        <a:buNone/>
                      </a:pPr>
                      <a:r>
                        <a:rPr lang="en-US" sz="1300" b="1" dirty="0">
                          <a:solidFill>
                            <a:srgbClr val="1E2761"/>
                          </a:solidFill>
                          <a:latin typeface="Calibri" pitchFamily="34" charset="0"/>
                          <a:ea typeface="Calibri" pitchFamily="34" charset="-122"/>
                          <a:cs typeface="Calibri" pitchFamily="34" charset="-120"/>
                        </a:rPr>
                        <a:t>Authentification</a:t>
                      </a:r>
                      <a:endParaRPr lang="en-US" sz="1300" dirty="0">
                        <a:latin typeface="Calibri" charset="0"/>
                        <a:ea typeface="Calibri" charset="0"/>
                        <a:cs typeface="Calibri" charset="0"/>
                      </a:endParaRPr>
                    </a:p>
                  </a:txBody>
                  <a:tcPr marL="76200" marR="76200" marT="76200" marB="7620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300" dirty="0">
                          <a:solidFill>
                            <a:srgbClr val="1E293B"/>
                          </a:solidFill>
                          <a:latin typeface="Calibri" pitchFamily="34" charset="0"/>
                          <a:ea typeface="Calibri" pitchFamily="34" charset="-122"/>
                          <a:cs typeface="Calibri" pitchFamily="34" charset="-120"/>
                        </a:rPr>
                        <a:t>login OK / mauvais mot de passe</a:t>
                      </a:r>
                      <a:endParaRPr lang="en-US" sz="1300" dirty="0">
                        <a:latin typeface="Calibri" charset="0"/>
                        <a:ea typeface="Calibri" charset="0"/>
                        <a:cs typeface="Calibri" charset="0"/>
                      </a:endParaRPr>
                    </a:p>
                  </a:txBody>
                  <a:tcPr marL="76200" marR="76200" marT="76200" marB="7620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1300" b="1" dirty="0">
                          <a:solidFill>
                            <a:srgbClr val="10B981"/>
                          </a:solidFill>
                          <a:latin typeface="Calibri" pitchFamily="34" charset="0"/>
                          <a:ea typeface="Calibri" pitchFamily="34" charset="-122"/>
                          <a:cs typeface="Calibri" pitchFamily="34" charset="-120"/>
                        </a:rPr>
                        <a:t>OK</a:t>
                      </a:r>
                      <a:endParaRPr lang="en-US" sz="1300" dirty="0">
                        <a:latin typeface="Calibri" charset="0"/>
                        <a:ea typeface="Calibri" charset="0"/>
                        <a:cs typeface="Calibri" charset="0"/>
                      </a:endParaRPr>
                    </a:p>
                  </a:txBody>
                  <a:tcPr marL="76200" marR="76200" marT="76200" marB="7620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marL="0" indent="0">
                        <a:buNone/>
                      </a:pPr>
                      <a:r>
                        <a:rPr lang="en-US" sz="1300" b="1" dirty="0">
                          <a:solidFill>
                            <a:srgbClr val="1E2761"/>
                          </a:solidFill>
                          <a:latin typeface="Calibri" pitchFamily="34" charset="0"/>
                          <a:ea typeface="Calibri" pitchFamily="34" charset="-122"/>
                          <a:cs typeface="Calibri" pitchFamily="34" charset="-120"/>
                        </a:rPr>
                        <a:t>Ingestion / upsert</a:t>
                      </a:r>
                      <a:endParaRPr lang="en-US" sz="1300" dirty="0">
                        <a:latin typeface="Calibri" charset="0"/>
                        <a:ea typeface="Calibri" charset="0"/>
                        <a:cs typeface="Calibri" charset="0"/>
                      </a:endParaRPr>
                    </a:p>
                  </a:txBody>
                  <a:tcPr marL="76200" marR="76200" marT="76200" marB="7620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EEF2FF"/>
                    </a:solidFill>
                  </a:tcPr>
                </a:tc>
                <a:tc>
                  <a:txBody>
                    <a:bodyPr/>
                    <a:lstStyle/>
                    <a:p>
                      <a:pPr marL="0" indent="0">
                        <a:buNone/>
                      </a:pPr>
                      <a:r>
                        <a:rPr lang="en-US" sz="1300" dirty="0">
                          <a:solidFill>
                            <a:srgbClr val="1E293B"/>
                          </a:solidFill>
                          <a:latin typeface="Calibri" pitchFamily="34" charset="0"/>
                          <a:ea typeface="Calibri" pitchFamily="34" charset="-122"/>
                          <a:cs typeface="Calibri" pitchFamily="34" charset="-120"/>
                        </a:rPr>
                        <a:t>extraction + enregistrement sans doublon</a:t>
                      </a:r>
                      <a:endParaRPr lang="en-US" sz="1300" dirty="0">
                        <a:latin typeface="Calibri" charset="0"/>
                        <a:ea typeface="Calibri" charset="0"/>
                        <a:cs typeface="Calibri" charset="0"/>
                      </a:endParaRPr>
                    </a:p>
                  </a:txBody>
                  <a:tcPr marL="76200" marR="76200" marT="76200" marB="7620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EEF2FF"/>
                    </a:solidFill>
                  </a:tcPr>
                </a:tc>
                <a:tc>
                  <a:txBody>
                    <a:bodyPr/>
                    <a:lstStyle/>
                    <a:p>
                      <a:pPr marL="0" indent="0" algn="ctr">
                        <a:buNone/>
                      </a:pPr>
                      <a:r>
                        <a:rPr lang="en-US" sz="1300" b="1" dirty="0">
                          <a:solidFill>
                            <a:srgbClr val="10B981"/>
                          </a:solidFill>
                          <a:latin typeface="Calibri" pitchFamily="34" charset="0"/>
                          <a:ea typeface="Calibri" pitchFamily="34" charset="-122"/>
                          <a:cs typeface="Calibri" pitchFamily="34" charset="-120"/>
                        </a:rPr>
                        <a:t>OK</a:t>
                      </a:r>
                      <a:endParaRPr lang="en-US" sz="1300" dirty="0">
                        <a:latin typeface="Calibri" charset="0"/>
                        <a:ea typeface="Calibri" charset="0"/>
                        <a:cs typeface="Calibri" charset="0"/>
                      </a:endParaRPr>
                    </a:p>
                  </a:txBody>
                  <a:tcPr marL="76200" marR="76200" marT="76200" marB="7620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EEF2FF"/>
                    </a:solidFill>
                  </a:tcPr>
                </a:tc>
                <a:extLst>
                  <a:ext uri="{0D108BD9-81ED-4DB2-BD59-A6C34878D82A}">
                    <a16:rowId xmlns:a16="http://schemas.microsoft.com/office/drawing/2014/main" val="10002"/>
                  </a:ext>
                </a:extLst>
              </a:tr>
              <a:tr h="457200">
                <a:tc>
                  <a:txBody>
                    <a:bodyPr/>
                    <a:lstStyle/>
                    <a:p>
                      <a:pPr marL="0" indent="0">
                        <a:buNone/>
                      </a:pPr>
                      <a:r>
                        <a:rPr lang="en-US" sz="1300" b="1" dirty="0">
                          <a:solidFill>
                            <a:srgbClr val="1E2761"/>
                          </a:solidFill>
                          <a:latin typeface="Calibri" pitchFamily="34" charset="0"/>
                          <a:ea typeface="Calibri" pitchFamily="34" charset="-122"/>
                          <a:cs typeface="Calibri" pitchFamily="34" charset="-120"/>
                        </a:rPr>
                        <a:t>Completude</a:t>
                      </a:r>
                      <a:endParaRPr lang="en-US" sz="1300" dirty="0">
                        <a:latin typeface="Calibri" charset="0"/>
                        <a:ea typeface="Calibri" charset="0"/>
                        <a:cs typeface="Calibri" charset="0"/>
                      </a:endParaRPr>
                    </a:p>
                  </a:txBody>
                  <a:tcPr marL="76200" marR="76200" marT="76200" marB="7620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300" dirty="0">
                          <a:solidFill>
                            <a:srgbClr val="1E293B"/>
                          </a:solidFill>
                          <a:latin typeface="Calibri" pitchFamily="34" charset="0"/>
                          <a:ea typeface="Calibri" pitchFamily="34" charset="-122"/>
                          <a:cs typeface="Calibri" pitchFamily="34" charset="-120"/>
                        </a:rPr>
                        <a:t>champs manquants, montee a 100 %</a:t>
                      </a:r>
                      <a:endParaRPr lang="en-US" sz="1300" dirty="0">
                        <a:latin typeface="Calibri" charset="0"/>
                        <a:ea typeface="Calibri" charset="0"/>
                        <a:cs typeface="Calibri" charset="0"/>
                      </a:endParaRPr>
                    </a:p>
                  </a:txBody>
                  <a:tcPr marL="76200" marR="76200" marT="76200" marB="7620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1300" b="1" dirty="0">
                          <a:solidFill>
                            <a:srgbClr val="10B981"/>
                          </a:solidFill>
                          <a:latin typeface="Calibri" pitchFamily="34" charset="0"/>
                          <a:ea typeface="Calibri" pitchFamily="34" charset="-122"/>
                          <a:cs typeface="Calibri" pitchFamily="34" charset="-120"/>
                        </a:rPr>
                        <a:t>OK</a:t>
                      </a:r>
                      <a:endParaRPr lang="en-US" sz="1300" dirty="0">
                        <a:latin typeface="Calibri" charset="0"/>
                        <a:ea typeface="Calibri" charset="0"/>
                        <a:cs typeface="Calibri" charset="0"/>
                      </a:endParaRPr>
                    </a:p>
                  </a:txBody>
                  <a:tcPr marL="76200" marR="76200" marT="76200" marB="7620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57200">
                <a:tc>
                  <a:txBody>
                    <a:bodyPr/>
                    <a:lstStyle/>
                    <a:p>
                      <a:pPr marL="0" indent="0">
                        <a:buNone/>
                      </a:pPr>
                      <a:r>
                        <a:rPr lang="en-US" sz="1300" b="1" dirty="0">
                          <a:solidFill>
                            <a:srgbClr val="1E2761"/>
                          </a:solidFill>
                          <a:latin typeface="Calibri" pitchFamily="34" charset="0"/>
                          <a:ea typeface="Calibri" pitchFamily="34" charset="-122"/>
                          <a:cs typeface="Calibri" pitchFamily="34" charset="-120"/>
                        </a:rPr>
                        <a:t>Workflow / droits</a:t>
                      </a:r>
                      <a:endParaRPr lang="en-US" sz="1300" dirty="0">
                        <a:latin typeface="Calibri" charset="0"/>
                        <a:ea typeface="Calibri" charset="0"/>
                        <a:cs typeface="Calibri" charset="0"/>
                      </a:endParaRPr>
                    </a:p>
                  </a:txBody>
                  <a:tcPr marL="76200" marR="76200" marT="76200" marB="7620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EEF2FF"/>
                    </a:solidFill>
                  </a:tcPr>
                </a:tc>
                <a:tc>
                  <a:txBody>
                    <a:bodyPr/>
                    <a:lstStyle/>
                    <a:p>
                      <a:pPr marL="0" indent="0">
                        <a:buNone/>
                      </a:pPr>
                      <a:r>
                        <a:rPr lang="en-US" sz="1300" dirty="0">
                          <a:solidFill>
                            <a:srgbClr val="1E293B"/>
                          </a:solidFill>
                          <a:latin typeface="Calibri" pitchFamily="34" charset="0"/>
                          <a:ea typeface="Calibri" pitchFamily="34" charset="-122"/>
                          <a:cs typeface="Calibri" pitchFamily="34" charset="-120"/>
                        </a:rPr>
                        <a:t>refus &lt; 60 %, validation admin only</a:t>
                      </a:r>
                      <a:endParaRPr lang="en-US" sz="1300" dirty="0">
                        <a:latin typeface="Calibri" charset="0"/>
                        <a:ea typeface="Calibri" charset="0"/>
                        <a:cs typeface="Calibri" charset="0"/>
                      </a:endParaRPr>
                    </a:p>
                  </a:txBody>
                  <a:tcPr marL="76200" marR="76200" marT="76200" marB="7620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EEF2FF"/>
                    </a:solidFill>
                  </a:tcPr>
                </a:tc>
                <a:tc>
                  <a:txBody>
                    <a:bodyPr/>
                    <a:lstStyle/>
                    <a:p>
                      <a:pPr marL="0" indent="0" algn="ctr">
                        <a:buNone/>
                      </a:pPr>
                      <a:r>
                        <a:rPr lang="en-US" sz="1300" b="1" dirty="0">
                          <a:solidFill>
                            <a:srgbClr val="10B981"/>
                          </a:solidFill>
                          <a:latin typeface="Calibri" pitchFamily="34" charset="0"/>
                          <a:ea typeface="Calibri" pitchFamily="34" charset="-122"/>
                          <a:cs typeface="Calibri" pitchFamily="34" charset="-120"/>
                        </a:rPr>
                        <a:t>OK</a:t>
                      </a:r>
                      <a:endParaRPr lang="en-US" sz="1300" dirty="0">
                        <a:latin typeface="Calibri" charset="0"/>
                        <a:ea typeface="Calibri" charset="0"/>
                        <a:cs typeface="Calibri" charset="0"/>
                      </a:endParaRPr>
                    </a:p>
                  </a:txBody>
                  <a:tcPr marL="76200" marR="76200" marT="76200" marB="7620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EEF2FF"/>
                    </a:solidFill>
                  </a:tcPr>
                </a:tc>
                <a:extLst>
                  <a:ext uri="{0D108BD9-81ED-4DB2-BD59-A6C34878D82A}">
                    <a16:rowId xmlns:a16="http://schemas.microsoft.com/office/drawing/2014/main" val="10004"/>
                  </a:ext>
                </a:extLst>
              </a:tr>
              <a:tr h="457200">
                <a:tc>
                  <a:txBody>
                    <a:bodyPr/>
                    <a:lstStyle/>
                    <a:p>
                      <a:pPr marL="0" indent="0">
                        <a:buNone/>
                      </a:pPr>
                      <a:r>
                        <a:rPr lang="en-US" sz="1300" b="1" dirty="0">
                          <a:solidFill>
                            <a:srgbClr val="1E2761"/>
                          </a:solidFill>
                          <a:latin typeface="Calibri" pitchFamily="34" charset="0"/>
                          <a:ea typeface="Calibri" pitchFamily="34" charset="-122"/>
                          <a:cs typeface="Calibri" pitchFamily="34" charset="-120"/>
                        </a:rPr>
                        <a:t>Diffusion</a:t>
                      </a:r>
                      <a:endParaRPr lang="en-US" sz="1300" dirty="0">
                        <a:latin typeface="Calibri" charset="0"/>
                        <a:ea typeface="Calibri" charset="0"/>
                        <a:cs typeface="Calibri" charset="0"/>
                      </a:endParaRPr>
                    </a:p>
                  </a:txBody>
                  <a:tcPr marL="76200" marR="76200" marT="76200" marB="7620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1300" dirty="0">
                          <a:solidFill>
                            <a:srgbClr val="1E293B"/>
                          </a:solidFill>
                          <a:latin typeface="Calibri" pitchFamily="34" charset="0"/>
                          <a:ea typeface="Calibri" pitchFamily="34" charset="-122"/>
                          <a:cs typeface="Calibri" pitchFamily="34" charset="-120"/>
                        </a:rPr>
                        <a:t>publication + export canal</a:t>
                      </a:r>
                      <a:endParaRPr lang="en-US" sz="1300" dirty="0">
                        <a:latin typeface="Calibri" charset="0"/>
                        <a:ea typeface="Calibri" charset="0"/>
                        <a:cs typeface="Calibri" charset="0"/>
                      </a:endParaRPr>
                    </a:p>
                  </a:txBody>
                  <a:tcPr marL="76200" marR="76200" marT="76200" marB="7620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tc>
                  <a:txBody>
                    <a:bodyPr/>
                    <a:lstStyle/>
                    <a:p>
                      <a:pPr marL="0" indent="0" algn="ctr">
                        <a:buNone/>
                      </a:pPr>
                      <a:r>
                        <a:rPr lang="en-US" sz="1300" b="1" dirty="0">
                          <a:solidFill>
                            <a:srgbClr val="10B981"/>
                          </a:solidFill>
                          <a:latin typeface="Calibri" pitchFamily="34" charset="0"/>
                          <a:ea typeface="Calibri" pitchFamily="34" charset="-122"/>
                          <a:cs typeface="Calibri" pitchFamily="34" charset="-120"/>
                        </a:rPr>
                        <a:t>OK</a:t>
                      </a:r>
                      <a:endParaRPr lang="en-US" sz="1300" dirty="0">
                        <a:latin typeface="Calibri" charset="0"/>
                        <a:ea typeface="Calibri" charset="0"/>
                        <a:cs typeface="Calibri" charset="0"/>
                      </a:endParaRPr>
                    </a:p>
                  </a:txBody>
                  <a:tcPr marL="76200" marR="76200" marT="76200" marB="76200"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E2761"/>
        </a:solidFill>
        <a:effectLst/>
      </p:bgPr>
    </p:bg>
    <p:spTree>
      <p:nvGrpSpPr>
        <p:cNvPr id="1" name=""/>
        <p:cNvGrpSpPr/>
        <p:nvPr/>
      </p:nvGrpSpPr>
      <p:grpSpPr>
        <a:xfrm>
          <a:off x="0" y="0"/>
          <a:ext cx="0" cy="0"/>
          <a:chOff x="0" y="0"/>
          <a:chExt cx="0" cy="0"/>
        </a:xfrm>
      </p:grpSpPr>
      <p:sp>
        <p:nvSpPr>
          <p:cNvPr id="2" name="Shape 0"/>
          <p:cNvSpPr/>
          <p:nvPr/>
        </p:nvSpPr>
        <p:spPr>
          <a:xfrm>
            <a:off x="-1828800" y="3840480"/>
            <a:ext cx="5486400" cy="5486400"/>
          </a:xfrm>
          <a:prstGeom prst="ellipse">
            <a:avLst/>
          </a:prstGeom>
          <a:solidFill>
            <a:srgbClr val="6366F1">
              <a:alpha val="30000"/>
            </a:srgbClr>
          </a:solidFill>
          <a:ln/>
        </p:spPr>
      </p:sp>
      <p:sp>
        <p:nvSpPr>
          <p:cNvPr id="3" name="Shape 1"/>
          <p:cNvSpPr/>
          <p:nvPr/>
        </p:nvSpPr>
        <p:spPr>
          <a:xfrm>
            <a:off x="9144000" y="-1828800"/>
            <a:ext cx="5486400" cy="5486400"/>
          </a:xfrm>
          <a:prstGeom prst="ellipse">
            <a:avLst/>
          </a:prstGeom>
          <a:solidFill>
            <a:srgbClr val="818CF8">
              <a:alpha val="22000"/>
            </a:srgbClr>
          </a:solidFill>
          <a:ln/>
        </p:spPr>
      </p:sp>
      <p:sp>
        <p:nvSpPr>
          <p:cNvPr id="4" name="Text 2"/>
          <p:cNvSpPr/>
          <p:nvPr/>
        </p:nvSpPr>
        <p:spPr>
          <a:xfrm>
            <a:off x="822960" y="640080"/>
            <a:ext cx="10515600" cy="822960"/>
          </a:xfrm>
          <a:prstGeom prst="rect">
            <a:avLst/>
          </a:prstGeom>
          <a:noFill/>
          <a:ln/>
        </p:spPr>
        <p:txBody>
          <a:bodyPr wrap="square" rtlCol="0" anchor="ctr"/>
          <a:lstStyle/>
          <a:p>
            <a:pPr marL="0" indent="0">
              <a:buNone/>
            </a:pPr>
            <a:r>
              <a:rPr lang="en-US" sz="3200" b="1" dirty="0">
                <a:solidFill>
                  <a:srgbClr val="FFFFFF"/>
                </a:solidFill>
                <a:latin typeface="Georgia" pitchFamily="34" charset="0"/>
                <a:ea typeface="Georgia" pitchFamily="34" charset="-122"/>
                <a:cs typeface="Georgia" pitchFamily="34" charset="-120"/>
              </a:rPr>
              <a:t>Conclusion &amp; perspectives</a:t>
            </a:r>
            <a:endParaRPr lang="en-US" sz="3200" dirty="0"/>
          </a:p>
        </p:txBody>
      </p:sp>
      <p:sp>
        <p:nvSpPr>
          <p:cNvPr id="5" name="Shape 3"/>
          <p:cNvSpPr/>
          <p:nvPr/>
        </p:nvSpPr>
        <p:spPr>
          <a:xfrm>
            <a:off x="914400" y="1463040"/>
            <a:ext cx="2286000" cy="0"/>
          </a:xfrm>
          <a:prstGeom prst="line">
            <a:avLst/>
          </a:prstGeom>
          <a:noFill/>
          <a:ln w="38100">
            <a:solidFill>
              <a:srgbClr val="818CF8"/>
            </a:solidFill>
            <a:prstDash val="solid"/>
          </a:ln>
        </p:spPr>
      </p:sp>
      <p:sp>
        <p:nvSpPr>
          <p:cNvPr id="6" name="Text 4"/>
          <p:cNvSpPr/>
          <p:nvPr/>
        </p:nvSpPr>
        <p:spPr>
          <a:xfrm>
            <a:off x="914400" y="1783080"/>
            <a:ext cx="10332720" cy="1097280"/>
          </a:xfrm>
          <a:prstGeom prst="rect">
            <a:avLst/>
          </a:prstGeom>
          <a:noFill/>
          <a:ln/>
        </p:spPr>
        <p:txBody>
          <a:bodyPr wrap="square" rtlCol="0" anchor="ctr"/>
          <a:lstStyle/>
          <a:p>
            <a:pPr marL="0" indent="0">
              <a:lnSpc>
                <a:spcPct val="125000"/>
              </a:lnSpc>
              <a:buNone/>
            </a:pPr>
            <a:r>
              <a:rPr lang="en-US" sz="1650" dirty="0">
                <a:solidFill>
                  <a:srgbClr val="CADCFC"/>
                </a:solidFill>
                <a:latin typeface="Calibri" pitchFamily="34" charset="0"/>
                <a:ea typeface="Calibri" pitchFamily="34" charset="-122"/>
                <a:cs typeface="Calibri" pitchFamily="34" charset="-120"/>
              </a:rPr>
              <a:t>PIMP demontre les fonctions essentielles d'un PIM : </a:t>
            </a:r>
            <a:r>
              <a:rPr lang="en-US" sz="1650" b="1" dirty="0">
                <a:solidFill>
                  <a:srgbClr val="FFFFFF"/>
                </a:solidFill>
                <a:latin typeface="Calibri" pitchFamily="34" charset="0"/>
                <a:ea typeface="Calibri" pitchFamily="34" charset="-122"/>
                <a:cs typeface="Calibri" pitchFamily="34" charset="-120"/>
              </a:rPr>
              <a:t>ingestion par IA de vision, referentiel unique, enrichissement multilingue, qualite, gouvernance par workflow, diffusion omnicanale.</a:t>
            </a:r>
            <a:endParaRPr lang="en-US" sz="1650" dirty="0"/>
          </a:p>
        </p:txBody>
      </p:sp>
      <p:sp>
        <p:nvSpPr>
          <p:cNvPr id="7" name="Text 5"/>
          <p:cNvSpPr/>
          <p:nvPr/>
        </p:nvSpPr>
        <p:spPr>
          <a:xfrm>
            <a:off x="914400" y="2971800"/>
            <a:ext cx="4572000" cy="365760"/>
          </a:xfrm>
          <a:prstGeom prst="rect">
            <a:avLst/>
          </a:prstGeom>
          <a:noFill/>
          <a:ln/>
        </p:spPr>
        <p:txBody>
          <a:bodyPr wrap="square" rtlCol="0" anchor="ctr"/>
          <a:lstStyle/>
          <a:p>
            <a:pPr marL="0" indent="0">
              <a:buNone/>
            </a:pPr>
            <a:r>
              <a:rPr lang="en-US" sz="1600" b="1" dirty="0">
                <a:solidFill>
                  <a:srgbClr val="818CF8"/>
                </a:solidFill>
                <a:latin typeface="Calibri" pitchFamily="34" charset="0"/>
                <a:ea typeface="Calibri" pitchFamily="34" charset="-122"/>
                <a:cs typeface="Calibri" pitchFamily="34" charset="-120"/>
              </a:rPr>
              <a:t>Perspectives</a:t>
            </a:r>
            <a:endParaRPr lang="en-US" sz="1600" dirty="0"/>
          </a:p>
        </p:txBody>
      </p:sp>
      <p:sp>
        <p:nvSpPr>
          <p:cNvPr id="8" name="Text 6"/>
          <p:cNvSpPr/>
          <p:nvPr/>
        </p:nvSpPr>
        <p:spPr>
          <a:xfrm>
            <a:off x="914400" y="3337560"/>
            <a:ext cx="10058400" cy="914400"/>
          </a:xfrm>
          <a:prstGeom prst="rect">
            <a:avLst/>
          </a:prstGeom>
          <a:noFill/>
          <a:ln/>
        </p:spPr>
        <p:txBody>
          <a:bodyPr wrap="square" rtlCol="0" anchor="ctr"/>
          <a:lstStyle/>
          <a:p>
            <a:pPr marL="342900" indent="-342900">
              <a:lnSpc>
                <a:spcPct val="125000"/>
              </a:lnSpc>
              <a:buSzPct val="100000"/>
              <a:buChar char="•"/>
            </a:pPr>
            <a:r>
              <a:rPr lang="en-US" sz="1450" dirty="0">
                <a:solidFill>
                  <a:srgbClr val="FFFFFF"/>
                </a:solidFill>
                <a:latin typeface="Calibri" pitchFamily="34" charset="0"/>
                <a:ea typeface="Calibri" pitchFamily="34" charset="-122"/>
                <a:cs typeface="Calibri" pitchFamily="34" charset="-120"/>
              </a:rPr>
              <a:t>Extraction par lot, import/export en masse</a:t>
            </a:r>
            <a:endParaRPr lang="en-US" sz="1450" dirty="0"/>
          </a:p>
          <a:p>
            <a:pPr marL="342900" indent="-342900">
              <a:lnSpc>
                <a:spcPct val="125000"/>
              </a:lnSpc>
              <a:buSzPct val="100000"/>
              <a:buChar char="•"/>
            </a:pPr>
            <a:r>
              <a:rPr lang="en-US" sz="1450" dirty="0">
                <a:solidFill>
                  <a:srgbClr val="FFFFFF"/>
                </a:solidFill>
                <a:latin typeface="Calibri" pitchFamily="34" charset="0"/>
                <a:ea typeface="Calibri" pitchFamily="34" charset="-122"/>
                <a:cs typeface="Calibri" pitchFamily="34" charset="-120"/>
              </a:rPr>
              <a:t>Connecteurs ERP / e-commerce, syndication temps reel</a:t>
            </a:r>
            <a:endParaRPr lang="en-US" sz="1450" dirty="0"/>
          </a:p>
        </p:txBody>
      </p:sp>
      <p:sp>
        <p:nvSpPr>
          <p:cNvPr id="9" name="Shape 7"/>
          <p:cNvSpPr/>
          <p:nvPr/>
        </p:nvSpPr>
        <p:spPr>
          <a:xfrm>
            <a:off x="914400" y="4617720"/>
            <a:ext cx="10332720" cy="0"/>
          </a:xfrm>
          <a:prstGeom prst="line">
            <a:avLst/>
          </a:prstGeom>
          <a:noFill/>
          <a:ln w="12700">
            <a:solidFill>
              <a:srgbClr val="3A4170"/>
            </a:solidFill>
            <a:prstDash val="solid"/>
          </a:ln>
        </p:spPr>
      </p:sp>
      <p:sp>
        <p:nvSpPr>
          <p:cNvPr id="10" name="Text 8"/>
          <p:cNvSpPr/>
          <p:nvPr/>
        </p:nvSpPr>
        <p:spPr>
          <a:xfrm>
            <a:off x="822960" y="4892040"/>
            <a:ext cx="10515600" cy="731520"/>
          </a:xfrm>
          <a:prstGeom prst="rect">
            <a:avLst/>
          </a:prstGeom>
          <a:noFill/>
          <a:ln/>
        </p:spPr>
        <p:txBody>
          <a:bodyPr wrap="square" rtlCol="0" anchor="ctr"/>
          <a:lstStyle/>
          <a:p>
            <a:pPr marL="0" indent="0">
              <a:buNone/>
            </a:pPr>
            <a:r>
              <a:rPr lang="en-US" sz="3000" b="1" dirty="0">
                <a:solidFill>
                  <a:srgbClr val="FFFFFF"/>
                </a:solidFill>
                <a:latin typeface="Georgia" pitchFamily="34" charset="0"/>
                <a:ea typeface="Georgia" pitchFamily="34" charset="-122"/>
                <a:cs typeface="Georgia" pitchFamily="34" charset="-120"/>
              </a:rPr>
              <a:t>Merci - Questions &amp; demonstration</a:t>
            </a:r>
            <a:endParaRPr lang="en-US" sz="3000" dirty="0"/>
          </a:p>
        </p:txBody>
      </p:sp>
      <p:sp>
        <p:nvSpPr>
          <p:cNvPr id="11" name="Text 9"/>
          <p:cNvSpPr/>
          <p:nvPr/>
        </p:nvSpPr>
        <p:spPr>
          <a:xfrm>
            <a:off x="914400" y="5806440"/>
            <a:ext cx="10515600" cy="365760"/>
          </a:xfrm>
          <a:prstGeom prst="rect">
            <a:avLst/>
          </a:prstGeom>
          <a:noFill/>
          <a:ln/>
        </p:spPr>
        <p:txBody>
          <a:bodyPr wrap="square" rtlCol="0" anchor="ctr"/>
          <a:lstStyle/>
          <a:p>
            <a:pPr marL="0" indent="0">
              <a:buNone/>
            </a:pPr>
            <a:r>
              <a:rPr lang="en-US" sz="1300" dirty="0">
                <a:solidFill>
                  <a:srgbClr val="CADCFC"/>
                </a:solidFill>
                <a:latin typeface="Calibri" pitchFamily="34" charset="0"/>
                <a:ea typeface="Calibri" pitchFamily="34" charset="-122"/>
                <a:cs typeface="Calibri" pitchFamily="34" charset="-120"/>
              </a:rPr>
              <a:t>Projet dev4pimp25 - PIMP - Philippe Sam EFTEKHARI . Anass IMLI</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54</TotalTime>
  <Words>2060</Words>
  <Application>Microsoft Office PowerPoint</Application>
  <PresentationFormat>Grand écran</PresentationFormat>
  <Paragraphs>222</Paragraphs>
  <Slides>15</Slides>
  <Notes>15</Notes>
  <HiddenSlides>0</HiddenSlides>
  <MMClips>0</MMClips>
  <ScaleCrop>false</ScaleCrop>
  <HeadingPairs>
    <vt:vector size="6" baseType="variant">
      <vt:variant>
        <vt:lpstr>Polices utilisées</vt:lpstr>
      </vt:variant>
      <vt:variant>
        <vt:i4>4</vt:i4>
      </vt:variant>
      <vt:variant>
        <vt:lpstr>Thème</vt:lpstr>
      </vt:variant>
      <vt:variant>
        <vt:i4>1</vt:i4>
      </vt:variant>
      <vt:variant>
        <vt:lpstr>Titres des diapositives</vt:lpstr>
      </vt:variant>
      <vt:variant>
        <vt:i4>15</vt:i4>
      </vt:variant>
    </vt:vector>
  </HeadingPairs>
  <TitlesOfParts>
    <vt:vector size="20" baseType="lpstr">
      <vt:lpstr>Arial</vt:lpstr>
      <vt:lpstr>Calibri</vt:lpstr>
      <vt:lpstr>Consolas</vt:lpstr>
      <vt:lpstr>Georgia</vt:lpstr>
      <vt:lpstr>Office Theme</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PIMP - Plateforme de PIM</dc:title>
  <dc:subject>PptxGenJS Presentation</dc:subject>
  <dc:creator>Philippe Sam EFTEKHARI &amp; Anass IMLI</dc:creator>
  <cp:lastModifiedBy>Sam EFTEKHARI</cp:lastModifiedBy>
  <cp:revision>10</cp:revision>
  <dcterms:created xsi:type="dcterms:W3CDTF">2026-06-26T08:03:46Z</dcterms:created>
  <dcterms:modified xsi:type="dcterms:W3CDTF">2026-06-26T09:05:17Z</dcterms:modified>
</cp:coreProperties>
</file>