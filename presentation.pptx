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2011680"/>
            <a:ext cx="5486400" cy="5486400"/>
          </a:xfrm>
          <a:prstGeom prst="ellipse">
            <a:avLst/>
          </a:prstGeom>
          <a:solidFill>
            <a:srgbClr val="6366F1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114800"/>
            <a:ext cx="4114800" cy="4114800"/>
          </a:xfrm>
          <a:prstGeom prst="ellipse">
            <a:avLst/>
          </a:prstGeom>
          <a:solidFill>
            <a:srgbClr val="818CF8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PIMP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868680" y="3017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Product Information Management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3794760"/>
            <a:ext cx="2743200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0233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dev4pimp25 - INSTA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Philippe Sam EFTEKHARI  -  Anass IMLI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: BM. Bui-Xuan  -  Juin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Deroule de la presentation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05740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2295144"/>
            <a:ext cx="621792" cy="621792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29514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783080" y="220370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83080" y="2606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. marche . objectif . solution . technologies . planning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2377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621024"/>
            <a:ext cx="621792" cy="6217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62102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783080" y="352958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78308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IA . plateforme . utilisateurs . bilan de developpement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92640" y="3703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min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70916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4946904"/>
            <a:ext cx="621792" cy="62179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94690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783080" y="485546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technique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783080" y="5257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. extraction IA . donnees . backend . tests . CI/CD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92640" y="50292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min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Equipe &amp; objectif du projet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L'equipe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274320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Philippe Sam EFTEKHARI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. modele de donnees . IA de vision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Anass IMLI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. design system . diffusion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35040" y="192024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09360" y="269748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une plateforme web de Product Information Management : une porte d'entree intelligente (ingestion d'etiquette par IA) et un referentiel unique enrichi puis diffuse vers tous les canaux.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09360" y="4114800"/>
            <a:ext cx="4846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d'etiquette par IA de vision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Centraliser (referentiel unique)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Enrichissement collaboratif multilingue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par workflow et roles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omnicanale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marche du PIM &amp; les besoins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65960"/>
            <a:ext cx="32918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13-15 Mds $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2926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Marche mondial actuel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965960"/>
            <a:ext cx="32918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9768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30 Mds $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2926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2030-2033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2918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95528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15 %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138160" y="2926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Croissance annuelle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74904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" y="4005072"/>
            <a:ext cx="402336" cy="40233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050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25880" y="3895344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entrer la donnee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automatique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97680" y="374904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462272" y="4005072"/>
            <a:ext cx="402336" cy="40233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4" name="Text 22"/>
          <p:cNvSpPr/>
          <p:nvPr/>
        </p:nvSpPr>
        <p:spPr>
          <a:xfrm>
            <a:off x="4462272" y="40050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83480" y="3895344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83480" y="42519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referentiel unique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955280" y="374904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19872" y="4005072"/>
            <a:ext cx="402336" cy="40233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9" name="Text 27"/>
          <p:cNvSpPr/>
          <p:nvPr/>
        </p:nvSpPr>
        <p:spPr>
          <a:xfrm>
            <a:off x="8119872" y="40050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41080" y="3895344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a l'echelle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641080" y="425196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 volume de SKU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48006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04672" y="5056632"/>
            <a:ext cx="402336" cy="40233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50566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325880" y="4946904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a plusieurs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325880" y="530352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marketing, achats, fournisseurs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297680" y="48006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62272" y="5056632"/>
            <a:ext cx="402336" cy="40233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39" name="Text 37"/>
          <p:cNvSpPr/>
          <p:nvPr/>
        </p:nvSpPr>
        <p:spPr>
          <a:xfrm>
            <a:off x="4462272" y="50566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983480" y="4946904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Diffuser partout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983480" y="530352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e-commerce, marketplace, mobile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955280" y="48006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119872" y="5056632"/>
            <a:ext cx="402336" cy="40233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44" name="Text 42"/>
          <p:cNvSpPr/>
          <p:nvPr/>
        </p:nvSpPr>
        <p:spPr>
          <a:xfrm>
            <a:off x="8119872" y="50566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641080" y="4946904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la qualite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641080" y="530352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 &amp; completude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solution : application web 3-tiers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371600" y="214884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71600" y="2148840"/>
            <a:ext cx="128016" cy="10515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1737360" y="23134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- React 18 + Vite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737360" y="271576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SPA : ingestion, catalogue, editeur, diffusion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0" y="317296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flux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371600" y="342900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371600" y="3429000"/>
            <a:ext cx="128016" cy="10515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1737360" y="359359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- FastAPI (Python)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37360" y="399592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. IA de vision (Gemini) . completude &amp; workflow . mapping canal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0" y="44531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flux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0" y="470916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371600" y="4709160"/>
            <a:ext cx="128016" cy="1051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737360" y="487375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- SQLAlchemy . SQLite/PostgreSQL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737360" y="527608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Referentiel produit (master data) relationnel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technologiques justifies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10881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743200"/>
                <a:gridCol w="44805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Django / Express / Spring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Async, validation Pydantic, doc OpenAPI auto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 + Vite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Angular / Vue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Composants, build instantane, SPA riche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Donnees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SQLAlchemy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Relationnel, SQLite-&gt;PostgreSQL sans refonte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vision (Gemini)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OCR Tesseract / Vision OCR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 les vraies etiquettes ; JSON structure ; gratuit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 / OAuth2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Sans etat, adapte API + SPA + canaux externes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de projet &amp; charge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pic>
        <p:nvPicPr>
          <p:cNvPr id="8" name="Image 0" descr="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634" y="1920240"/>
            <a:ext cx="9196251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Approche iterative sur 6 semaines . charge estimee ~41 jours-hommes (equipe de 2)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Fonctionnalite phare : ingestion par IA de vision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205740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057400"/>
            <a:ext cx="128016" cy="8229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14884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Depot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23360" y="2148840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fournisseur glisse la photo d'une etiquette (JPG/PNG)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301752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017520"/>
            <a:ext cx="128016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Lecture IA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023360" y="3108960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modele de vision (Gemini) lit l'image et renvoie du JSON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397764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977640"/>
            <a:ext cx="128016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40690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Revue humaine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023360" y="4069080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fiche pre-remplie est verifiee et corrigee (human-in-the-loop)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2960" y="493776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937760"/>
            <a:ext cx="128016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5029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Upsert EAN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023360" y="5029200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 : mise a jour si l'EAN existe, sinon creation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une IA de vision plutot qu'un OCR : les vraies etiquettes (bouteilles courbees, logos, photos) ne sont pas lisibles par un OCR ligne a ligne.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 d'utilisation &amp; acteurs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pic>
        <p:nvPicPr>
          <p:cNvPr id="8" name="Image 0" descr="diagrams/01_cas_utili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32760" y="1920240"/>
            <a:ext cx="60960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acteurs internes + le canal externe ; la validation/publication est reservee a l'administrateur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utilisateurs et leurs roles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508760" y="2468880"/>
            <a:ext cx="777240" cy="7772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150876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93192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steward : valide, publie, gere le referentiel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83280" y="219456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51960" y="2468880"/>
            <a:ext cx="777240" cy="7772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74720" y="34747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66160" y="393192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Descriptions, traductions, contenus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0" y="219456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95160" y="2468880"/>
            <a:ext cx="777240" cy="7772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99516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217920" y="34747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09360" y="393192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Prix, fournisseurs, donnees commerciales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869680" y="219456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738360" y="2468880"/>
            <a:ext cx="777240" cy="7772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5" name="Text 23"/>
          <p:cNvSpPr/>
          <p:nvPr/>
        </p:nvSpPr>
        <p:spPr>
          <a:xfrm>
            <a:off x="973836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961120" y="34747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052560" y="393192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 d'etiquettes, donnees techniques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par roles (RBAC) reproduisant l'organisation reelle de l'enrichissement collaboratif.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Parcours &amp; fonctionnalites cles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1965960"/>
            <a:ext cx="7315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2039112"/>
            <a:ext cx="420624" cy="42062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0391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00200" y="2011680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31920" y="2011680"/>
            <a:ext cx="4114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 d'etiquette -&gt; extraction IA -&gt; fiche pre-remplie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" y="2624328"/>
            <a:ext cx="7315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005840" y="2697480"/>
            <a:ext cx="420624" cy="42062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6974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00200" y="2670048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931920" y="2670048"/>
            <a:ext cx="4114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Recherche, filtres et pagination (~610 produits)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3282696"/>
            <a:ext cx="7315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05840" y="3355848"/>
            <a:ext cx="420624" cy="42062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35584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0200" y="3328416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Editeur produit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931920" y="3328416"/>
            <a:ext cx="4114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Attributs dynamiques, langues FR/EN, medias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3941064"/>
            <a:ext cx="7315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05840" y="4014216"/>
            <a:ext cx="420624" cy="42062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014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600200" y="3986784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Completude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31920" y="3986784"/>
            <a:ext cx="4114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en temps reel + liste des champs manquants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22960" y="4599432"/>
            <a:ext cx="7315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05840" y="4672584"/>
            <a:ext cx="420624" cy="42062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467258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600200" y="4645152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31920" y="4645152"/>
            <a:ext cx="4114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Soumettre -&gt; valider -&gt; publier, avec controles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22960" y="5257800"/>
            <a:ext cx="7315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05840" y="5330952"/>
            <a:ext cx="420624" cy="42062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35" name="Text 33"/>
          <p:cNvSpPr/>
          <p:nvPr/>
        </p:nvSpPr>
        <p:spPr>
          <a:xfrm>
            <a:off x="1005840" y="5330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600200" y="5303520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931920" y="5303520"/>
            <a:ext cx="4114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Apercu des flux adaptes a chaque canal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412480" y="1965960"/>
            <a:ext cx="3017520" cy="3931920"/>
          </a:xfrm>
          <a:prstGeom prst="roundRect">
            <a:avLst>
              <a:gd name="adj" fmla="val 2424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59536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inserer ici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595360" y="2606040"/>
            <a:ext cx="2651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d'ecran de la plateforme (ingestion, tableau de bord, fiche produit, diffusion).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Enseignements de la phase de developpement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10789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103120"/>
            <a:ext cx="128016" cy="1143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26771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porte d'entree d'abord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60120" y="267004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entrer la donnee proprement (ingestion IA + revue humaine) est aussi important que la stocker.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10789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429000"/>
            <a:ext cx="128016" cy="1143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59359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Qualite explicable, pas magique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60120" y="399592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de completude qui liste les champs manquants est plus utile qu'un indicateur opaque.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54880"/>
            <a:ext cx="10789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754880"/>
            <a:ext cx="128016" cy="1143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91947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Decouplage front / back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60120" y="532180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L'API REST + JWT et l'IA isolee dans un service permettent de faire evoluer chaque brique independamment.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trois tiers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8" name="Image 0" descr="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1008" y="1920240"/>
            <a:ext cx="6359505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(React) . Metier (FastAPI + IA de vision) . Donnees (SQLAlchemy) - couplage faible par API REST/JWT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Extraction par IA de vision (Gemini)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283464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encodee en base64 cote serveur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au modele de vision avec un prompt strict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Reponse imposee en JSON (responseMimeType)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 API lue dans .env, jamais exposee au front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remplacable sans toucher au reste du code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35040" y="210312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structuree (exemple)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309360" y="278892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"nom_produit": "Evian 1,5 L",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"marque": "Evian",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"ean": "3068320123456",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"categorie": "Eau",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"contenance": "1,5 L",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"pays_origine": "France",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"composition": [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{"libelle":"Calcium","valeur":"80 mg/L"}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de deploiement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8" name="Image 0" descr="diagrams/06_deploi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6115" y="1920240"/>
            <a:ext cx="648929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Conteneurs Docker : nginx (frontend + reverse proxy), API FastAPI, base en volume persistant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Modele de donnees (MCD Merise)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8" name="Image 0" descr="diagrams/05_mcd_mer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4408" y="1920240"/>
            <a:ext cx="5632704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L'association valorise porte valeur + langue -&gt; table AttributeValue dans le MLD (multilingue natif)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&amp; API REST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du code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283464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 - entites ORM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schemas.py - contrats Pydantic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 - JWT &amp; roles (RBAC)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services/extraction.py - IA de vision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routers/ - un par domaine (dont ingest)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035040" y="210312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principaux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309360" y="278892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/auth/login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/ingest/extract  (IA de vision)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/ingest/save  (upsert EAN)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/products  (filtres + pagination)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/products/{id}/completeness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/products/{id}/transition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/channels/{id}/publish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/dashboard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Moteur de qualite : la completude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10789920" cy="146304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22860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Completude = part des attributs requis renseignes (toutes langues requises) + au moins une image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3063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Heuristique transparente : le moteur restitue la LISTE exacte des champs manquants.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840480"/>
            <a:ext cx="52120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de sortie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443484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"score": 28.6,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"filled": 2, "total": 7,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"missing": ["Description (fr)",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"Description (en)", "Code EAN"] }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84048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c'est utile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09360" y="443484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tableau de bord agrege ces scores (completude moyenne, distribution, produits incomplets) : l'effort d'enrichissement est priorise objectivement, meme sur des produits deja valides.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&amp; gouvernance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22860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47556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2860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Brouillon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2286000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&gt;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611880" y="22860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2860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revue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06440" y="2286000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&gt;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0" y="22860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2860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95360" y="2286000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&gt;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89720" y="22860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9189720" y="22860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371600" y="3566160"/>
            <a:ext cx="94183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600200" y="3730752"/>
            <a:ext cx="365760" cy="36576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1" name="Text 19"/>
          <p:cNvSpPr/>
          <p:nvPr/>
        </p:nvSpPr>
        <p:spPr>
          <a:xfrm>
            <a:off x="1600200" y="37307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48840" y="356616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Soumission a validation refusee si completude &lt; 60 %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371600" y="4389120"/>
            <a:ext cx="94183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600200" y="4553712"/>
            <a:ext cx="365760" cy="36576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5" name="Text 23"/>
          <p:cNvSpPr/>
          <p:nvPr/>
        </p:nvSpPr>
        <p:spPr>
          <a:xfrm>
            <a:off x="1600200" y="45537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148840" y="438912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 l'administrateur (data steward) peut valider et publier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371600" y="5212080"/>
            <a:ext cx="94183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600200" y="5376672"/>
            <a:ext cx="365760" cy="36576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9" name="Text 27"/>
          <p:cNvSpPr/>
          <p:nvPr/>
        </p:nvSpPr>
        <p:spPr>
          <a:xfrm>
            <a:off x="1600200" y="53766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148840" y="521208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transition est historisee (auteur, date, commentaire)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d'activite - cycle de vie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8" name="Image 0" descr="diagrams/04_activite_work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920240"/>
            <a:ext cx="50292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produit ne progresse que si les regles de completude et de role sont satisfaites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Sequence - enrichissement d'un produit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pic>
        <p:nvPicPr>
          <p:cNvPr id="8" name="Image 0" descr="diagrams/02_sequence_enrichiss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7510" y="1920240"/>
            <a:ext cx="62865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completude est recalculee cote serveur a chaque modification de valeur ou d'image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Sequence - validation &amp; publication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8" name="Image 0" descr="diagrams/03_sequence_validation_publi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32760" y="1920240"/>
            <a:ext cx="60960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gouvernance (completude, role) avant publication ; export tire par le canal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Diffusion omnicanale : une donnee, N projections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194560"/>
            <a:ext cx="128016" cy="1600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377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28529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enrichi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32186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 FR+EN, attributs complets, images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219456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2194560"/>
            <a:ext cx="128016" cy="1600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2377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46520" y="28529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aplati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32186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 court, prix, EAN, image principale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02336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023360"/>
            <a:ext cx="128016" cy="1600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206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60120" y="4681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50474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SKU, nom, categorie, prix (PDF/papier)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26480" y="402336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26480" y="4023360"/>
            <a:ext cx="128016" cy="1600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5" name="Text 23"/>
          <p:cNvSpPr/>
          <p:nvPr/>
        </p:nvSpPr>
        <p:spPr>
          <a:xfrm>
            <a:off x="6446520" y="4206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46520" y="4681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allege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46520" y="50474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Champs essentiels, une image (charge reseau)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de test (pytest)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057400"/>
            <a:ext cx="2514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1945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verts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2057400"/>
            <a:ext cx="2514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83280" y="21945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474720" y="2834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2057400"/>
            <a:ext cx="2514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21945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~610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17920" y="2834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(volumetrie)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69680" y="2057400"/>
            <a:ext cx="2514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94A3B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869680" y="21945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60 %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961120" y="2834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de gouvernance teste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61188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94360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Famille de tests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 OK / mauvais mot de passe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/ upsert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extraction + enregistrement sans doublon 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Completude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champs manquants, montee a 100 %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/ droits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 &lt; 60 %, validation admin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publication + export canal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 &amp; integration continue (GitLab CI/CD)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201168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pic>
        <p:nvPicPr>
          <p:cNvPr id="8" name="Image 0" descr="diagrams/07_cicd_git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6050" y="1920240"/>
            <a:ext cx="678942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build fonctionnels ; deploiement prevu/simule (jobs manuels sur une infra reelle)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6366F1">
              <a:alpha val="3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315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600200"/>
            <a:ext cx="2286000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PIMP demontre les fonctions essentielles d'un PIM :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d'etiquette par IA de vision, referentiel unique, enrichissement multilingue, pilotage par la completude, gouvernance par workflow, diffusion adaptee par canal.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84048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par lot de plusieurs etiquettes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Import/export en masse (CSV, API fournisseurs)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fins par attribut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Syndication temps reel vers les canaux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Connecteurs ERP / e-commerce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5943600" cy="5943600"/>
          </a:xfrm>
          <a:prstGeom prst="ellipse">
            <a:avLst/>
          </a:prstGeom>
          <a:solidFill>
            <a:srgbClr val="6366F1">
              <a:alpha val="3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5661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demonstration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dev4pimp25 - PIMP - Philippe Sam EFTEKHARI . Anass IMLI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PIMP - Plateforme de PIM</dc:title>
  <dc:subject>PptxGenJS Presentation</dc:subject>
  <dc:creator>Philippe Sam EFTEKHARI &amp; Anass IMLI</dc:creator>
  <cp:lastModifiedBy>Philippe Sam EFTEKHARI &amp; Anass IMLI</cp:lastModifiedBy>
  <cp:revision>1</cp:revision>
  <dcterms:created xsi:type="dcterms:W3CDTF">2026-06-25T21:52:33Z</dcterms:created>
  <dcterms:modified xsi:type="dcterms:W3CDTF">2026-06-25T21:52:33Z</dcterms:modified>
</cp:coreProperties>
</file>